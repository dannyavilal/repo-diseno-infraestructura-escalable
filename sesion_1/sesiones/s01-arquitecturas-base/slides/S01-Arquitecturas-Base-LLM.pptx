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2.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3.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2a92155-c9c3-eaa1-6cf1-92d249f21176}">
          <p14:sldIdLst>
            <p14:sldId id="256"/>
            <p14:sldId id="257"/>
            <p14:sldId id="258"/>
          </p14:sldIdLst>
        </p14:section>
        <p14:section name="A · Fundamentos de inferencia" id="{14bd754f-4ca2-b32c-8da4-09ec1e76357e}">
          <p14:sldIdLst>
            <p14:sldId id="259"/>
            <p14:sldId id="260"/>
            <p14:sldId id="261"/>
            <p14:sldId id="262"/>
            <p14:sldId id="263"/>
            <p14:sldId id="264"/>
            <p14:sldId id="265"/>
            <p14:sldId id="266"/>
            <p14:sldId id="267"/>
            <p14:sldId id="268"/>
            <p14:sldId id="269"/>
          </p14:sldIdLst>
        </p14:section>
        <p14:section name="B · Arquitecturas base" id="{136f19fe-bbaf-6605-54be-e211e124e3cb}">
          <p14:sldIdLst>
            <p14:sldId id="270"/>
            <p14:sldId id="271"/>
            <p14:sldId id="272"/>
            <p14:sldId id="273"/>
            <p14:sldId id="274"/>
            <p14:sldId id="275"/>
            <p14:sldId id="276"/>
            <p14:sldId id="277"/>
            <p14:sldId id="278"/>
            <p14:sldId id="279"/>
            <p14:sldId id="280"/>
          </p14:sldIdLst>
        </p14:section>
        <p14:section name="C · Infraestructura" id="{8bb9b1d4-9d8a-acf4-56d5-51be7f9dd69c}">
          <p14:sldIdLst>
            <p14:sldId id="281"/>
            <p14:sldId id="282"/>
            <p14:sldId id="283"/>
            <p14:sldId id="284"/>
            <p14:sldId id="285"/>
            <p14:sldId id="286"/>
            <p14:sldId id="287"/>
            <p14:sldId id="288"/>
            <p14:sldId id="289"/>
            <p14:sldId id="290"/>
          </p14:sldIdLst>
        </p14:section>
        <p14:section name="D · Comparación multicloud" id="{2ae83f36-7ab8-4323-2d88-e85a0863ab06}">
          <p14:sldIdLst>
            <p14:sldId id="291"/>
            <p14:sldId id="292"/>
            <p14:sldId id="293"/>
            <p14:sldId id="294"/>
            <p14:sldId id="295"/>
            <p14:sldId id="296"/>
            <p14:sldId id="297"/>
            <p14:sldId id="298"/>
          </p14:sldIdLst>
        </p14:section>
        <p14:section name="E · Seguridad" id="{9d7f1f17-3c5a-e112-46cd-483abea8c1cc}">
          <p14:sldIdLst>
            <p14:sldId id="299"/>
            <p14:sldId id="300"/>
            <p14:sldId id="301"/>
            <p14:sldId id="302"/>
            <p14:sldId id="303"/>
            <p14:sldId id="304"/>
            <p14:sldId id="305"/>
          </p14:sldIdLst>
        </p14:section>
        <p14:section name="F · Rendimiento y FinOps" id="{887e80ac-a69e-0207-3b78-fa0743335b29}">
          <p14:sldIdLst>
            <p14:sldId id="306"/>
            <p14:sldId id="307"/>
            <p14:sldId id="308"/>
            <p14:sldId id="309"/>
            <p14:sldId id="310"/>
            <p14:sldId id="311"/>
          </p14:sldIdLst>
        </p14:section>
        <p14:section name="Cierre" id="{9582884f-95c8-2ff1-acda-8d6c33946475}">
          <p14:sldIdLst>
            <p14:sldId id="312"/>
            <p14:sldId id="313"/>
            <p14:sldId id="314"/>
            <p14:sldId id="315"/>
            <p14:sldId id="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D-04 · Modelo 8B FP16, contexto 4.096 (ejemplo académico)</a:t>
            </a:r>
          </a:p>
        </c:rich>
      </c:tx>
      <c:layout/>
      <c:overlay val="0"/>
    </c:title>
    <c:autoTitleDeleted val="0"/>
    <c:plotArea>
      <c:layout/>
      <c:lineChart>
        <c:varyColors val="0"/>
        <c:ser>
          <c:idx val="0"/>
          <c:order val="0"/>
          <c:tx>
            <c:strRef>
              <c:f>Sheet1!$B$1</c:f>
              <c:strCache>
                <c:ptCount val="1"/>
                <c:pt idx="0">
                  <c:v>Pesos + KV cache</c:v>
                </c:pt>
              </c:strCache>
            </c:strRef>
          </c:tx>
          <c:spPr>
            <a:solidFill>
              <a:srgbClr val="1F6F9F"/>
            </a:solidFill>
            <a:ln w="25400" cap="flat">
              <a:solidFill>
                <a:srgbClr val="1F6F9F"/>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dLblPos val="t"/>
            <c:showLegendKey val="0"/>
            <c:showVal val="0"/>
            <c:showCatName val="0"/>
            <c:showSerName val="0"/>
            <c:showPercent val="0"/>
            <c:showBubbleSize val="0"/>
            <c:showLeaderLines val="0"/>
          </c:dLbls>
          <c:marker>
            <c:symbol val="circle"/>
            <c:size val="6"/>
            <c:spPr>
              <a:solidFill>
                <a:srgbClr val="1F6F9F"/>
              </a:solidFill>
              <a:ln w="9525" cap="flat">
                <a:solidFill>
                  <a:srgbClr val="1F6F9F"/>
                </a:solidFill>
                <a:prstDash val="solid"/>
                <a:round/>
              </a:ln>
              <a:effectLst/>
            </c:spPr>
          </c:marker>
          <c:cat>
            <c:multiLvlStrRef>
              <c:f>Sheet1!$A$2:$A$7</c:f>
              <c:multiLvlStrCache>
                <c:ptCount val="6"/>
                <c:lvl>
                  <c:pt idx="0">
                    <c:v>1</c:v>
                  </c:pt>
                  <c:pt idx="1">
                    <c:v>10</c:v>
                  </c:pt>
                  <c:pt idx="2">
                    <c:v>25</c:v>
                  </c:pt>
                  <c:pt idx="3">
                    <c:v>50</c:v>
                  </c:pt>
                  <c:pt idx="4">
                    <c:v>75</c:v>
                  </c:pt>
                  <c:pt idx="5">
                    <c:v>100</c:v>
                  </c:pt>
                </c:lvl>
              </c:multiLvlStrCache>
            </c:multiLvlStrRef>
          </c:cat>
          <c:val>
            <c:numRef>
              <c:f>Sheet1!$B$2:$B$7</c:f>
              <c:numCache>
                <c:formatCode>General</c:formatCode>
                <c:ptCount val="6"/>
                <c:pt idx="0">
                  <c:v>15.5</c:v>
                </c:pt>
                <c:pt idx="1">
                  <c:v>20</c:v>
                </c:pt>
                <c:pt idx="2">
                  <c:v>27.5</c:v>
                </c:pt>
                <c:pt idx="3">
                  <c:v>40</c:v>
                </c:pt>
                <c:pt idx="4">
                  <c:v>52.5</c:v>
                </c:pt>
                <c:pt idx="5">
                  <c:v>65</c:v>
                </c:pt>
              </c:numCache>
            </c:numRef>
          </c:val>
          <c:smooth val="0"/>
        </c:ser>
        <c:ser>
          <c:idx val="1"/>
          <c:order val="1"/>
          <c:tx>
            <c:strRef>
              <c:f>Sheet1!$C$1</c:f>
              <c:strCache>
                <c:ptCount val="1"/>
                <c:pt idx="0">
                  <c:v>Solo pesos</c:v>
                </c:pt>
              </c:strCache>
            </c:strRef>
          </c:tx>
          <c:spPr>
            <a:solidFill>
              <a:srgbClr val="D98E2B"/>
            </a:solidFill>
            <a:ln w="25400" cap="flat">
              <a:solidFill>
                <a:srgbClr val="D98E2B"/>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dLblPos val="t"/>
            <c:showLegendKey val="0"/>
            <c:showVal val="0"/>
            <c:showCatName val="0"/>
            <c:showSerName val="0"/>
            <c:showPercent val="0"/>
            <c:showBubbleSize val="0"/>
            <c:showLeaderLines val="0"/>
          </c:dLbls>
          <c:marker>
            <c:symbol val="circle"/>
            <c:size val="6"/>
            <c:spPr>
              <a:solidFill>
                <a:srgbClr val="D98E2B"/>
              </a:solidFill>
              <a:ln w="9525" cap="flat">
                <a:solidFill>
                  <a:srgbClr val="D98E2B"/>
                </a:solidFill>
                <a:prstDash val="solid"/>
                <a:round/>
              </a:ln>
              <a:effectLst/>
            </c:spPr>
          </c:marker>
          <c:cat>
            <c:multiLvlStrRef>
              <c:f>Sheet1!$A$2:$A$7</c:f>
              <c:multiLvlStrCache>
                <c:ptCount val="6"/>
                <c:lvl>
                  <c:pt idx="0">
                    <c:v>1</c:v>
                  </c:pt>
                  <c:pt idx="1">
                    <c:v>10</c:v>
                  </c:pt>
                  <c:pt idx="2">
                    <c:v>25</c:v>
                  </c:pt>
                  <c:pt idx="3">
                    <c:v>50</c:v>
                  </c:pt>
                  <c:pt idx="4">
                    <c:v>75</c:v>
                  </c:pt>
                  <c:pt idx="5">
                    <c:v>100</c:v>
                  </c:pt>
                </c:lvl>
              </c:multiLvlStrCache>
            </c:multiLvlStrRef>
          </c:cat>
          <c:val>
            <c:numRef>
              <c:f>Sheet1!$C$2:$C$7</c:f>
              <c:numCache>
                <c:formatCode>General</c:formatCode>
                <c:ptCount val="6"/>
                <c:pt idx="0">
                  <c:v>15</c:v>
                </c:pt>
                <c:pt idx="1">
                  <c:v>15</c:v>
                </c:pt>
                <c:pt idx="2">
                  <c:v>15</c:v>
                </c:pt>
                <c:pt idx="3">
                  <c:v>15</c:v>
                </c:pt>
                <c:pt idx="4">
                  <c:v>15</c:v>
                </c:pt>
                <c:pt idx="5">
                  <c:v>15</c:v>
                </c:pt>
              </c:numCache>
            </c:numRef>
          </c:val>
          <c:smooth val="0"/>
        </c:ser>
        <c:dLbls>
          <c:numFmt formatCode="#,##0" sourceLinked="0"/>
          <c:txPr>
            <a:bodyPr/>
            <a:lstStyle/>
            <a:p>
              <a:pPr>
                <a:defRPr b="0" i="0" strike="noStrike" sz="900" u="none">
                  <a:solidFill>
                    <a:srgbClr val="000000"/>
                  </a:solidFill>
                  <a:latin typeface="Arial"/>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7A8794"/>
                    </a:solidFill>
                    <a:latin typeface="Arial"/>
                  </a:defRPr>
                </a:pPr>
                <a:r>
                  <a:rPr sz="1000" b="0" i="0" u="none" strike="noStrike">
                    <a:solidFill>
                      <a:srgbClr val="7A8794"/>
                    </a:solidFill>
                    <a:latin typeface="Arial"/>
                  </a:rPr>
                  <a:t>Secuencias activas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Arial"/>
                  </a:defRPr>
                </a:pPr>
                <a:r>
                  <a:rPr sz="1000" b="0" i="0" u="none" strike="noStrike">
                    <a:solidFill>
                      <a:srgbClr val="7A8794"/>
                    </a:solidFill>
                    <a:latin typeface="Arial"/>
                  </a:rPr>
                  <a:t>GiB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D-27 · Unidades ilustrativas, sin precios</a:t>
            </a:r>
          </a:p>
        </c:rich>
      </c:tx>
      <c:layout/>
      <c:overlay val="0"/>
    </c:title>
    <c:autoTitleDeleted val="0"/>
    <c:plotArea>
      <c:layout/>
      <c:lineChart>
        <c:varyColors val="0"/>
        <c:ser>
          <c:idx val="0"/>
          <c:order val="0"/>
          <c:tx>
            <c:strRef>
              <c:f>Sheet1!$B$1</c:f>
              <c:strCache>
                <c:ptCount val="1"/>
                <c:pt idx="0">
                  <c:v>API por token (variable)</c:v>
                </c:pt>
              </c:strCache>
            </c:strRef>
          </c:tx>
          <c:spPr>
            <a:solidFill>
              <a:srgbClr val="1F6F9F"/>
            </a:solidFill>
            <a:ln w="25400" cap="flat">
              <a:solidFill>
                <a:srgbClr val="1F6F9F"/>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dLblPos val="t"/>
            <c:showLegendKey val="0"/>
            <c:showVal val="0"/>
            <c:showCatName val="0"/>
            <c:showSerName val="0"/>
            <c:showPercent val="0"/>
            <c:showBubbleSize val="0"/>
            <c:showLeaderLines val="0"/>
          </c:dLbls>
          <c:marker>
            <c:symbol val="circle"/>
            <c:size val="6"/>
            <c:spPr>
              <a:solidFill>
                <a:srgbClr val="1F6F9F"/>
              </a:solidFill>
              <a:ln w="9525" cap="flat">
                <a:solidFill>
                  <a:srgbClr val="1F6F9F"/>
                </a:solidFill>
                <a:prstDash val="solid"/>
                <a:round/>
              </a:ln>
              <a:effectLst/>
            </c:spPr>
          </c:marker>
          <c:cat>
            <c:multiLvlStrRef>
              <c:f>Sheet1!$A$2:$A$8</c:f>
              <c:multiLvlStrCache>
                <c:ptCount val="7"/>
                <c:lvl>
                  <c:pt idx="0">
                    <c:v>0</c:v>
                  </c:pt>
                  <c:pt idx="1">
                    <c:v>100</c:v>
                  </c:pt>
                  <c:pt idx="2">
                    <c:v>200</c:v>
                  </c:pt>
                  <c:pt idx="3">
                    <c:v>300</c:v>
                  </c:pt>
                  <c:pt idx="4">
                    <c:v>400</c:v>
                  </c:pt>
                  <c:pt idx="5">
                    <c:v>500</c:v>
                  </c:pt>
                  <c:pt idx="6">
                    <c:v>600</c:v>
                  </c:pt>
                </c:lvl>
              </c:multiLvlStrCache>
            </c:multiLvlStrRef>
          </c:cat>
          <c:val>
            <c:numRef>
              <c:f>Sheet1!$B$2:$B$8</c:f>
              <c:numCache>
                <c:formatCode>General</c:formatCode>
                <c:ptCount val="7"/>
                <c:pt idx="0">
                  <c:v>0</c:v>
                </c:pt>
                <c:pt idx="1">
                  <c:v>17</c:v>
                </c:pt>
                <c:pt idx="2">
                  <c:v>33</c:v>
                </c:pt>
                <c:pt idx="3">
                  <c:v>50</c:v>
                </c:pt>
                <c:pt idx="4">
                  <c:v>67</c:v>
                </c:pt>
                <c:pt idx="5">
                  <c:v>83</c:v>
                </c:pt>
                <c:pt idx="6">
                  <c:v>100</c:v>
                </c:pt>
              </c:numCache>
            </c:numRef>
          </c:val>
          <c:smooth val="0"/>
        </c:ser>
        <c:ser>
          <c:idx val="1"/>
          <c:order val="1"/>
          <c:tx>
            <c:strRef>
              <c:f>Sheet1!$C$1</c:f>
              <c:strCache>
                <c:ptCount val="1"/>
                <c:pt idx="0">
                  <c:v>GPU propia, 2 réplicas (fija)</c:v>
                </c:pt>
              </c:strCache>
            </c:strRef>
          </c:tx>
          <c:spPr>
            <a:solidFill>
              <a:srgbClr val="D98E2B"/>
            </a:solidFill>
            <a:ln w="25400" cap="flat">
              <a:solidFill>
                <a:srgbClr val="D98E2B"/>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dLblPos val="t"/>
            <c:showLegendKey val="0"/>
            <c:showVal val="0"/>
            <c:showCatName val="0"/>
            <c:showSerName val="0"/>
            <c:showPercent val="0"/>
            <c:showBubbleSize val="0"/>
            <c:showLeaderLines val="0"/>
          </c:dLbls>
          <c:marker>
            <c:symbol val="circle"/>
            <c:size val="6"/>
            <c:spPr>
              <a:solidFill>
                <a:srgbClr val="D98E2B"/>
              </a:solidFill>
              <a:ln w="9525" cap="flat">
                <a:solidFill>
                  <a:srgbClr val="D98E2B"/>
                </a:solidFill>
                <a:prstDash val="solid"/>
                <a:round/>
              </a:ln>
              <a:effectLst/>
            </c:spPr>
          </c:marker>
          <c:cat>
            <c:multiLvlStrRef>
              <c:f>Sheet1!$A$2:$A$8</c:f>
              <c:multiLvlStrCache>
                <c:ptCount val="7"/>
                <c:lvl>
                  <c:pt idx="0">
                    <c:v>0</c:v>
                  </c:pt>
                  <c:pt idx="1">
                    <c:v>100</c:v>
                  </c:pt>
                  <c:pt idx="2">
                    <c:v>200</c:v>
                  </c:pt>
                  <c:pt idx="3">
                    <c:v>300</c:v>
                  </c:pt>
                  <c:pt idx="4">
                    <c:v>400</c:v>
                  </c:pt>
                  <c:pt idx="5">
                    <c:v>500</c:v>
                  </c:pt>
                  <c:pt idx="6">
                    <c:v>600</c:v>
                  </c:pt>
                </c:lvl>
              </c:multiLvlStrCache>
            </c:multiLvlStrRef>
          </c:cat>
          <c:val>
            <c:numRef>
              <c:f>Sheet1!$C$2:$C$8</c:f>
              <c:numCache>
                <c:formatCode>General</c:formatCode>
                <c:ptCount val="7"/>
                <c:pt idx="0">
                  <c:v>60</c:v>
                </c:pt>
                <c:pt idx="1">
                  <c:v>60</c:v>
                </c:pt>
                <c:pt idx="2">
                  <c:v>60</c:v>
                </c:pt>
                <c:pt idx="3">
                  <c:v>60</c:v>
                </c:pt>
                <c:pt idx="4">
                  <c:v>60</c:v>
                </c:pt>
                <c:pt idx="5">
                  <c:v>60</c:v>
                </c:pt>
                <c:pt idx="6">
                  <c:v>60</c:v>
                </c:pt>
              </c:numCache>
            </c:numRef>
          </c:val>
          <c:smooth val="0"/>
        </c:ser>
        <c:dLbls>
          <c:numFmt formatCode="#,##0" sourceLinked="0"/>
          <c:txPr>
            <a:bodyPr/>
            <a:lstStyle/>
            <a:p>
              <a:pPr>
                <a:defRPr b="0" i="0" strike="noStrike" sz="900" u="none">
                  <a:solidFill>
                    <a:srgbClr val="000000"/>
                  </a:solidFill>
                  <a:latin typeface="Arial"/>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7A8794"/>
                    </a:solidFill>
                    <a:latin typeface="Arial"/>
                  </a:defRPr>
                </a:pPr>
                <a:r>
                  <a:rPr sz="1000" b="0" i="0" u="none" strike="noStrike">
                    <a:solidFill>
                      <a:srgbClr val="7A8794"/>
                    </a:solidFill>
                    <a:latin typeface="Arial"/>
                  </a:rPr>
                  <a:t>Millones de tokens al mes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Arial"/>
                  </a:defRPr>
                </a:pPr>
                <a:r>
                  <a:rPr sz="1000" b="0" i="0" u="none" strike="noStrike">
                    <a:solidFill>
                      <a:srgbClr val="7A8794"/>
                    </a:solidFill>
                    <a:latin typeface="Arial"/>
                  </a:rPr>
                  <a:t>Costo relativo</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n-lt"/>
              </a:defRPr>
            </a:pPr>
            <a:r>
              <a:rPr sz="1200" b="0" i="0" u="none" strike="noStrike">
                <a:solidFill>
                  <a:srgbClr val="1B1F24"/>
                </a:solidFill>
                <a:latin typeface="+mn-lt"/>
              </a:rPr>
              <a:t>D-26 · TTFT p95 frente a concurrencia</a:t>
            </a:r>
          </a:p>
        </c:rich>
      </c:tx>
      <c:layout/>
      <c:overlay val="0"/>
    </c:title>
    <c:autoTitleDeleted val="0"/>
    <c:plotArea>
      <c:layout/>
      <c:lineChart>
        <c:varyColors val="0"/>
        <c:ser>
          <c:idx val="0"/>
          <c:order val="0"/>
          <c:tx>
            <c:strRef>
              <c:f>Sheet1!$B$1</c:f>
              <c:strCache>
                <c:ptCount val="1"/>
                <c:pt idx="0">
                  <c:v>TTFT p95</c:v>
                </c:pt>
              </c:strCache>
            </c:strRef>
          </c:tx>
          <c:spPr>
            <a:solidFill>
              <a:srgbClr val="1F6F9F"/>
            </a:solidFill>
            <a:ln w="25400" cap="flat">
              <a:solidFill>
                <a:srgbClr val="1F6F9F"/>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6"/>
            <c:spPr>
              <a:solidFill>
                <a:srgbClr val="1F6F9F"/>
              </a:solidFill>
              <a:ln w="9525" cap="flat">
                <a:solidFill>
                  <a:srgbClr val="1F6F9F"/>
                </a:solidFill>
                <a:prstDash val="solid"/>
                <a:round/>
              </a:ln>
              <a:effectLst/>
            </c:spPr>
          </c:marker>
          <c:cat>
            <c:multiLvlStrRef>
              <c:f>Sheet1!$A$2:$A$5</c:f>
              <c:multiLvlStrCache>
                <c:ptCount val="4"/>
                <c:lvl>
                  <c:pt idx="0">
                    <c:v>1</c:v>
                  </c:pt>
                  <c:pt idx="1">
                    <c:v>2</c:v>
                  </c:pt>
                  <c:pt idx="2">
                    <c:v>4</c:v>
                  </c:pt>
                  <c:pt idx="3">
                    <c:v>8</c:v>
                  </c:pt>
                </c:lvl>
              </c:multiLvlStrCache>
            </c:multiLvlStrRef>
          </c:cat>
          <c:val>
            <c:numRef>
              <c:f>Sheet1!$B$2:$B$5</c:f>
              <c:numCache>
                <c:formatCode>General</c:formatCode>
                <c:ptCount val="4"/>
                <c:pt idx="0">
                  <c:v>132</c:v>
                </c:pt>
                <c:pt idx="1">
                  <c:v>119</c:v>
                </c:pt>
                <c:pt idx="2">
                  <c:v>1213</c:v>
                </c:pt>
                <c:pt idx="3">
                  <c:v>3394</c:v>
                </c:pt>
              </c:numCache>
            </c:numRef>
          </c:val>
          <c:smooth val="0"/>
        </c:ser>
        <c:dLbls>
          <c:numFmt formatCode="#,##0" sourceLinked="0"/>
          <c:txPr>
            <a:bodyPr/>
            <a:lstStyle/>
            <a:p>
              <a:pPr>
                <a:defRPr b="0" i="0" strike="noStrike" sz="90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7A8794"/>
                    </a:solidFill>
                    <a:latin typeface="Arial"/>
                  </a:defRPr>
                </a:pPr>
                <a:r>
                  <a:rPr sz="1000" b="0" i="0" u="none" strike="noStrike">
                    <a:solidFill>
                      <a:srgbClr val="7A8794"/>
                    </a:solidFill>
                    <a:latin typeface="Arial"/>
                  </a:rPr>
                  <a:t>Solicitudes concurrentes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B"/>
              </a:solidFill>
              <a:prstDash val="solid"/>
              <a:round/>
            </a:ln>
          </c:spPr>
        </c:majorGridlines>
        <c:title>
          <c:tx>
            <c:rich>
              <a:bodyPr/>
              <a:lstStyle/>
              <a:p>
                <a:pPr>
                  <a:defRPr sz="1000" b="0" i="0" u="none" strike="noStrike">
                    <a:solidFill>
                      <a:srgbClr val="7A8794"/>
                    </a:solidFill>
                    <a:latin typeface="Arial"/>
                  </a:defRPr>
                </a:pPr>
                <a:r>
                  <a:rPr sz="1000" b="0" i="0" u="none" strike="noStrike">
                    <a:solidFill>
                      <a:srgbClr val="7A8794"/>
                    </a:solidFill>
                    <a:latin typeface="Arial"/>
                  </a:rPr>
                  <a:t>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7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 el curso y el enfoque: esta sesión es teórica y de diseño; el código vive en el repositorio y en los laboratorios. Anunciar que al final los equipos diseñarán una topología base para el caso universitario.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caso. Insistir en que las cifras son hipótesis: el primer trabajo del arquitecto es convertirlas en requisitos medibles. Pregunta a la clase: ¿qué falla primero si 100 personas preguntan a la vez? Recoger 3-4 respuestas y volver a ellas en la Unidad F.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resultados. Explicar la agenda: 112 min de teoría, 38 min de demostraciones, 20 min de taller y evaluación, pausa de 10 min a la mitad. Los laboratorios completos de las tres nubes quedan en el repositorio GitHub.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arquitectónica de la unidad. Respuesta que construiremos: la memoria (capacidad y ancho de banda), no el cómputo.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una biblioteca donde para escribir cada palabra el bibliotecario recorre todos los estantes. El tamaño de la biblioteca (pesos) y la velocidad de los pasillos (ancho de banda) mandan más que la rapidez de escritura. Error frecuente: pensar que un LLM es 'una base de datos' que busca respuestas.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un ejemplo de tokenización de una frase del reglamento. Pregunta: ¿por qué el mismo documento puede costar distinto en dos modelos? Respuesta esperada: tokenizadores distintos producen distinto número de tokens.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D-02. Recorrerlo con el caso: un estudiante pregunta por homologaciones. Señalar dónde se autentica, dónde se agregan documentos (RAG), dónde se mide el TTFT. Este diagrama se reutiliza en todo el curso.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D-03. Concepto de intensidad aritmética: prefill hace muchas operaciones por byte leído; decode lee todos los pesos para producir un solo token. Por eso decode está limitado por memoria. Esto se verá en vivo en la Demo 1.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factor 2 son keys y values. Anunciar que en la Unidad C se aplica con números reales. Referencia: Kwon et al. (2023), PagedAttention, SOSP. Error frecuente: dimensionar solo por pesos.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 Yu et al. (2022), Orca, OSDI, introdujo la programación por iteración. El punto de operación se elige con el SLO (Unidad F). Pregunta: ¿qué preferiría la universidad, más usuarios atendidos o respuestas más rápidas por usuario?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RAG el conocimiento se actualiza reindexando documentos, no reentrenando, y la respuesta puede citar la fuente. Error frecuente: proponer fine-tuning para 'enseñar el reglamento' al modelo.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frecuente: llamar open source a cualquier modelo descargable. Pregunta: ¿qué cláusulas de una licencia open-weight revisaría la oficina jurídica de la universidad? (usos permitidos, atribución, umbrales de usuarios).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hacia la Unidad B. No dar todavía una recomendación: se cerrará con los costos de la Unidad F y el taller.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minutos. Antes de ejecutar, pedir a la clase que prediga qué métrica cambiará con el prompt largo. Comando: ollama run qwen2.5:1.5b --verbose y la interfaz React. Si falla la red o Ollama, usar scripts/mock_ollama.py y aclarar que las cifras son sintéticas.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 parte de los fallos en producción ocurren alrededor del modelo, no dentro de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base de todo el curso. Recorrer de izquierda a derecha con una solicitud del caso. La flecha de Objetos a Vector store es la ingesta (fuera de línea). Pregunta: ¿qué caja eliminaría en un prototipo y cuál nunca? (nunca identidad ni observabilidad).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la columna 'falla típica': diseñar es anticipar cómo falla cada componente. Esta tabla será la plantilla del taller.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servicios gestionados, el proveedor opera gran parte del plano de control. Pregunta: ¿quién en la universidad debería poder cambiar el prompt de sistema del asistente en producción? Relacionar con mínimo privilegio (Unidad E).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el serving es también lo que permite cambiar de proveedor de modelo sin tocar la aplicación: es el principio del repositorio del curso.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D-08. Cuanto más hacia la API, menor costo operativo y menor control. El taller analizará el caso en ambos extremos.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D-09. Pregunta: ¿qué pasa con el streaming si el balanceador tiene un timeout de inactividad de 30 s? Respuesta: se cortan respuestas largas; hay que ajustarlo.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D-10. Referencia: Lewis et al. (2020), NeurIPS. Señalar que el filtro de permisos debe aplicarse por usuario final, no por el backend. Se desarrollará en la sesión de RAG.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D-11. Un agente es un LLM en un bucle que decide qué herramienta usar. Referencia: Yao et al. (2023), ReAct. Ejemplo: un agente que consulta el estado de una solicitud en el sistema académico necesita permisos de lectura, nunca de escritura.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Unidad F calcularemos la demanda del caso en tokens por minuto y la compararemos con cuotas reales.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minutos. APP_PROVIDER=openai_compat, APP_OPENAI_BASE_URL=http://127.0.0.1:11434/v1. Si hay cuota en Azure, repetir contra el endpoint de Foundry (verificar URL y autenticación vigentes). Mostrar app/providers en el repositorio sin leer el código en detalle.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unidad da un método reproducible de cálculo. El resultado es académico y se contrasta con mediciones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académico: un modelo de 2 GB con unos 50 GB/s de ancho de banda no supera unas 25 tokens/s. Contrastar con lo visto en la Demo 1. Por eso la GPU es necesaria para modelos de miles de millones de parámetros.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los estudiantes que copien la fórmula: la usarán en el ejercicio de dimensionamiento y en el taller.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Lecturas: (1) la KV cache domina el peor caso; (2) cuantizar pesos no reduce la KV cache; (3) la alta disponibilidad duplica el costo; (4) error frecuente: 'un modelo de 8B cabe en 16 GB' sin considerar concurrencia. Confirmar la configuración en el config.json del modelo elegido.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 Frantar et al. (2023), GPTQ. En el laboratorio local la cuantización a 4 bits es lo que permite correr un modelo de 1–3 B en un portátil sin GPU.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D-13. Solo el balanceador y el gateway en subred pública. Los endpoints privados evitan que el tráfico a la API de modelos pase por Internet; verificar soporte por servicio y región. El NAT también es un costo.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introducir bases de datos artificialmente: pgvector solo si ya hay PostgreSQL o si el volumen lo permite. La decisión se documenta en un ADR.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Ejemplos verificados: Cloud Run ofrece GPU NVIDIA L4 de 24 GB; Azure Container Apps ofrece GPU serverless. Arranque en frío: cargar 15 GB de pesos toma tiempo, lo que afecta el escalado a cero.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zona de disponibilidad es un conjunto de centros de datos con energía y red independientes. Diagrama D-14. Pregunta: ¿cumple 99,9 % un asistente que depende de un solo modelo en una sola región?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D-15. No elegir aún: el taller pide a cada equipo decidir con criterios. Pista: con 50.000 solicitudes al mes, la topología A suele ser más económica; la B se justifica con volumen alto o requisitos de control.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D-06 es la misma en las tres nubes; solo cambia qué servicio ocupa cada caja.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fechada: los nombres cambian. En 2026 Vertex AI pasó a llamarse Gemini Enterprise Agent Platform; Microsoft Agent Framework 1.0 es GA desde abril de 2026 y sucede a Semantic Kernel y AutoGen; Bedrock Agents pasó a Agents Classic (sin clientes nuevos desde el 30-jul-2026) y AWS recomienda AgentCore. Reverificar antes de cada cohorte.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D-17. Laboratorios GCP-A (consola), GCP-B (ADK) y GCP-C (arquitectura) en el repositorio. Verificar la ruta de consola tras el renombre de Vertex AI.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D-18. Es la nube de la Demo 3 en esta cohorte. La documentación oficial de cuotas (20-ago-2026) define un Tier 0 con gpt-5-mini y gpt-4.1-mini; hay reportes de trials con cuota 0, por eso se valida antes.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D-19. Recomendar el plan Paid con presupuesto en AWS Budgets porque el plan Free excluye algunos servicios. Laboratorios AWS-A a AWS-D en el repositorio.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D-20. Error frecuente: comparar Strands con Bedrock, o ADK con Gemini. Son capas combinables: un agente LangGraph puede correr en Foundry con un modelo de Azure; un agente Strands puede usar Ollama en local y Bedrock en producción.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Lección central: ninguna modalidad traslada al proveedor la responsabilidad por lo que el asistente responde. Recomendación: contrato de API propio + herramientas como MCP para poder cambiar de proveedor.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minutos. Ejecutar desde una suscripción con cuota validada. Si la cuota falla en vivo, usar la grabación preparada. Laboratorio completo AZ-A en el repositorio, con limpieza de recursos.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texto que llegue al prompt (documento recuperado, salida de herramienta) puede intentar comportarse como instrucción. Se diseña suponiendo que el modelo puede ser engañado.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D-21. Pregunta: si el asistente revela notas de otro estudiante usando un modelo gestionado, ¿de quién es la responsabilidad? De la universidad: el fallo está en permisos y en la recuperación.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D-22. Si el índice contiene actas restringidas y la búsqueda no filtra, el modelo las citará a quien pregunte. Es el riesgo más frecuente en asistentes institucionales.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dar asesoría jurídica: identificar el requisito y remitir a la oficina de protección de datos de la universidad. Relacionar residencia con la elección del tipo de despliegue (global, zona de datos, regional).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 Top 10 for LLM Applications 2025 (v2.0). Para agentes, OWASP publicó el Top 10 for Agentic Applications for 2026 (anunciado en diciembre de 2025) (ASI01 secuestro de objetivo, ASI02 mal uso de herramientas, ASI03 abuso de identidad y privilegios). Ambas listas son complementarias.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D-23. Referencia: Greshake et al. (2023), AISec. Ejemplo: un PDF publicado por terceros en el repositorio institucional con texto oculto. La defensa más efectiva es que el agente no tenga permisos peligrosos.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D-24. Logging seguro: registrar metadatos completos (usuario seudónimo, tokens, latencias, documentos citados) y contenido solo enmascarado y con retención limitada. El laboratorio local ya lo aplica: no registra el contenido de las conversaciones.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dos cifras (solicitudes por segundo y tokens por minuto) se dimensiona tanto una cuota gestionada como un despliegue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D-25. El promedio oculta a los usuarios que esperan más. El backend del laboratorio calcula TTFT y TPOT con esta fórmula.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Supuestos: cada usuario pregunta una vez por minuto, respuesta de ~10 s, 3.000 tokens de entrada y 300 de salida. Esta cifra se compara con la cuota TPM del proveedor. Cuando λ se acerca a la capacidad, la cola crece de forma no lineal (curva D-26).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 Google SRE Book. El SLA concreto de cada servicio se verificará en los laboratorios cloud. Pregunta: ¿qué SLI elegirían para medir la calidad de las respuestas, no solo la disponibilidad?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D-27. Con volúmenes bajos y variables la API suele ser más económica; el self-hosting se justifica con volumen alto y sostenido o requisitos de control. Los precios reales se calculan con tarifas oficiales fechadas en el laboratorio MC-01, no en la clase.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minutos. Ejecutar: python load-tests/loadtest.py --levels 1 2 4 8 --requests 8 contra Ollama real; si no está disponible, mostrar esta tabla del simulador (13-oct-2026) aclarando que no mide un modelo real. Pregunta: ¿cuál es la capacidad de este servidor y qué SLO de TTFT cumple?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Circular entre los equipos. Preguntas guía: ¿dónde está la identidad? ¿qué pasa si cae una zona? ¿cuántos tokens por minuto necesitan? La rúbrica completa está en sesiones/s01-arquitecturas-base/evaluacion.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retomando la pregunta inicial: lo que hay entre el usuario y el modelo son estas siete decisiones. Cuestionario de cierre de 5 preguntas (evaluación formativa).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las limitaciones de las cuentas trial verificadas: Azure con cuota a validar, AWS con plan Paid recomendado y GCP sin GPU ni modelos de terceros en la trial.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Enlaces completos y estado de verificación en docs/referencias.md del repositorio. Las referencias marcadas como 'por verificar' no se citan como definitivas.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Lecturas recomendadas para la semana: Kwon et al. (PagedAttention) y OWASP LLM Top 10 2025.
Fuentes: marco teórico Sesión 1 (docs/marco-teorico) y bibliografía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332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1F6F9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F6F9F"/>
          </a:solidFill>
          <a:ln/>
        </p:spPr>
      </p:sp>
      <p:sp>
        <p:nvSpPr>
          <p:cNvPr id="3" name="Text 1"/>
          <p:cNvSpPr/>
          <p:nvPr>
            <p:ph idx="101" type="title" hasCustomPrompt="1"/>
          </p:nvPr>
        </p:nvSpPr>
        <p:spPr>
          <a:xfrm>
            <a:off x="548640" y="274320"/>
            <a:ext cx="11064240" cy="8229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1"/>
          <p:cNvSpPr/>
          <p:nvPr/>
        </p:nvSpPr>
        <p:spPr>
          <a:xfrm>
            <a:off x="548640" y="6355080"/>
            <a:ext cx="7315200" cy="320040"/>
          </a:xfrm>
          <a:prstGeom prst="rect">
            <a:avLst/>
          </a:prstGeom>
          <a:noFill/>
          <a:ln/>
        </p:spPr>
        <p:txBody>
          <a:bodyPr wrap="square" rtlCol="0" anchor="ctr"/>
          <a:lstStyle/>
          <a:p>
            <a:pPr indent="0" marL="0">
              <a:buNone/>
            </a:pPr>
            <a:r>
              <a:rPr lang="en-US" sz="1000" dirty="0">
                <a:solidFill>
                  <a:schemeClr val="accent6"/>
                </a:solidFill>
              </a:rPr>
              <a:t>Diseño de Infraestructura Escalable para LLMs · Sesión 1</a:t>
            </a:r>
            <a:endParaRPr lang="en-US" sz="1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p>
            <a:pPr algn="l" indent="0" marL="0">
              <a:buNone/>
            </a:pPr>
            <a:r>
              <a:rPr lang="en-US" sz="4000" b="1" dirty="0">
                <a:solidFill>
                  <a:schemeClr val="bg1"/>
                </a:solidFill>
              </a:rPr>
              <a:t>Arquitecturas Base para LLMs en la Nube</a:t>
            </a:r>
            <a:endParaRPr lang="en-US" sz="40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p>
            <a:pPr indent="0" marL="0">
              <a:buNone/>
            </a:pPr>
            <a:r>
              <a:rPr lang="en-US" sz="2000" dirty="0">
                <a:solidFill>
                  <a:schemeClr val="bg2"/>
                </a:solidFill>
              </a:rPr>
              <a:t>Capítulo 1 · Fundamentos de Infraestructura para LLMs · Sesión 1 (180 min)</a:t>
            </a:r>
            <a:endParaRPr lang="en-US" sz="2000" dirty="0"/>
          </a:p>
          <a:p>
            <a:pPr indent="0" marL="0">
              <a:buNone/>
            </a:pPr>
            <a:r>
              <a:rPr lang="en-US" sz="2000" dirty="0">
                <a:solidFill>
                  <a:schemeClr val="bg2"/>
                </a:solidFill>
              </a:rPr>
              <a:t>Diseño de Infraestructura Escalable para LLMs · Maestría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¿Qué hay entre el usuario y el modelo?</a:t>
            </a:r>
            <a:endParaRPr lang="en-US" sz="2800" dirty="0"/>
          </a:p>
        </p:txBody>
      </p:sp>
      <p:sp>
        <p:nvSpPr>
          <p:cNvPr id="3" name="Text 1"/>
          <p:cNvSpPr txBox="1"/>
          <p:nvPr/>
        </p:nvSpPr>
        <p:spPr>
          <a:xfrm>
            <a:off x="548640" y="1280160"/>
            <a:ext cx="676656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Caso transversal: asistente institucional de conocimiento para una universidad</a:t>
            </a:r>
            <a:endParaRPr lang="en-US" sz="2000" dirty="0"/>
          </a:p>
          <a:p>
            <a:pPr lvl="1" marL="457200" indent="-228600">
              <a:spcAft>
                <a:spcPts val="800"/>
              </a:spcAft>
              <a:buSzPct val="100000"/>
              <a:buChar char="•"/>
            </a:pPr>
            <a:r>
              <a:rPr lang="en-US" sz="1700" dirty="0">
                <a:solidFill>
                  <a:schemeClr val="accent6"/>
                </a:solidFill>
              </a:rPr>
              <a:t>5.000 usuarios potenciales · 100 concurrentes (hipótesis de diseño)</a:t>
            </a:r>
            <a:endParaRPr lang="en-US" sz="2000" dirty="0"/>
          </a:p>
          <a:p>
            <a:pPr lvl="1" marL="457200" indent="-228600">
              <a:spcAft>
                <a:spcPts val="800"/>
              </a:spcAft>
              <a:buSzPct val="100000"/>
              <a:buChar char="•"/>
            </a:pPr>
            <a:r>
              <a:rPr lang="en-US" sz="1700" dirty="0">
                <a:solidFill>
                  <a:schemeClr val="accent6"/>
                </a:solidFill>
              </a:rPr>
              <a:t>Disponibilidad objetivo 99,9 % · acceso autenticado · auditoría</a:t>
            </a:r>
            <a:endParaRPr lang="en-US" sz="2000" dirty="0"/>
          </a:p>
          <a:p>
            <a:pPr lvl="1" marL="457200" indent="-228600">
              <a:spcAft>
                <a:spcPts val="800"/>
              </a:spcAft>
              <a:buSzPct val="100000"/>
              <a:buChar char="•"/>
            </a:pPr>
            <a:r>
              <a:rPr lang="en-US" sz="1700" dirty="0">
                <a:solidFill>
                  <a:schemeClr val="accent6"/>
                </a:solidFill>
              </a:rPr>
              <a:t>Documentos institucionales · protección de datos · presupuesto limitado</a:t>
            </a:r>
            <a:endParaRPr lang="en-US" sz="2000" dirty="0"/>
          </a:p>
          <a:p>
            <a:pPr marL="342900" indent="-342900">
              <a:spcAft>
                <a:spcPts val="800"/>
              </a:spcAft>
              <a:buSzPct val="100000"/>
              <a:buChar char="•"/>
            </a:pPr>
            <a:r>
              <a:rPr lang="en-US" sz="2000" dirty="0">
                <a:solidFill>
                  <a:schemeClr val="tx1"/>
                </a:solidFill>
              </a:rPr>
              <a:t>Los valores son supuestos académicos, no mediciones de carga</a:t>
            </a:r>
            <a:endParaRPr lang="en-US" sz="2000" dirty="0"/>
          </a:p>
          <a:p>
            <a:pPr marL="342900" indent="-342900">
              <a:spcAft>
                <a:spcPts val="800"/>
              </a:spcAft>
              <a:buSzPct val="100000"/>
              <a:buChar char="•"/>
            </a:pPr>
            <a:r>
              <a:rPr lang="en-US" sz="2000" dirty="0">
                <a:solidFill>
                  <a:schemeClr val="tx1"/>
                </a:solidFill>
              </a:rPr>
              <a:t>Pregunta guía de la sesión: ¿qué componentes deben existir, dónde viven y por qué?</a:t>
            </a:r>
            <a:endParaRPr lang="en-US" sz="2000" dirty="0"/>
          </a:p>
        </p:txBody>
      </p:sp>
      <p:sp>
        <p:nvSpPr>
          <p:cNvPr id="4" name="Shape 2"/>
          <p:cNvSpPr/>
          <p:nvPr/>
        </p:nvSpPr>
        <p:spPr>
          <a:xfrm>
            <a:off x="7680960" y="1463040"/>
            <a:ext cx="3931920" cy="822960"/>
          </a:xfrm>
          <a:prstGeom prst="roundRect">
            <a:avLst>
              <a:gd name="adj" fmla="val 8889"/>
            </a:avLst>
          </a:prstGeom>
          <a:solidFill>
            <a:srgbClr val="DCEAF4"/>
          </a:solidFill>
          <a:ln w="12700">
            <a:solidFill>
              <a:srgbClr val="1F6F9F"/>
            </a:solidFill>
            <a:prstDash val="solid"/>
          </a:ln>
        </p:spPr>
      </p:sp>
      <p:sp>
        <p:nvSpPr>
          <p:cNvPr id="5" name="Text 3"/>
          <p:cNvSpPr txBox="1"/>
          <p:nvPr/>
        </p:nvSpPr>
        <p:spPr>
          <a:xfrm>
            <a:off x="7680960" y="1463040"/>
            <a:ext cx="393192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Usuario institucional</a:t>
            </a:r>
            <a:endParaRPr lang="en-US" sz="1300" dirty="0"/>
          </a:p>
        </p:txBody>
      </p:sp>
      <p:sp>
        <p:nvSpPr>
          <p:cNvPr id="6" name="Shape 4"/>
          <p:cNvSpPr/>
          <p:nvPr/>
        </p:nvSpPr>
        <p:spPr>
          <a:xfrm>
            <a:off x="7680960" y="2743200"/>
            <a:ext cx="3931920" cy="822960"/>
          </a:xfrm>
          <a:prstGeom prst="roundRect">
            <a:avLst>
              <a:gd name="adj" fmla="val 8889"/>
            </a:avLst>
          </a:prstGeom>
          <a:solidFill>
            <a:srgbClr val="FFF4E0"/>
          </a:solidFill>
          <a:ln w="12700">
            <a:solidFill>
              <a:srgbClr val="1F6F9F"/>
            </a:solidFill>
            <a:prstDash val="solid"/>
          </a:ln>
        </p:spPr>
      </p:sp>
      <p:sp>
        <p:nvSpPr>
          <p:cNvPr id="7" name="Text 5"/>
          <p:cNvSpPr txBox="1"/>
          <p:nvPr/>
        </p:nvSpPr>
        <p:spPr>
          <a:xfrm>
            <a:off x="7680960" y="2743200"/>
            <a:ext cx="393192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 ? ? ?  (esta sesión)</a:t>
            </a:r>
            <a:endParaRPr lang="en-US" sz="1300" dirty="0"/>
          </a:p>
        </p:txBody>
      </p:sp>
      <p:sp>
        <p:nvSpPr>
          <p:cNvPr id="8" name="Shape 6"/>
          <p:cNvSpPr/>
          <p:nvPr/>
        </p:nvSpPr>
        <p:spPr>
          <a:xfrm>
            <a:off x="7680960" y="4023360"/>
            <a:ext cx="3931920" cy="822960"/>
          </a:xfrm>
          <a:prstGeom prst="roundRect">
            <a:avLst>
              <a:gd name="adj" fmla="val 8889"/>
            </a:avLst>
          </a:prstGeom>
          <a:solidFill>
            <a:srgbClr val="DCEAF4"/>
          </a:solidFill>
          <a:ln w="12700">
            <a:solidFill>
              <a:srgbClr val="1F6F9F"/>
            </a:solidFill>
            <a:prstDash val="solid"/>
          </a:ln>
        </p:spPr>
      </p:sp>
      <p:sp>
        <p:nvSpPr>
          <p:cNvPr id="9" name="Text 7"/>
          <p:cNvSpPr txBox="1"/>
          <p:nvPr/>
        </p:nvSpPr>
        <p:spPr>
          <a:xfrm>
            <a:off x="7680960" y="4023360"/>
            <a:ext cx="393192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Modelo de lenguaje</a:t>
            </a:r>
            <a:endParaRPr lang="en-US" sz="1300" dirty="0"/>
          </a:p>
        </p:txBody>
      </p:sp>
      <p:sp>
        <p:nvSpPr>
          <p:cNvPr id="10" name="Shape 8"/>
          <p:cNvSpPr/>
          <p:nvPr/>
        </p:nvSpPr>
        <p:spPr>
          <a:xfrm>
            <a:off x="9646920" y="2286000"/>
            <a:ext cx="914" cy="457200"/>
          </a:xfrm>
          <a:prstGeom prst="line">
            <a:avLst/>
          </a:prstGeom>
          <a:noFill/>
          <a:ln w="19050">
            <a:solidFill>
              <a:srgbClr val="7A8794"/>
            </a:solidFill>
            <a:prstDash val="solid"/>
            <a:tailEnd type="triangle"/>
          </a:ln>
        </p:spPr>
      </p:sp>
      <p:sp>
        <p:nvSpPr>
          <p:cNvPr id="11" name="Shape 9"/>
          <p:cNvSpPr/>
          <p:nvPr/>
        </p:nvSpPr>
        <p:spPr>
          <a:xfrm>
            <a:off x="9646920" y="3566160"/>
            <a:ext cx="914" cy="457200"/>
          </a:xfrm>
          <a:prstGeom prst="line">
            <a:avLst/>
          </a:prstGeom>
          <a:noFill/>
          <a:ln w="19050">
            <a:solidFill>
              <a:srgbClr val="7A8794"/>
            </a:solidFill>
            <a:prstDash val="solid"/>
            <a:tailEnd type="triangle"/>
          </a:ln>
        </p:spPr>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Resultados de aprendizaje y agenda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731520"/>
                <a:gridCol w="7589520"/>
                <a:gridCol w="2743200"/>
              </a:tblGrid>
              <a:tr h="0">
                <a:tc>
                  <a:txBody>
                    <a:bodyPr/>
                    <a:lstStyle/>
                    <a:p>
                      <a:pPr indent="0" marL="0">
                        <a:buNone/>
                      </a:pPr>
                      <a:r>
                        <a:rPr lang="en-US" sz="1200" b="1" dirty="0">
                          <a:solidFill>
                            <a:srgbClr val="FFFFFF"/>
                          </a:solidFill>
                        </a:rPr>
                        <a:t>RA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Al finalizar podrá…</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200" b="1" dirty="0">
                          <a:solidFill>
                            <a:srgbClr val="FFFFFF"/>
                          </a:solidFill>
                        </a:rPr>
                        <a:t>Bloque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200" dirty="0">
                          <a:solidFill>
                            <a:srgbClr val="1B1F24"/>
                          </a:solidFill>
                        </a:rPr>
                        <a:t>RA1</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Explicar el ciclo de vida de una solicitud: prefill, decode, KV cache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Unidad A · Demo 1</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RA2</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Identificar componentes y plano de control vs. plano de datos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Unidad B</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RA3</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Comparar inferencia gestionada y autogestionada con criterios</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B · C · Demo 2</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RA4</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Estimar memoria: pesos + KV cache según precisión y concurrencia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Unidad C</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RA5</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Interpretar TTFT, TPOT, throughput y saturación</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F · Demo 4</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RA6</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Mapear categorías de servicio en AWS, Azure y Google Cloud</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Unidad D · Demo 3</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B1F24"/>
                          </a:solidFill>
                        </a:rPr>
                        <a:t>RA7</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Asociar riesgos OWASP LLM 2025 con controles por capa</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200" dirty="0">
                          <a:solidFill>
                            <a:srgbClr val="1B1F24"/>
                          </a:solidFill>
                        </a:rPr>
                        <a:t>Unidad E</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200" dirty="0">
                          <a:solidFill>
                            <a:srgbClr val="1B1F24"/>
                          </a:solidFill>
                        </a:rPr>
                        <a:t>RA8</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Diseñar y justificar una topología base para el caso</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200" dirty="0">
                          <a:solidFill>
                            <a:srgbClr val="1B1F24"/>
                          </a:solidFill>
                        </a:rPr>
                        <a:t>Taller</a:t>
                      </a:r>
                      <a:endParaRPr lang="en-US" sz="12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p>
            <a:pPr algn="l" indent="0" marL="0">
              <a:buNone/>
            </a:pPr>
            <a:r>
              <a:rPr lang="en-US" sz="3800" b="1" dirty="0">
                <a:solidFill>
                  <a:schemeClr val="bg1"/>
                </a:solidFill>
              </a:rPr>
              <a:t>Unidad A · Fundamentos de inferencia</a:t>
            </a: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p>
            <a:pPr indent="0" marL="0">
              <a:buNone/>
            </a:pPr>
            <a:r>
              <a:rPr lang="en-US" sz="2000" dirty="0">
                <a:solidFill>
                  <a:schemeClr val="bg2"/>
                </a:solidFill>
              </a:rPr>
              <a:t>¿Qué recurso se agota primero cuando un LLM atiende a muchos usuarios?</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Un LLM visto desde la infraestructura</a:t>
            </a:r>
            <a:endParaRPr lang="en-US" sz="2800" dirty="0"/>
          </a:p>
        </p:txBody>
      </p:sp>
      <p:sp>
        <p:nvSpPr>
          <p:cNvPr id="3" name="Text 1"/>
          <p:cNvSpPr txBox="1"/>
          <p:nvPr/>
        </p:nvSpPr>
        <p:spPr>
          <a:xfrm>
            <a:off x="548640" y="1280160"/>
            <a:ext cx="69494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Dos piezas: archivo de pesos (miles de millones de parámetros) + motor de inferencia</a:t>
            </a:r>
            <a:endParaRPr lang="en-US" sz="2000" dirty="0"/>
          </a:p>
          <a:p>
            <a:pPr marL="342900" indent="-342900">
              <a:spcAft>
                <a:spcPts val="800"/>
              </a:spcAft>
              <a:buSzPct val="100000"/>
              <a:buChar char="•"/>
            </a:pPr>
            <a:r>
              <a:rPr lang="en-US" sz="2000" dirty="0">
                <a:solidFill>
                  <a:schemeClr val="tx1"/>
                </a:solidFill>
              </a:rPr>
              <a:t>Cada token generado ≈ una pasada completa por la red: ~2 × N operaciones para N parámetros</a:t>
            </a:r>
            <a:endParaRPr lang="en-US" sz="2000" dirty="0"/>
          </a:p>
          <a:p>
            <a:pPr marL="342900" indent="-342900">
              <a:spcAft>
                <a:spcPts val="800"/>
              </a:spcAft>
              <a:buSzPct val="100000"/>
              <a:buChar char="•"/>
            </a:pPr>
            <a:r>
              <a:rPr lang="en-US" sz="2000" dirty="0">
                <a:solidFill>
                  <a:schemeClr val="tx1"/>
                </a:solidFill>
              </a:rPr>
              <a:t>Cada paso de decode lee prácticamente todos los pesos desde memoria</a:t>
            </a:r>
            <a:endParaRPr lang="en-US" sz="2000" dirty="0"/>
          </a:p>
          <a:p>
            <a:pPr marL="342900" indent="-342900">
              <a:spcAft>
                <a:spcPts val="800"/>
              </a:spcAft>
              <a:buSzPct val="100000"/>
              <a:buChar char="•"/>
            </a:pPr>
            <a:r>
              <a:rPr lang="en-US" sz="2000" dirty="0">
                <a:solidFill>
                  <a:schemeClr val="tx1"/>
                </a:solidFill>
              </a:rPr>
              <a:t>Consecuencia: el tamaño del modelo fija la memoria necesaria y la velocidad por token</a:t>
            </a:r>
            <a:endParaRPr lang="en-US" sz="2000" dirty="0"/>
          </a:p>
          <a:p>
            <a:pPr marL="342900" indent="-342900">
              <a:spcAft>
                <a:spcPts val="800"/>
              </a:spcAft>
              <a:buSzPct val="100000"/>
              <a:buChar char="•"/>
            </a:pPr>
            <a:r>
              <a:rPr lang="en-US" sz="2000" dirty="0">
                <a:solidFill>
                  <a:schemeClr val="tx1"/>
                </a:solidFill>
              </a:rPr>
              <a:t>Servir un modelo = mantener pesos en memoria rápida + ejecutar el motor por cada token</a:t>
            </a:r>
            <a:endParaRPr lang="en-US" sz="2000" dirty="0"/>
          </a:p>
        </p:txBody>
      </p:sp>
      <p:sp>
        <p:nvSpPr>
          <p:cNvPr id="4" name="Shape 2"/>
          <p:cNvSpPr/>
          <p:nvPr/>
        </p:nvSpPr>
        <p:spPr>
          <a:xfrm>
            <a:off x="7863840" y="1463040"/>
            <a:ext cx="3749040" cy="1097280"/>
          </a:xfrm>
          <a:prstGeom prst="roundRect">
            <a:avLst>
              <a:gd name="adj" fmla="val 6667"/>
            </a:avLst>
          </a:prstGeom>
          <a:solidFill>
            <a:srgbClr val="DCEAF4"/>
          </a:solidFill>
          <a:ln w="12700">
            <a:solidFill>
              <a:srgbClr val="1F6F9F"/>
            </a:solidFill>
            <a:prstDash val="solid"/>
          </a:ln>
        </p:spPr>
      </p:sp>
      <p:sp>
        <p:nvSpPr>
          <p:cNvPr id="5" name="Text 3"/>
          <p:cNvSpPr txBox="1"/>
          <p:nvPr/>
        </p:nvSpPr>
        <p:spPr>
          <a:xfrm>
            <a:off x="7863840" y="1463040"/>
            <a:ext cx="374904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Pesos</a:t>
            </a:r>
            <a:endParaRPr lang="en-US" sz="1300" dirty="0"/>
          </a:p>
          <a:p>
            <a:pPr algn="ctr" indent="0" marL="0">
              <a:buNone/>
            </a:pPr>
            <a:r>
              <a:rPr lang="en-US" sz="1300" dirty="0">
                <a:solidFill>
                  <a:srgbClr val="1B1F24"/>
                </a:solidFill>
              </a:rPr>
              <a:t>(VRAM / RAM)</a:t>
            </a:r>
            <a:endParaRPr lang="en-US" sz="1300" dirty="0"/>
          </a:p>
        </p:txBody>
      </p:sp>
      <p:sp>
        <p:nvSpPr>
          <p:cNvPr id="6" name="Shape 4"/>
          <p:cNvSpPr/>
          <p:nvPr/>
        </p:nvSpPr>
        <p:spPr>
          <a:xfrm>
            <a:off x="7863840" y="3017520"/>
            <a:ext cx="3749040" cy="1097280"/>
          </a:xfrm>
          <a:prstGeom prst="roundRect">
            <a:avLst>
              <a:gd name="adj" fmla="val 6667"/>
            </a:avLst>
          </a:prstGeom>
          <a:solidFill>
            <a:srgbClr val="F2F4F6"/>
          </a:solidFill>
          <a:ln w="12700">
            <a:solidFill>
              <a:srgbClr val="1F6F9F"/>
            </a:solidFill>
            <a:prstDash val="solid"/>
          </a:ln>
        </p:spPr>
      </p:sp>
      <p:sp>
        <p:nvSpPr>
          <p:cNvPr id="7" name="Text 5"/>
          <p:cNvSpPr txBox="1"/>
          <p:nvPr/>
        </p:nvSpPr>
        <p:spPr>
          <a:xfrm>
            <a:off x="7863840" y="3017520"/>
            <a:ext cx="374904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Motor de inferencia</a:t>
            </a:r>
            <a:endParaRPr lang="en-US" sz="1300" dirty="0"/>
          </a:p>
          <a:p>
            <a:pPr algn="ctr" indent="0" marL="0">
              <a:buNone/>
            </a:pPr>
            <a:r>
              <a:rPr lang="en-US" sz="1300" dirty="0">
                <a:solidFill>
                  <a:srgbClr val="1B1F24"/>
                </a:solidFill>
              </a:rPr>
              <a:t>(scheduler, kernels)</a:t>
            </a:r>
            <a:endParaRPr lang="en-US" sz="1300" dirty="0"/>
          </a:p>
        </p:txBody>
      </p:sp>
      <p:sp>
        <p:nvSpPr>
          <p:cNvPr id="8" name="Shape 6"/>
          <p:cNvSpPr/>
          <p:nvPr/>
        </p:nvSpPr>
        <p:spPr>
          <a:xfrm>
            <a:off x="7863840" y="4572000"/>
            <a:ext cx="3749040" cy="822960"/>
          </a:xfrm>
          <a:prstGeom prst="roundRect">
            <a:avLst>
              <a:gd name="adj" fmla="val 8889"/>
            </a:avLst>
          </a:prstGeom>
          <a:solidFill>
            <a:srgbClr val="E3F2EF"/>
          </a:solidFill>
          <a:ln w="12700">
            <a:solidFill>
              <a:srgbClr val="1F6F9F"/>
            </a:solidFill>
            <a:prstDash val="solid"/>
          </a:ln>
        </p:spPr>
      </p:sp>
      <p:sp>
        <p:nvSpPr>
          <p:cNvPr id="9" name="Text 7"/>
          <p:cNvSpPr txBox="1"/>
          <p:nvPr/>
        </p:nvSpPr>
        <p:spPr>
          <a:xfrm>
            <a:off x="7863840" y="4572000"/>
            <a:ext cx="374904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Tokens de salida</a:t>
            </a:r>
            <a:endParaRPr lang="en-US" sz="1300" dirty="0"/>
          </a:p>
        </p:txBody>
      </p:sp>
      <p:sp>
        <p:nvSpPr>
          <p:cNvPr id="10" name="Shape 8"/>
          <p:cNvSpPr/>
          <p:nvPr/>
        </p:nvSpPr>
        <p:spPr>
          <a:xfrm>
            <a:off x="9738360" y="2560320"/>
            <a:ext cx="914" cy="457200"/>
          </a:xfrm>
          <a:prstGeom prst="line">
            <a:avLst/>
          </a:prstGeom>
          <a:noFill/>
          <a:ln w="19050">
            <a:solidFill>
              <a:srgbClr val="7A8794"/>
            </a:solidFill>
            <a:prstDash val="solid"/>
            <a:tailEnd type="triangle"/>
          </a:ln>
        </p:spPr>
      </p:sp>
      <p:sp>
        <p:nvSpPr>
          <p:cNvPr id="11" name="Shape 9"/>
          <p:cNvSpPr/>
          <p:nvPr/>
        </p:nvSpPr>
        <p:spPr>
          <a:xfrm>
            <a:off x="9738360" y="4114800"/>
            <a:ext cx="914" cy="457200"/>
          </a:xfrm>
          <a:prstGeom prst="line">
            <a:avLst/>
          </a:prstGeom>
          <a:noFill/>
          <a:ln w="19050">
            <a:solidFill>
              <a:srgbClr val="7A8794"/>
            </a:solidFill>
            <a:prstDash val="solid"/>
            <a:tailEnd type="triangle"/>
          </a:ln>
        </p:spPr>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Tokens y context window</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7772400"/>
              </a:tblGrid>
              <a:tr h="0">
                <a:tc>
                  <a:txBody>
                    <a:bodyPr/>
                    <a:lstStyle/>
                    <a:p>
                      <a:pPr indent="0" marL="0">
                        <a:buNone/>
                      </a:pPr>
                      <a:r>
                        <a:rPr lang="en-US" sz="1400" b="1" dirty="0">
                          <a:solidFill>
                            <a:srgbClr val="FFFFFF"/>
                          </a:solidFill>
                        </a:rPr>
                        <a:t>El token 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Implicación de infraestructura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Unidad de facturación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Las APIs gestionadas cobran por token de entrada y de salida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Unidad de latencia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Cada token de salida es un paso de decode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Unidad de capacidad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Cada token activo ocupa KV cache mientras la conversación vive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Text 1"/>
          <p:cNvSpPr txBox="1"/>
          <p:nvPr/>
        </p:nvSpPr>
        <p:spPr>
          <a:xfrm>
            <a:off x="548640" y="3291840"/>
            <a:ext cx="11064240" cy="228600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chemeClr val="tx1"/>
                </a:solidFill>
              </a:rPr>
              <a:t>Tokenizadores entrenados mayormente en inglés producen más tokens por palabra en español: medir con el tokenizador real</a:t>
            </a:r>
            <a:endParaRPr lang="en-US" sz="1800" dirty="0"/>
          </a:p>
          <a:p>
            <a:pPr marL="342900" indent="-342900">
              <a:spcAft>
                <a:spcPts val="800"/>
              </a:spcAft>
              <a:buSzPct val="100000"/>
              <a:buChar char="•"/>
            </a:pPr>
            <a:r>
              <a:rPr lang="en-US" sz="1800" dirty="0">
                <a:solidFill>
                  <a:schemeClr val="tx1"/>
                </a:solidFill>
              </a:rPr>
              <a:t>Context window = máximo de tokens de entrada + salida por solicitud</a:t>
            </a:r>
            <a:endParaRPr lang="en-US" sz="1800" dirty="0"/>
          </a:p>
          <a:p>
            <a:pPr marL="342900" indent="-342900">
              <a:spcAft>
                <a:spcPts val="800"/>
              </a:spcAft>
              <a:buSzPct val="100000"/>
              <a:buChar char="•"/>
            </a:pPr>
            <a:r>
              <a:rPr lang="en-US" sz="1800" dirty="0">
                <a:solidFill>
                  <a:schemeClr val="tx1"/>
                </a:solidFill>
              </a:rPr>
              <a:t>Una ventana grande no es gratis: cuesta dinero, alarga el prefill y ocupa memoria</a:t>
            </a:r>
            <a:endParaRPr lang="en-US" sz="18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Ciclo de vida de una solicitud de inferencia</a:t>
            </a:r>
            <a:endParaRPr lang="en-US" sz="2800" dirty="0"/>
          </a:p>
        </p:txBody>
      </p:sp>
      <p:sp>
        <p:nvSpPr>
          <p:cNvPr id="3" name="Shape 1"/>
          <p:cNvSpPr/>
          <p:nvPr/>
        </p:nvSpPr>
        <p:spPr>
          <a:xfrm>
            <a:off x="548640" y="1828800"/>
            <a:ext cx="1345474" cy="1280160"/>
          </a:xfrm>
          <a:prstGeom prst="roundRect">
            <a:avLst>
              <a:gd name="adj" fmla="val 5714"/>
            </a:avLst>
          </a:prstGeom>
          <a:solidFill>
            <a:srgbClr val="DCEAF4"/>
          </a:solidFill>
          <a:ln w="12700">
            <a:solidFill>
              <a:srgbClr val="1F6F9F"/>
            </a:solidFill>
            <a:prstDash val="solid"/>
          </a:ln>
        </p:spPr>
      </p:sp>
      <p:sp>
        <p:nvSpPr>
          <p:cNvPr id="4" name="Text 2"/>
          <p:cNvSpPr txBox="1"/>
          <p:nvPr/>
        </p:nvSpPr>
        <p:spPr>
          <a:xfrm>
            <a:off x="548640"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Usuario</a:t>
            </a:r>
            <a:endParaRPr lang="en-US" sz="1300" dirty="0"/>
          </a:p>
          <a:p>
            <a:pPr algn="ctr" indent="0" marL="0">
              <a:buNone/>
            </a:pPr>
            <a:r>
              <a:rPr lang="en-US" sz="1300" dirty="0">
                <a:solidFill>
                  <a:srgbClr val="1B1F24"/>
                </a:solidFill>
              </a:rPr>
              <a:t>HTTPS + identidad</a:t>
            </a:r>
            <a:endParaRPr lang="en-US" sz="1300" dirty="0"/>
          </a:p>
        </p:txBody>
      </p:sp>
      <p:sp>
        <p:nvSpPr>
          <p:cNvPr id="5" name="Shape 3"/>
          <p:cNvSpPr/>
          <p:nvPr/>
        </p:nvSpPr>
        <p:spPr>
          <a:xfrm>
            <a:off x="1894114" y="2468880"/>
            <a:ext cx="274320" cy="914"/>
          </a:xfrm>
          <a:prstGeom prst="line">
            <a:avLst/>
          </a:prstGeom>
          <a:noFill/>
          <a:ln w="19050">
            <a:solidFill>
              <a:srgbClr val="7A8794"/>
            </a:solidFill>
            <a:prstDash val="solid"/>
            <a:tailEnd type="triangle"/>
          </a:ln>
        </p:spPr>
      </p:sp>
      <p:sp>
        <p:nvSpPr>
          <p:cNvPr id="6" name="Shape 4"/>
          <p:cNvSpPr/>
          <p:nvPr/>
        </p:nvSpPr>
        <p:spPr>
          <a:xfrm>
            <a:off x="2168434" y="1828800"/>
            <a:ext cx="1345474" cy="1280160"/>
          </a:xfrm>
          <a:prstGeom prst="roundRect">
            <a:avLst>
              <a:gd name="adj" fmla="val 5714"/>
            </a:avLst>
          </a:prstGeom>
          <a:solidFill>
            <a:srgbClr val="F2F4F6"/>
          </a:solidFill>
          <a:ln w="12700">
            <a:solidFill>
              <a:srgbClr val="1F6F9F"/>
            </a:solidFill>
            <a:prstDash val="solid"/>
          </a:ln>
        </p:spPr>
      </p:sp>
      <p:sp>
        <p:nvSpPr>
          <p:cNvPr id="7" name="Text 5"/>
          <p:cNvSpPr txBox="1"/>
          <p:nvPr/>
        </p:nvSpPr>
        <p:spPr>
          <a:xfrm>
            <a:off x="2168434"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API Gateway</a:t>
            </a:r>
            <a:endParaRPr lang="en-US" sz="1300" dirty="0"/>
          </a:p>
          <a:p>
            <a:pPr algn="ctr" indent="0" marL="0">
              <a:buNone/>
            </a:pPr>
            <a:r>
              <a:rPr lang="en-US" sz="1300" dirty="0">
                <a:solidFill>
                  <a:srgbClr val="1B1F24"/>
                </a:solidFill>
              </a:rPr>
              <a:t>auth, cuotas</a:t>
            </a:r>
            <a:endParaRPr lang="en-US" sz="1300" dirty="0"/>
          </a:p>
        </p:txBody>
      </p:sp>
      <p:sp>
        <p:nvSpPr>
          <p:cNvPr id="8" name="Shape 6"/>
          <p:cNvSpPr/>
          <p:nvPr/>
        </p:nvSpPr>
        <p:spPr>
          <a:xfrm>
            <a:off x="3513909" y="2468880"/>
            <a:ext cx="274320" cy="914"/>
          </a:xfrm>
          <a:prstGeom prst="line">
            <a:avLst/>
          </a:prstGeom>
          <a:noFill/>
          <a:ln w="19050">
            <a:solidFill>
              <a:srgbClr val="7A8794"/>
            </a:solidFill>
            <a:prstDash val="solid"/>
            <a:tailEnd type="triangle"/>
          </a:ln>
        </p:spPr>
      </p:sp>
      <p:sp>
        <p:nvSpPr>
          <p:cNvPr id="9" name="Shape 7"/>
          <p:cNvSpPr/>
          <p:nvPr/>
        </p:nvSpPr>
        <p:spPr>
          <a:xfrm>
            <a:off x="3788229" y="1828800"/>
            <a:ext cx="1345474" cy="1280160"/>
          </a:xfrm>
          <a:prstGeom prst="roundRect">
            <a:avLst>
              <a:gd name="adj" fmla="val 5714"/>
            </a:avLst>
          </a:prstGeom>
          <a:solidFill>
            <a:srgbClr val="F2F4F6"/>
          </a:solidFill>
          <a:ln w="12700">
            <a:solidFill>
              <a:srgbClr val="1F6F9F"/>
            </a:solidFill>
            <a:prstDash val="solid"/>
          </a:ln>
        </p:spPr>
      </p:sp>
      <p:sp>
        <p:nvSpPr>
          <p:cNvPr id="10" name="Text 8"/>
          <p:cNvSpPr txBox="1"/>
          <p:nvPr/>
        </p:nvSpPr>
        <p:spPr>
          <a:xfrm>
            <a:off x="3788229"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Backend</a:t>
            </a:r>
            <a:endParaRPr lang="en-US" sz="1300" dirty="0"/>
          </a:p>
          <a:p>
            <a:pPr algn="ctr" indent="0" marL="0">
              <a:buNone/>
            </a:pPr>
            <a:r>
              <a:rPr lang="en-US" sz="1300" dirty="0">
                <a:solidFill>
                  <a:srgbClr val="1B1F24"/>
                </a:solidFill>
              </a:rPr>
              <a:t>construye prompt</a:t>
            </a:r>
            <a:endParaRPr lang="en-US" sz="1300" dirty="0"/>
          </a:p>
        </p:txBody>
      </p:sp>
      <p:sp>
        <p:nvSpPr>
          <p:cNvPr id="11" name="Shape 9"/>
          <p:cNvSpPr/>
          <p:nvPr/>
        </p:nvSpPr>
        <p:spPr>
          <a:xfrm>
            <a:off x="5133703" y="2468880"/>
            <a:ext cx="274320" cy="914"/>
          </a:xfrm>
          <a:prstGeom prst="line">
            <a:avLst/>
          </a:prstGeom>
          <a:noFill/>
          <a:ln w="19050">
            <a:solidFill>
              <a:srgbClr val="7A8794"/>
            </a:solidFill>
            <a:prstDash val="solid"/>
            <a:tailEnd type="triangle"/>
          </a:ln>
        </p:spPr>
      </p:sp>
      <p:sp>
        <p:nvSpPr>
          <p:cNvPr id="12" name="Shape 10"/>
          <p:cNvSpPr/>
          <p:nvPr/>
        </p:nvSpPr>
        <p:spPr>
          <a:xfrm>
            <a:off x="5408023" y="1828800"/>
            <a:ext cx="1345474" cy="1280160"/>
          </a:xfrm>
          <a:prstGeom prst="roundRect">
            <a:avLst>
              <a:gd name="adj" fmla="val 5714"/>
            </a:avLst>
          </a:prstGeom>
          <a:solidFill>
            <a:srgbClr val="F2F4F6"/>
          </a:solidFill>
          <a:ln w="12700">
            <a:solidFill>
              <a:srgbClr val="1F6F9F"/>
            </a:solidFill>
            <a:prstDash val="solid"/>
          </a:ln>
        </p:spPr>
      </p:sp>
      <p:sp>
        <p:nvSpPr>
          <p:cNvPr id="13" name="Text 11"/>
          <p:cNvSpPr txBox="1"/>
          <p:nvPr/>
        </p:nvSpPr>
        <p:spPr>
          <a:xfrm>
            <a:off x="5408023"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Scheduler</a:t>
            </a:r>
            <a:endParaRPr lang="en-US" sz="1300" dirty="0"/>
          </a:p>
          <a:p>
            <a:pPr algn="ctr" indent="0" marL="0">
              <a:buNone/>
            </a:pPr>
            <a:r>
              <a:rPr lang="en-US" sz="1300" dirty="0">
                <a:solidFill>
                  <a:srgbClr val="1B1F24"/>
                </a:solidFill>
              </a:rPr>
              <a:t>cola</a:t>
            </a:r>
            <a:endParaRPr lang="en-US" sz="1300" dirty="0"/>
          </a:p>
        </p:txBody>
      </p:sp>
      <p:sp>
        <p:nvSpPr>
          <p:cNvPr id="14" name="Shape 12"/>
          <p:cNvSpPr/>
          <p:nvPr/>
        </p:nvSpPr>
        <p:spPr>
          <a:xfrm>
            <a:off x="6753497" y="2468880"/>
            <a:ext cx="274320" cy="914"/>
          </a:xfrm>
          <a:prstGeom prst="line">
            <a:avLst/>
          </a:prstGeom>
          <a:noFill/>
          <a:ln w="19050">
            <a:solidFill>
              <a:srgbClr val="7A8794"/>
            </a:solidFill>
            <a:prstDash val="solid"/>
            <a:tailEnd type="triangle"/>
          </a:ln>
        </p:spPr>
      </p:sp>
      <p:sp>
        <p:nvSpPr>
          <p:cNvPr id="15" name="Shape 13"/>
          <p:cNvSpPr/>
          <p:nvPr/>
        </p:nvSpPr>
        <p:spPr>
          <a:xfrm>
            <a:off x="7027817" y="1828800"/>
            <a:ext cx="1345474" cy="1280160"/>
          </a:xfrm>
          <a:prstGeom prst="roundRect">
            <a:avLst>
              <a:gd name="adj" fmla="val 5714"/>
            </a:avLst>
          </a:prstGeom>
          <a:solidFill>
            <a:srgbClr val="F2F4F6"/>
          </a:solidFill>
          <a:ln w="12700">
            <a:solidFill>
              <a:srgbClr val="1F6F9F"/>
            </a:solidFill>
            <a:prstDash val="solid"/>
          </a:ln>
        </p:spPr>
      </p:sp>
      <p:sp>
        <p:nvSpPr>
          <p:cNvPr id="16" name="Text 14"/>
          <p:cNvSpPr txBox="1"/>
          <p:nvPr/>
        </p:nvSpPr>
        <p:spPr>
          <a:xfrm>
            <a:off x="7027817"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Prefill</a:t>
            </a:r>
            <a:endParaRPr lang="en-US" sz="1300" dirty="0"/>
          </a:p>
          <a:p>
            <a:pPr algn="ctr" indent="0" marL="0">
              <a:buNone/>
            </a:pPr>
            <a:r>
              <a:rPr lang="en-US" sz="1300" dirty="0">
                <a:solidFill>
                  <a:srgbClr val="1B1F24"/>
                </a:solidFill>
              </a:rPr>
              <a:t>entrada en paralelo</a:t>
            </a:r>
            <a:endParaRPr lang="en-US" sz="1300" dirty="0"/>
          </a:p>
        </p:txBody>
      </p:sp>
      <p:sp>
        <p:nvSpPr>
          <p:cNvPr id="17" name="Shape 15"/>
          <p:cNvSpPr/>
          <p:nvPr/>
        </p:nvSpPr>
        <p:spPr>
          <a:xfrm>
            <a:off x="8373291" y="2468880"/>
            <a:ext cx="274320" cy="914"/>
          </a:xfrm>
          <a:prstGeom prst="line">
            <a:avLst/>
          </a:prstGeom>
          <a:noFill/>
          <a:ln w="19050">
            <a:solidFill>
              <a:srgbClr val="7A8794"/>
            </a:solidFill>
            <a:prstDash val="solid"/>
            <a:tailEnd type="triangle"/>
          </a:ln>
        </p:spPr>
      </p:sp>
      <p:sp>
        <p:nvSpPr>
          <p:cNvPr id="18" name="Shape 16"/>
          <p:cNvSpPr/>
          <p:nvPr/>
        </p:nvSpPr>
        <p:spPr>
          <a:xfrm>
            <a:off x="8647611" y="1828800"/>
            <a:ext cx="1345474" cy="1280160"/>
          </a:xfrm>
          <a:prstGeom prst="roundRect">
            <a:avLst>
              <a:gd name="adj" fmla="val 5714"/>
            </a:avLst>
          </a:prstGeom>
          <a:solidFill>
            <a:srgbClr val="F2F4F6"/>
          </a:solidFill>
          <a:ln w="12700">
            <a:solidFill>
              <a:srgbClr val="1F6F9F"/>
            </a:solidFill>
            <a:prstDash val="solid"/>
          </a:ln>
        </p:spPr>
      </p:sp>
      <p:sp>
        <p:nvSpPr>
          <p:cNvPr id="19" name="Text 17"/>
          <p:cNvSpPr txBox="1"/>
          <p:nvPr/>
        </p:nvSpPr>
        <p:spPr>
          <a:xfrm>
            <a:off x="8647611"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Decode</a:t>
            </a:r>
            <a:endParaRPr lang="en-US" sz="1300" dirty="0"/>
          </a:p>
          <a:p>
            <a:pPr algn="ctr" indent="0" marL="0">
              <a:buNone/>
            </a:pPr>
            <a:r>
              <a:rPr lang="en-US" sz="1300" dirty="0">
                <a:solidFill>
                  <a:srgbClr val="1B1F24"/>
                </a:solidFill>
              </a:rPr>
              <a:t>token a token</a:t>
            </a:r>
            <a:endParaRPr lang="en-US" sz="1300" dirty="0"/>
          </a:p>
        </p:txBody>
      </p:sp>
      <p:sp>
        <p:nvSpPr>
          <p:cNvPr id="20" name="Shape 18"/>
          <p:cNvSpPr/>
          <p:nvPr/>
        </p:nvSpPr>
        <p:spPr>
          <a:xfrm>
            <a:off x="9993086" y="2468880"/>
            <a:ext cx="274320" cy="914"/>
          </a:xfrm>
          <a:prstGeom prst="line">
            <a:avLst/>
          </a:prstGeom>
          <a:noFill/>
          <a:ln w="19050">
            <a:solidFill>
              <a:srgbClr val="7A8794"/>
            </a:solidFill>
            <a:prstDash val="solid"/>
            <a:tailEnd type="triangle"/>
          </a:ln>
        </p:spPr>
      </p:sp>
      <p:sp>
        <p:nvSpPr>
          <p:cNvPr id="21" name="Shape 19"/>
          <p:cNvSpPr/>
          <p:nvPr/>
        </p:nvSpPr>
        <p:spPr>
          <a:xfrm>
            <a:off x="10267406" y="1828800"/>
            <a:ext cx="1345474" cy="1280160"/>
          </a:xfrm>
          <a:prstGeom prst="roundRect">
            <a:avLst>
              <a:gd name="adj" fmla="val 5714"/>
            </a:avLst>
          </a:prstGeom>
          <a:solidFill>
            <a:srgbClr val="F2F4F6"/>
          </a:solidFill>
          <a:ln w="12700">
            <a:solidFill>
              <a:srgbClr val="1F6F9F"/>
            </a:solidFill>
            <a:prstDash val="solid"/>
          </a:ln>
        </p:spPr>
      </p:sp>
      <p:sp>
        <p:nvSpPr>
          <p:cNvPr id="22" name="Text 20"/>
          <p:cNvSpPr txBox="1"/>
          <p:nvPr/>
        </p:nvSpPr>
        <p:spPr>
          <a:xfrm>
            <a:off x="10267406" y="1828800"/>
            <a:ext cx="1345474" cy="1280160"/>
          </a:xfrm>
          <a:prstGeom prst="rect">
            <a:avLst/>
          </a:prstGeom>
          <a:noFill/>
          <a:ln/>
        </p:spPr>
        <p:txBody>
          <a:bodyPr wrap="square" lIns="635" tIns="635" rIns="635" bIns="635" rtlCol="0" anchor="ctr"/>
          <a:lstStyle/>
          <a:p>
            <a:pPr algn="ctr" indent="0" marL="0">
              <a:buNone/>
            </a:pPr>
            <a:r>
              <a:rPr lang="en-US" sz="1300" dirty="0">
                <a:solidFill>
                  <a:srgbClr val="1B1F24"/>
                </a:solidFill>
              </a:rPr>
              <a:t>Streaming</a:t>
            </a:r>
            <a:endParaRPr lang="en-US" sz="1300" dirty="0"/>
          </a:p>
          <a:p>
            <a:pPr algn="ctr" indent="0" marL="0">
              <a:buNone/>
            </a:pPr>
            <a:r>
              <a:rPr lang="en-US" sz="1300" dirty="0">
                <a:solidFill>
                  <a:srgbClr val="1B1F24"/>
                </a:solidFill>
              </a:rPr>
              <a:t>+ guardrails</a:t>
            </a:r>
            <a:endParaRPr lang="en-US" sz="1300" dirty="0"/>
          </a:p>
        </p:txBody>
      </p:sp>
      <p:sp>
        <p:nvSpPr>
          <p:cNvPr id="23" name="Text 21"/>
          <p:cNvSpPr txBox="1"/>
          <p:nvPr/>
        </p:nvSpPr>
        <p:spPr>
          <a:xfrm>
            <a:off x="548640" y="3657600"/>
            <a:ext cx="11064240" cy="20116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chemeClr val="tx1"/>
                </a:solidFill>
              </a:rPr>
              <a:t>Pasos 1–3 y posprocesamiento: infraestructura clásica (identidad, red, aplicación)</a:t>
            </a:r>
            <a:endParaRPr lang="en-US" sz="1800" dirty="0"/>
          </a:p>
          <a:p>
            <a:pPr marL="342900" indent="-342900">
              <a:spcAft>
                <a:spcPts val="800"/>
              </a:spcAft>
              <a:buSzPct val="100000"/>
              <a:buChar char="•"/>
            </a:pPr>
            <a:r>
              <a:rPr lang="en-US" sz="1800" dirty="0">
                <a:solidFill>
                  <a:schemeClr val="tx1"/>
                </a:solidFill>
              </a:rPr>
              <a:t>Cola, prefill y decode: específicos de LLM → núcleo de las unidades C y F</a:t>
            </a:r>
            <a:endParaRPr lang="en-US" sz="1800" dirty="0"/>
          </a:p>
          <a:p>
            <a:pPr marL="342900" indent="-342900">
              <a:spcAft>
                <a:spcPts val="800"/>
              </a:spcAft>
              <a:buSzPct val="100000"/>
              <a:buChar char="•"/>
            </a:pPr>
            <a:r>
              <a:rPr lang="en-US" sz="1800" dirty="0">
                <a:solidFill>
                  <a:schemeClr val="tx1"/>
                </a:solidFill>
              </a:rPr>
              <a:t>Cada flecha es un punto de latencia y un punto de control de seguridad</a:t>
            </a:r>
            <a:endParaRPr lang="en-US" sz="18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Prefill y decode: dos fases, dos cuellos de botella</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188720"/>
                <a:gridCol w="4114800"/>
                <a:gridCol w="2194560"/>
                <a:gridCol w="1188720"/>
                <a:gridCol w="2377440"/>
              </a:tblGrid>
              <a:tr h="0">
                <a:tc>
                  <a:txBody>
                    <a:bodyPr/>
                    <a:lstStyle/>
                    <a:p>
                      <a:pPr indent="0" marL="0">
                        <a:buNone/>
                      </a:pPr>
                      <a:r>
                        <a:rPr lang="en-US" sz="1500" b="1" dirty="0">
                          <a:solidFill>
                            <a:srgbClr val="FFFFFF"/>
                          </a:solidFill>
                        </a:rPr>
                        <a:t>Fase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Qué hace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Recurso dominante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Métrica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Crece con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Prefill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Procesa todos los tokens de entrada en paralelo y llena la KV cache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Cómputo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TTFT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Longitud del prompt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Decode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Genera un token por paso, secuencialmente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Ancho de banda de memoria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TPOT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Longitud de la respuesta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84048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384048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RAG con documentos largos degrada el TTFT; respuestas largas degradan la latencia total por decode.</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KV cache: la memoria que limita la concurrencia</a:t>
            </a:r>
            <a:endParaRPr lang="en-US" sz="2800" dirty="0"/>
          </a:p>
        </p:txBody>
      </p:sp>
      <p:sp>
        <p:nvSpPr>
          <p:cNvPr id="3" name="Text 1"/>
          <p:cNvSpPr txBox="1"/>
          <p:nvPr/>
        </p:nvSpPr>
        <p:spPr>
          <a:xfrm>
            <a:off x="548640" y="1280160"/>
            <a:ext cx="11064240" cy="731520"/>
          </a:xfrm>
          <a:prstGeom prst="rect">
            <a:avLst/>
          </a:prstGeom>
          <a:noFill/>
          <a:ln/>
        </p:spPr>
        <p:txBody>
          <a:bodyPr wrap="square" rtlCol="0" anchor="ctr"/>
          <a:lstStyle/>
          <a:p>
            <a:pPr algn="ctr" indent="0" marL="0">
              <a:buNone/>
            </a:pPr>
            <a:r>
              <a:rPr lang="en-US" sz="2200" b="1" dirty="0">
                <a:solidFill>
                  <a:schemeClr val="accent1"/>
                </a:solidFill>
              </a:rPr>
              <a:t>KV bytes/token = 2 × capas × kv_heads × d_head × bytes de precisión</a:t>
            </a:r>
            <a:endParaRPr lang="en-US" sz="2200" dirty="0"/>
          </a:p>
        </p:txBody>
      </p:sp>
      <p:sp>
        <p:nvSpPr>
          <p:cNvPr id="4" name="Text 2"/>
          <p:cNvSpPr txBox="1"/>
          <p:nvPr/>
        </p:nvSpPr>
        <p:spPr>
          <a:xfrm>
            <a:off x="548640" y="2286000"/>
            <a:ext cx="5669280" cy="347472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Guarda keys y values de todos los tokens previos para no recalcularlos</a:t>
            </a:r>
            <a:endParaRPr lang="en-US" sz="1700" dirty="0"/>
          </a:p>
          <a:p>
            <a:pPr marL="342900" indent="-342900">
              <a:spcAft>
                <a:spcPts val="800"/>
              </a:spcAft>
              <a:buSzPct val="100000"/>
              <a:buChar char="•"/>
            </a:pPr>
            <a:r>
              <a:rPr lang="en-US" sz="1700" dirty="0">
                <a:solidFill>
                  <a:schemeClr val="tx1"/>
                </a:solidFill>
              </a:rPr>
              <a:t>Crece linealmente con los tokens de contexto y con las secuencias simultáneas</a:t>
            </a:r>
            <a:endParaRPr lang="en-US" sz="1700" dirty="0"/>
          </a:p>
          <a:p>
            <a:pPr marL="342900" indent="-342900">
              <a:spcAft>
                <a:spcPts val="800"/>
              </a:spcAft>
              <a:buSzPct val="100000"/>
              <a:buChar char="•"/>
            </a:pPr>
            <a:r>
              <a:rPr lang="en-US" sz="1700" dirty="0">
                <a:solidFill>
                  <a:schemeClr val="tx1"/>
                </a:solidFill>
              </a:rPr>
              <a:t>Por eso un servidor LLM suele quedarse sin memoria antes que sin cómputo</a:t>
            </a:r>
            <a:endParaRPr lang="en-US" sz="1700" dirty="0"/>
          </a:p>
          <a:p>
            <a:pPr marL="342900" indent="-342900">
              <a:spcAft>
                <a:spcPts val="800"/>
              </a:spcAft>
              <a:buSzPct val="100000"/>
              <a:buChar char="•"/>
            </a:pPr>
            <a:r>
              <a:rPr lang="en-US" sz="1700" dirty="0">
                <a:solidFill>
                  <a:schemeClr val="tx1"/>
                </a:solidFill>
              </a:rPr>
              <a:t>Mitigaciones: grouped-query attention, PagedAttention, cuantización de la KV cache</a:t>
            </a:r>
            <a:endParaRPr lang="en-US" sz="1700" dirty="0"/>
          </a:p>
        </p:txBody>
      </p:sp>
      <p:graphicFrame>
        <p:nvGraphicFramePr>
          <p:cNvPr id="5" name="Chart 0" descr=""/>
          <p:cNvGraphicFramePr/>
          <p:nvPr/>
        </p:nvGraphicFramePr>
        <p:xfrm>
          <a:off x="6400800" y="2194560"/>
          <a:ext cx="5212080" cy="36576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Batching y concurrencia</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011680"/>
                <a:gridCol w="3566160"/>
                <a:gridCol w="2743200"/>
                <a:gridCol w="2743200"/>
              </a:tblGrid>
              <a:tr h="0">
                <a:tc>
                  <a:txBody>
                    <a:bodyPr/>
                    <a:lstStyle/>
                    <a:p>
                      <a:pPr indent="0" marL="0">
                        <a:buNone/>
                      </a:pPr>
                      <a:r>
                        <a:rPr lang="en-US" sz="1400" b="1" dirty="0">
                          <a:solidFill>
                            <a:srgbClr val="FFFFFF"/>
                          </a:solidFill>
                        </a:rPr>
                        <a:t>Estrategia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Funcionamiento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Ventaja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Limitación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Sin batching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Una solicitud a la vez</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Latencia individual mínima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GPU subutilizada, costo por token alto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Batching estático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Agrupa N y espera a que terminen todas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Simple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Las respuestas cortas esperan a las largas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Batching continuo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Entran y salen secuencias en cada paso de decode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Alto throughput, latencia razonable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Requiere motor especializado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402336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02336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Trade-off: más secuencias por lote → más throughput y menor costo por token, pero mayor TPOT por usuario.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Entrenamiento, fine-tuning e inferencia</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920240"/>
                <a:gridCol w="2560320"/>
                <a:gridCol w="2926080"/>
                <a:gridCol w="1463040"/>
                <a:gridCol w="2194560"/>
              </a:tblGrid>
              <a:tr h="0">
                <a:tc>
                  <a:txBody>
                    <a:bodyPr/>
                    <a:lstStyle/>
                    <a:p>
                      <a:pPr indent="0" marL="0">
                        <a:buNone/>
                      </a:pPr>
                      <a:r>
                        <a:rPr lang="en-US" sz="1400" b="1" dirty="0">
                          <a:solidFill>
                            <a:srgbClr val="FFFFFF"/>
                          </a:solidFill>
                        </a:rPr>
                        <a:t>Actividad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Propósito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Recursos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Frecuencia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En el caso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Preentrenamiento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Aprender el modelo base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Miles de aceleradores, semanas o meses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Una vez</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No: se adquiere el modelo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Fine-tuning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Especializar comportamiento o formato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Uno o pocos aceleradores (LoRA)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Ocasional</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Probablemente no al inicio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Inferencia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Responder solicitudes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Memoria y ancho de banda 24/7</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Continua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Sí: directa o vía proveedor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420624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20624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Recomendación: para conocimiento institucional cambiante, RAG antes que fine-tuning.</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Modelos propietarios, open-weight y open source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2926080"/>
                <a:gridCol w="2651760"/>
                <a:gridCol w="3383280"/>
              </a:tblGrid>
              <a:tr h="0">
                <a:tc>
                  <a:txBody>
                    <a:bodyPr/>
                    <a:lstStyle/>
                    <a:p>
                      <a:pPr indent="0" marL="0">
                        <a:buNone/>
                      </a:pPr>
                      <a:r>
                        <a:rPr lang="en-US" sz="1400" b="1" dirty="0">
                          <a:solidFill>
                            <a:srgbClr val="FFFFFF"/>
                          </a:solidFill>
                        </a:rPr>
                        <a:t>Tipo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Acceso a pesos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Ejecución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Implicaciones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Propietario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No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Solo vía API del proveedor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Mínima operación; dependencia y términos de datos del proveedor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Open-weight</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Sí, con licencia que puede restringir usos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Self-hosting o servicio gestionado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Control y portabilidad; revisar la licencia para uso institucional</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Open source estricto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Pesos, código e información de datos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Igual que open-weight</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Menos común; Open Source AI Definition (OSI)</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¿Comprar o producir inferencia?</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286000"/>
                <a:gridCol w="4389120"/>
                <a:gridCol w="4389120"/>
              </a:tblGrid>
              <a:tr h="0">
                <a:tc>
                  <a:txBody>
                    <a:bodyPr/>
                    <a:lstStyle/>
                    <a:p>
                      <a:pPr indent="0" marL="0">
                        <a:buNone/>
                      </a:pP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API gestionada (comprar)</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Self-hosting (producir)</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Qué se paga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Tokens de entrada y salida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GPU por hora + operación del equipo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Qué se opera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Prompt, cuotas, integración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GPU, motor de serving, escalado, parches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Control de datos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Según términos y región del proveedor</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Total, dentro de la red propia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Tiempo a producción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Días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Semanas o meses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0624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20624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La decisión no es binaria: la Unidad B la ubica dentro de una arquitectura completa.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1 · Anatomía de una solicitud (Ollama local)</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Modelo open-weight pequeño (1–3 B, cuantizado) ejecutado en CPU</a:t>
            </a:r>
            <a:endParaRPr lang="en-US" sz="2000" dirty="0"/>
          </a:p>
          <a:p>
            <a:pPr marL="342900" indent="-342900">
              <a:spcAft>
                <a:spcPts val="800"/>
              </a:spcAft>
              <a:buSzPct val="100000"/>
              <a:buChar char="•"/>
            </a:pPr>
            <a:r>
              <a:rPr lang="en-US" sz="2000" dirty="0">
                <a:solidFill>
                  <a:schemeClr val="tx1"/>
                </a:solidFill>
              </a:rPr>
              <a:t>Pregunta corta → observar TTFT, TPOT y tokens/s en la interfaz</a:t>
            </a:r>
            <a:endParaRPr lang="en-US" sz="2000" dirty="0"/>
          </a:p>
          <a:p>
            <a:pPr marL="342900" indent="-342900">
              <a:spcAft>
                <a:spcPts val="800"/>
              </a:spcAft>
              <a:buSzPct val="100000"/>
              <a:buChar char="•"/>
            </a:pPr>
            <a:r>
              <a:rPr lang="en-US" sz="2000" dirty="0">
                <a:solidFill>
                  <a:schemeClr val="tx1"/>
                </a:solidFill>
              </a:rPr>
              <a:t>Misma pregunta con 3 párrafos de reglamento delante → el TTFT sube, el TPOT casi no cambia</a:t>
            </a:r>
            <a:endParaRPr lang="en-US" sz="2000" dirty="0"/>
          </a:p>
          <a:p>
            <a:pPr marL="342900" indent="-342900">
              <a:spcAft>
                <a:spcPts val="800"/>
              </a:spcAft>
              <a:buSzPct val="100000"/>
              <a:buChar char="•"/>
            </a:pPr>
            <a:r>
              <a:rPr lang="en-US" sz="2000" dirty="0">
                <a:solidFill>
                  <a:schemeClr val="tx1"/>
                </a:solidFill>
              </a:rPr>
              <a:t>Observar la RAM usada y compararla con el tamaño del modelo</a:t>
            </a:r>
            <a:endParaRPr lang="en-US" sz="2000" dirty="0"/>
          </a:p>
          <a:p>
            <a:pPr marL="342900" indent="-342900">
              <a:spcAft>
                <a:spcPts val="800"/>
              </a:spcAft>
              <a:buSzPct val="100000"/>
              <a:buChar char="•"/>
            </a:pPr>
            <a:r>
              <a:rPr lang="en-US" sz="2000" dirty="0">
                <a:solidFill>
                  <a:schemeClr val="tx1"/>
                </a:solidFill>
              </a:rPr>
              <a:t>Repositorio: labs/00-local-ollama (simulador disponible si Ollama falla)</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p>
            <a:pPr algn="l" indent="0" marL="0">
              <a:buNone/>
            </a:pPr>
            <a:r>
              <a:rPr lang="en-US" sz="3800" b="1" dirty="0">
                <a:solidFill>
                  <a:schemeClr val="bg1"/>
                </a:solidFill>
              </a:rPr>
              <a:t>Unidad B · Arquitecturas base</a:t>
            </a: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p>
            <a:pPr indent="0" marL="0">
              <a:buNone/>
            </a:pPr>
            <a:r>
              <a:rPr lang="en-US" sz="2000" dirty="0">
                <a:solidFill>
                  <a:schemeClr val="bg2"/>
                </a:solidFill>
              </a:rPr>
              <a:t>¿Qué debe existir entre el usuario y el modelo para que el asistente sea seguro, observable y escalable?</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Arquitectura de referencia (D-06)</a:t>
            </a:r>
            <a:endParaRPr lang="en-US" sz="2800" dirty="0"/>
          </a:p>
        </p:txBody>
      </p:sp>
      <p:sp>
        <p:nvSpPr>
          <p:cNvPr id="3" name="Shape 1"/>
          <p:cNvSpPr/>
          <p:nvPr/>
        </p:nvSpPr>
        <p:spPr>
          <a:xfrm>
            <a:off x="548640" y="1463040"/>
            <a:ext cx="1645920" cy="914400"/>
          </a:xfrm>
          <a:prstGeom prst="roundRect">
            <a:avLst>
              <a:gd name="adj" fmla="val 8000"/>
            </a:avLst>
          </a:prstGeom>
          <a:solidFill>
            <a:srgbClr val="DCEAF4"/>
          </a:solidFill>
          <a:ln w="12700">
            <a:solidFill>
              <a:srgbClr val="1F6F9F"/>
            </a:solidFill>
            <a:prstDash val="solid"/>
          </a:ln>
        </p:spPr>
      </p:sp>
      <p:sp>
        <p:nvSpPr>
          <p:cNvPr id="4" name="Text 2"/>
          <p:cNvSpPr txBox="1"/>
          <p:nvPr/>
        </p:nvSpPr>
        <p:spPr>
          <a:xfrm>
            <a:off x="548640" y="1463040"/>
            <a:ext cx="164592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Cliente web</a:t>
            </a:r>
            <a:endParaRPr lang="en-US" sz="1300" dirty="0"/>
          </a:p>
          <a:p>
            <a:pPr algn="ctr" indent="0" marL="0">
              <a:buNone/>
            </a:pPr>
            <a:r>
              <a:rPr lang="en-US" sz="1300" dirty="0">
                <a:solidFill>
                  <a:srgbClr val="1B1F24"/>
                </a:solidFill>
              </a:rPr>
              <a:t>React</a:t>
            </a:r>
            <a:endParaRPr lang="en-US" sz="1300" dirty="0"/>
          </a:p>
        </p:txBody>
      </p:sp>
      <p:sp>
        <p:nvSpPr>
          <p:cNvPr id="5" name="Shape 3"/>
          <p:cNvSpPr/>
          <p:nvPr/>
        </p:nvSpPr>
        <p:spPr>
          <a:xfrm>
            <a:off x="548640" y="2834640"/>
            <a:ext cx="1645920" cy="914400"/>
          </a:xfrm>
          <a:prstGeom prst="roundRect">
            <a:avLst>
              <a:gd name="adj" fmla="val 8000"/>
            </a:avLst>
          </a:prstGeom>
          <a:solidFill>
            <a:srgbClr val="F2F4F6"/>
          </a:solidFill>
          <a:ln w="12700">
            <a:solidFill>
              <a:srgbClr val="1F6F9F"/>
            </a:solidFill>
            <a:prstDash val="solid"/>
          </a:ln>
        </p:spPr>
      </p:sp>
      <p:sp>
        <p:nvSpPr>
          <p:cNvPr id="6" name="Text 4"/>
          <p:cNvSpPr txBox="1"/>
          <p:nvPr/>
        </p:nvSpPr>
        <p:spPr>
          <a:xfrm>
            <a:off x="548640" y="2834640"/>
            <a:ext cx="164592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Identidad</a:t>
            </a:r>
            <a:endParaRPr lang="en-US" sz="1300" dirty="0"/>
          </a:p>
          <a:p>
            <a:pPr algn="ctr" indent="0" marL="0">
              <a:buNone/>
            </a:pPr>
            <a:r>
              <a:rPr lang="en-US" sz="1300" dirty="0">
                <a:solidFill>
                  <a:srgbClr val="1B1F24"/>
                </a:solidFill>
              </a:rPr>
              <a:t>OIDC / SSO</a:t>
            </a:r>
            <a:endParaRPr lang="en-US" sz="1300" dirty="0"/>
          </a:p>
        </p:txBody>
      </p:sp>
      <p:sp>
        <p:nvSpPr>
          <p:cNvPr id="7" name="Shape 5"/>
          <p:cNvSpPr/>
          <p:nvPr/>
        </p:nvSpPr>
        <p:spPr>
          <a:xfrm>
            <a:off x="2651760" y="1463040"/>
            <a:ext cx="1828800" cy="914400"/>
          </a:xfrm>
          <a:prstGeom prst="roundRect">
            <a:avLst>
              <a:gd name="adj" fmla="val 8000"/>
            </a:avLst>
          </a:prstGeom>
          <a:solidFill>
            <a:srgbClr val="F2F4F6"/>
          </a:solidFill>
          <a:ln w="12700">
            <a:solidFill>
              <a:srgbClr val="1F6F9F"/>
            </a:solidFill>
            <a:prstDash val="solid"/>
          </a:ln>
        </p:spPr>
      </p:sp>
      <p:sp>
        <p:nvSpPr>
          <p:cNvPr id="8" name="Text 6"/>
          <p:cNvSpPr txBox="1"/>
          <p:nvPr/>
        </p:nvSpPr>
        <p:spPr>
          <a:xfrm>
            <a:off x="2651760" y="1463040"/>
            <a:ext cx="182880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API Gateway</a:t>
            </a:r>
            <a:endParaRPr lang="en-US" sz="1300" dirty="0"/>
          </a:p>
          <a:p>
            <a:pPr algn="ctr" indent="0" marL="0">
              <a:buNone/>
            </a:pPr>
            <a:r>
              <a:rPr lang="en-US" sz="1300" dirty="0">
                <a:solidFill>
                  <a:srgbClr val="1B1F24"/>
                </a:solidFill>
              </a:rPr>
              <a:t>auth, cuotas, WAF</a:t>
            </a:r>
            <a:endParaRPr lang="en-US" sz="1300" dirty="0"/>
          </a:p>
        </p:txBody>
      </p:sp>
      <p:sp>
        <p:nvSpPr>
          <p:cNvPr id="9" name="Shape 7"/>
          <p:cNvSpPr/>
          <p:nvPr/>
        </p:nvSpPr>
        <p:spPr>
          <a:xfrm>
            <a:off x="4937760" y="1463040"/>
            <a:ext cx="2011680" cy="914400"/>
          </a:xfrm>
          <a:prstGeom prst="roundRect">
            <a:avLst>
              <a:gd name="adj" fmla="val 8000"/>
            </a:avLst>
          </a:prstGeom>
          <a:solidFill>
            <a:srgbClr val="F2F4F6"/>
          </a:solidFill>
          <a:ln w="12700">
            <a:solidFill>
              <a:srgbClr val="1F6F9F"/>
            </a:solidFill>
            <a:prstDash val="solid"/>
          </a:ln>
        </p:spPr>
      </p:sp>
      <p:sp>
        <p:nvSpPr>
          <p:cNvPr id="10" name="Text 8"/>
          <p:cNvSpPr txBox="1"/>
          <p:nvPr/>
        </p:nvSpPr>
        <p:spPr>
          <a:xfrm>
            <a:off x="4937760" y="1463040"/>
            <a:ext cx="201168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Backend /</a:t>
            </a:r>
            <a:endParaRPr lang="en-US" sz="1300" dirty="0"/>
          </a:p>
          <a:p>
            <a:pPr algn="ctr" indent="0" marL="0">
              <a:buNone/>
            </a:pPr>
            <a:r>
              <a:rPr lang="en-US" sz="1300" dirty="0">
                <a:solidFill>
                  <a:srgbClr val="1B1F24"/>
                </a:solidFill>
              </a:rPr>
              <a:t>orquestador</a:t>
            </a:r>
            <a:endParaRPr lang="en-US" sz="1300" dirty="0"/>
          </a:p>
        </p:txBody>
      </p:sp>
      <p:sp>
        <p:nvSpPr>
          <p:cNvPr id="11" name="Shape 9"/>
          <p:cNvSpPr/>
          <p:nvPr/>
        </p:nvSpPr>
        <p:spPr>
          <a:xfrm>
            <a:off x="4937760" y="2834640"/>
            <a:ext cx="2011680" cy="822960"/>
          </a:xfrm>
          <a:prstGeom prst="roundRect">
            <a:avLst>
              <a:gd name="adj" fmla="val 8889"/>
            </a:avLst>
          </a:prstGeom>
          <a:solidFill>
            <a:srgbClr val="F2F4F6"/>
          </a:solidFill>
          <a:ln w="12700">
            <a:solidFill>
              <a:srgbClr val="1F6F9F"/>
            </a:solidFill>
            <a:prstDash val="solid"/>
          </a:ln>
        </p:spPr>
      </p:sp>
      <p:sp>
        <p:nvSpPr>
          <p:cNvPr id="12" name="Text 10"/>
          <p:cNvSpPr txBox="1"/>
          <p:nvPr/>
        </p:nvSpPr>
        <p:spPr>
          <a:xfrm>
            <a:off x="4937760" y="2834640"/>
            <a:ext cx="201168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Guardrails</a:t>
            </a:r>
            <a:endParaRPr lang="en-US" sz="1300" dirty="0"/>
          </a:p>
        </p:txBody>
      </p:sp>
      <p:sp>
        <p:nvSpPr>
          <p:cNvPr id="13" name="Shape 11"/>
          <p:cNvSpPr/>
          <p:nvPr/>
        </p:nvSpPr>
        <p:spPr>
          <a:xfrm>
            <a:off x="7406640" y="1463040"/>
            <a:ext cx="1920240" cy="914400"/>
          </a:xfrm>
          <a:prstGeom prst="roundRect">
            <a:avLst>
              <a:gd name="adj" fmla="val 8000"/>
            </a:avLst>
          </a:prstGeom>
          <a:solidFill>
            <a:srgbClr val="F2F4F6"/>
          </a:solidFill>
          <a:ln w="12700">
            <a:solidFill>
              <a:srgbClr val="1F6F9F"/>
            </a:solidFill>
            <a:prstDash val="solid"/>
          </a:ln>
        </p:spPr>
      </p:sp>
      <p:sp>
        <p:nvSpPr>
          <p:cNvPr id="14" name="Text 12"/>
          <p:cNvSpPr txBox="1"/>
          <p:nvPr/>
        </p:nvSpPr>
        <p:spPr>
          <a:xfrm>
            <a:off x="7406640" y="1463040"/>
            <a:ext cx="192024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Gateway de</a:t>
            </a:r>
            <a:endParaRPr lang="en-US" sz="1300" dirty="0"/>
          </a:p>
          <a:p>
            <a:pPr algn="ctr" indent="0" marL="0">
              <a:buNone/>
            </a:pPr>
            <a:r>
              <a:rPr lang="en-US" sz="1300" dirty="0">
                <a:solidFill>
                  <a:srgbClr val="1B1F24"/>
                </a:solidFill>
              </a:rPr>
              <a:t>modelos</a:t>
            </a:r>
            <a:endParaRPr lang="en-US" sz="1300" dirty="0"/>
          </a:p>
        </p:txBody>
      </p:sp>
      <p:sp>
        <p:nvSpPr>
          <p:cNvPr id="15" name="Shape 13"/>
          <p:cNvSpPr/>
          <p:nvPr/>
        </p:nvSpPr>
        <p:spPr>
          <a:xfrm>
            <a:off x="9692640" y="1463040"/>
            <a:ext cx="1920240" cy="914400"/>
          </a:xfrm>
          <a:prstGeom prst="roundRect">
            <a:avLst>
              <a:gd name="adj" fmla="val 8000"/>
            </a:avLst>
          </a:prstGeom>
          <a:solidFill>
            <a:srgbClr val="DCEAF4"/>
          </a:solidFill>
          <a:ln w="12700">
            <a:solidFill>
              <a:srgbClr val="1F6F9F"/>
            </a:solidFill>
            <a:prstDash val="solid"/>
          </a:ln>
        </p:spPr>
      </p:sp>
      <p:sp>
        <p:nvSpPr>
          <p:cNvPr id="16" name="Text 14"/>
          <p:cNvSpPr txBox="1"/>
          <p:nvPr/>
        </p:nvSpPr>
        <p:spPr>
          <a:xfrm>
            <a:off x="9692640" y="1463040"/>
            <a:ext cx="192024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Serving</a:t>
            </a:r>
            <a:endParaRPr lang="en-US" sz="1300" dirty="0"/>
          </a:p>
          <a:p>
            <a:pPr algn="ctr" indent="0" marL="0">
              <a:buNone/>
            </a:pPr>
            <a:r>
              <a:rPr lang="en-US" sz="1300" dirty="0">
                <a:solidFill>
                  <a:srgbClr val="1B1F24"/>
                </a:solidFill>
              </a:rPr>
              <a:t>API o motor propio</a:t>
            </a:r>
            <a:endParaRPr lang="en-US" sz="1300" dirty="0"/>
          </a:p>
        </p:txBody>
      </p:sp>
      <p:sp>
        <p:nvSpPr>
          <p:cNvPr id="17" name="Shape 15"/>
          <p:cNvSpPr/>
          <p:nvPr/>
        </p:nvSpPr>
        <p:spPr>
          <a:xfrm>
            <a:off x="7406640" y="2834640"/>
            <a:ext cx="1920240" cy="822960"/>
          </a:xfrm>
          <a:prstGeom prst="roundRect">
            <a:avLst>
              <a:gd name="adj" fmla="val 8889"/>
            </a:avLst>
          </a:prstGeom>
          <a:solidFill>
            <a:srgbClr val="E3F2EF"/>
          </a:solidFill>
          <a:ln w="12700">
            <a:solidFill>
              <a:srgbClr val="1F6F9F"/>
            </a:solidFill>
            <a:prstDash val="solid"/>
          </a:ln>
        </p:spPr>
      </p:sp>
      <p:sp>
        <p:nvSpPr>
          <p:cNvPr id="18" name="Text 16"/>
          <p:cNvSpPr txBox="1"/>
          <p:nvPr/>
        </p:nvSpPr>
        <p:spPr>
          <a:xfrm>
            <a:off x="7406640" y="2834640"/>
            <a:ext cx="192024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Vector store</a:t>
            </a:r>
            <a:endParaRPr lang="en-US" sz="1300" dirty="0"/>
          </a:p>
        </p:txBody>
      </p:sp>
      <p:sp>
        <p:nvSpPr>
          <p:cNvPr id="19" name="Shape 17"/>
          <p:cNvSpPr/>
          <p:nvPr/>
        </p:nvSpPr>
        <p:spPr>
          <a:xfrm>
            <a:off x="9692640" y="2834640"/>
            <a:ext cx="1920240" cy="822960"/>
          </a:xfrm>
          <a:prstGeom prst="roundRect">
            <a:avLst>
              <a:gd name="adj" fmla="val 8889"/>
            </a:avLst>
          </a:prstGeom>
          <a:solidFill>
            <a:srgbClr val="E3F2EF"/>
          </a:solidFill>
          <a:ln w="12700">
            <a:solidFill>
              <a:srgbClr val="1F6F9F"/>
            </a:solidFill>
            <a:prstDash val="solid"/>
          </a:ln>
        </p:spPr>
      </p:sp>
      <p:sp>
        <p:nvSpPr>
          <p:cNvPr id="20" name="Text 18"/>
          <p:cNvSpPr txBox="1"/>
          <p:nvPr/>
        </p:nvSpPr>
        <p:spPr>
          <a:xfrm>
            <a:off x="9692640" y="2834640"/>
            <a:ext cx="192024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Objetos</a:t>
            </a:r>
            <a:endParaRPr lang="en-US" sz="1300" dirty="0"/>
          </a:p>
          <a:p>
            <a:pPr algn="ctr" indent="0" marL="0">
              <a:buNone/>
            </a:pPr>
            <a:r>
              <a:rPr lang="en-US" sz="1300" dirty="0">
                <a:solidFill>
                  <a:srgbClr val="1B1F24"/>
                </a:solidFill>
              </a:rPr>
              <a:t>documentos</a:t>
            </a:r>
            <a:endParaRPr lang="en-US" sz="1300" dirty="0"/>
          </a:p>
        </p:txBody>
      </p:sp>
      <p:sp>
        <p:nvSpPr>
          <p:cNvPr id="21" name="Shape 19"/>
          <p:cNvSpPr/>
          <p:nvPr/>
        </p:nvSpPr>
        <p:spPr>
          <a:xfrm>
            <a:off x="7406640" y="4023360"/>
            <a:ext cx="1920240" cy="822960"/>
          </a:xfrm>
          <a:prstGeom prst="roundRect">
            <a:avLst>
              <a:gd name="adj" fmla="val 8889"/>
            </a:avLst>
          </a:prstGeom>
          <a:solidFill>
            <a:srgbClr val="E3F2EF"/>
          </a:solidFill>
          <a:ln w="12700">
            <a:solidFill>
              <a:srgbClr val="1F6F9F"/>
            </a:solidFill>
            <a:prstDash val="solid"/>
          </a:ln>
        </p:spPr>
      </p:sp>
      <p:sp>
        <p:nvSpPr>
          <p:cNvPr id="22" name="Text 20"/>
          <p:cNvSpPr txBox="1"/>
          <p:nvPr/>
        </p:nvSpPr>
        <p:spPr>
          <a:xfrm>
            <a:off x="7406640" y="4023360"/>
            <a:ext cx="1920240" cy="822960"/>
          </a:xfrm>
          <a:prstGeom prst="rect">
            <a:avLst/>
          </a:prstGeom>
          <a:noFill/>
          <a:ln/>
        </p:spPr>
        <p:txBody>
          <a:bodyPr wrap="square" lIns="635" tIns="635" rIns="635" bIns="635" rtlCol="0" anchor="ctr"/>
          <a:lstStyle/>
          <a:p>
            <a:pPr algn="ctr" indent="0" marL="0">
              <a:buNone/>
            </a:pPr>
            <a:r>
              <a:rPr lang="en-US" sz="1300" dirty="0">
                <a:solidFill>
                  <a:srgbClr val="1B1F24"/>
                </a:solidFill>
              </a:rPr>
              <a:t>Estado de sesión</a:t>
            </a:r>
            <a:endParaRPr lang="en-US" sz="1300" dirty="0"/>
          </a:p>
        </p:txBody>
      </p:sp>
      <p:sp>
        <p:nvSpPr>
          <p:cNvPr id="23" name="Shape 21"/>
          <p:cNvSpPr/>
          <p:nvPr/>
        </p:nvSpPr>
        <p:spPr>
          <a:xfrm>
            <a:off x="548640" y="5120640"/>
            <a:ext cx="11064240" cy="640080"/>
          </a:xfrm>
          <a:prstGeom prst="roundRect">
            <a:avLst>
              <a:gd name="adj" fmla="val 11429"/>
            </a:avLst>
          </a:prstGeom>
          <a:solidFill>
            <a:srgbClr val="FFF4E0"/>
          </a:solidFill>
          <a:ln w="12700">
            <a:solidFill>
              <a:srgbClr val="1F6F9F"/>
            </a:solidFill>
            <a:prstDash val="solid"/>
          </a:ln>
        </p:spPr>
      </p:sp>
      <p:sp>
        <p:nvSpPr>
          <p:cNvPr id="24" name="Text 22"/>
          <p:cNvSpPr txBox="1"/>
          <p:nvPr/>
        </p:nvSpPr>
        <p:spPr>
          <a:xfrm>
            <a:off x="548640" y="5120640"/>
            <a:ext cx="11064240" cy="640080"/>
          </a:xfrm>
          <a:prstGeom prst="rect">
            <a:avLst/>
          </a:prstGeom>
          <a:noFill/>
          <a:ln/>
        </p:spPr>
        <p:txBody>
          <a:bodyPr wrap="square" lIns="635" tIns="635" rIns="635" bIns="635" rtlCol="0" anchor="ctr"/>
          <a:lstStyle/>
          <a:p>
            <a:pPr algn="ctr" indent="0" marL="0">
              <a:buNone/>
            </a:pPr>
            <a:r>
              <a:rPr lang="en-US" sz="1300" dirty="0">
                <a:solidFill>
                  <a:srgbClr val="1B1F24"/>
                </a:solidFill>
              </a:rPr>
              <a:t>Transversal: observabilidad (logs, métricas, trazas) · secretos e identidades de carga · auditoría</a:t>
            </a:r>
            <a:endParaRPr lang="en-US" sz="1300" dirty="0"/>
          </a:p>
        </p:txBody>
      </p:sp>
      <p:sp>
        <p:nvSpPr>
          <p:cNvPr id="25" name="Shape 23"/>
          <p:cNvSpPr/>
          <p:nvPr/>
        </p:nvSpPr>
        <p:spPr>
          <a:xfrm>
            <a:off x="2194560" y="1920240"/>
            <a:ext cx="457200" cy="914"/>
          </a:xfrm>
          <a:prstGeom prst="line">
            <a:avLst/>
          </a:prstGeom>
          <a:noFill/>
          <a:ln w="19050">
            <a:solidFill>
              <a:srgbClr val="7A8794"/>
            </a:solidFill>
            <a:prstDash val="solid"/>
            <a:tailEnd type="triangle"/>
          </a:ln>
        </p:spPr>
      </p:sp>
      <p:sp>
        <p:nvSpPr>
          <p:cNvPr id="26" name="Shape 24"/>
          <p:cNvSpPr/>
          <p:nvPr/>
        </p:nvSpPr>
        <p:spPr>
          <a:xfrm>
            <a:off x="4480560" y="1920240"/>
            <a:ext cx="457200" cy="914"/>
          </a:xfrm>
          <a:prstGeom prst="line">
            <a:avLst/>
          </a:prstGeom>
          <a:noFill/>
          <a:ln w="19050">
            <a:solidFill>
              <a:srgbClr val="7A8794"/>
            </a:solidFill>
            <a:prstDash val="solid"/>
            <a:tailEnd type="triangle"/>
          </a:ln>
        </p:spPr>
      </p:sp>
      <p:sp>
        <p:nvSpPr>
          <p:cNvPr id="27" name="Shape 25"/>
          <p:cNvSpPr/>
          <p:nvPr/>
        </p:nvSpPr>
        <p:spPr>
          <a:xfrm>
            <a:off x="6949440" y="1920240"/>
            <a:ext cx="457200" cy="914"/>
          </a:xfrm>
          <a:prstGeom prst="line">
            <a:avLst/>
          </a:prstGeom>
          <a:noFill/>
          <a:ln w="19050">
            <a:solidFill>
              <a:srgbClr val="7A8794"/>
            </a:solidFill>
            <a:prstDash val="solid"/>
            <a:tailEnd type="triangle"/>
          </a:ln>
        </p:spPr>
      </p:sp>
      <p:sp>
        <p:nvSpPr>
          <p:cNvPr id="28" name="Shape 26"/>
          <p:cNvSpPr/>
          <p:nvPr/>
        </p:nvSpPr>
        <p:spPr>
          <a:xfrm>
            <a:off x="9326880" y="1920240"/>
            <a:ext cx="365760" cy="914"/>
          </a:xfrm>
          <a:prstGeom prst="line">
            <a:avLst/>
          </a:prstGeom>
          <a:noFill/>
          <a:ln w="19050">
            <a:solidFill>
              <a:srgbClr val="7A8794"/>
            </a:solidFill>
            <a:prstDash val="solid"/>
            <a:tailEnd type="triangle"/>
          </a:ln>
        </p:spPr>
      </p:sp>
      <p:sp>
        <p:nvSpPr>
          <p:cNvPr id="29" name="Shape 27"/>
          <p:cNvSpPr/>
          <p:nvPr/>
        </p:nvSpPr>
        <p:spPr>
          <a:xfrm>
            <a:off x="5943600" y="2377440"/>
            <a:ext cx="914" cy="457200"/>
          </a:xfrm>
          <a:prstGeom prst="line">
            <a:avLst/>
          </a:prstGeom>
          <a:noFill/>
          <a:ln w="19050">
            <a:solidFill>
              <a:srgbClr val="7A8794"/>
            </a:solidFill>
            <a:prstDash val="solid"/>
            <a:tailEnd type="triangle"/>
          </a:ln>
        </p:spPr>
      </p:sp>
      <p:sp>
        <p:nvSpPr>
          <p:cNvPr id="30" name="Shape 28"/>
          <p:cNvSpPr/>
          <p:nvPr/>
        </p:nvSpPr>
        <p:spPr>
          <a:xfrm>
            <a:off x="6949440" y="2194560"/>
            <a:ext cx="457200" cy="1005840"/>
          </a:xfrm>
          <a:prstGeom prst="line">
            <a:avLst/>
          </a:prstGeom>
          <a:noFill/>
          <a:ln w="19050">
            <a:solidFill>
              <a:srgbClr val="7A8794"/>
            </a:solidFill>
            <a:prstDash val="solid"/>
            <a:tailEnd type="triangle"/>
          </a:ln>
        </p:spPr>
      </p:sp>
      <p:sp>
        <p:nvSpPr>
          <p:cNvPr id="31" name="Shape 29"/>
          <p:cNvSpPr/>
          <p:nvPr/>
        </p:nvSpPr>
        <p:spPr>
          <a:xfrm>
            <a:off x="6949440" y="2286000"/>
            <a:ext cx="457200" cy="2103120"/>
          </a:xfrm>
          <a:prstGeom prst="line">
            <a:avLst/>
          </a:prstGeom>
          <a:noFill/>
          <a:ln w="19050">
            <a:solidFill>
              <a:srgbClr val="7A8794"/>
            </a:solidFill>
            <a:prstDash val="solid"/>
            <a:tailEnd type="triangle"/>
          </a:ln>
        </p:spPr>
      </p:sp>
      <p:sp>
        <p:nvSpPr>
          <p:cNvPr id="32" name="Shape 30"/>
          <p:cNvSpPr/>
          <p:nvPr/>
        </p:nvSpPr>
        <p:spPr>
          <a:xfrm flipH="1">
            <a:off x="9326880" y="3246120"/>
            <a:ext cx="365760" cy="914"/>
          </a:xfrm>
          <a:prstGeom prst="line">
            <a:avLst/>
          </a:prstGeom>
          <a:noFill/>
          <a:ln w="19050">
            <a:solidFill>
              <a:srgbClr val="7A8794"/>
            </a:solidFill>
            <a:prstDash val="solid"/>
            <a:tailEnd type="triangle"/>
          </a:ln>
        </p:spPr>
      </p:sp>
      <p:sp>
        <p:nvSpPr>
          <p:cNvPr id="33" name="Shape 31"/>
          <p:cNvSpPr/>
          <p:nvPr/>
        </p:nvSpPr>
        <p:spPr>
          <a:xfrm>
            <a:off x="1371600" y="2377440"/>
            <a:ext cx="914" cy="457200"/>
          </a:xfrm>
          <a:prstGeom prst="line">
            <a:avLst/>
          </a:prstGeom>
          <a:noFill/>
          <a:ln w="19050">
            <a:solidFill>
              <a:srgbClr val="7A8794"/>
            </a:solidFill>
            <a:prstDash val="solid"/>
            <a:tailEnd type="triangle"/>
          </a:ln>
        </p:spPr>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Responsabilidad de cada componente</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3749040"/>
                <a:gridCol w="3017520"/>
                <a:gridCol w="2103120"/>
              </a:tblGrid>
              <a:tr h="0">
                <a:tc>
                  <a:txBody>
                    <a:bodyPr/>
                    <a:lstStyle/>
                    <a:p>
                      <a:pPr indent="0" marL="0">
                        <a:buNone/>
                      </a:pPr>
                      <a:r>
                        <a:rPr lang="en-US" sz="1300" b="1" dirty="0">
                          <a:solidFill>
                            <a:srgbClr val="FFFFFF"/>
                          </a:solidFill>
                        </a:rPr>
                        <a:t>Componente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Responsabilidad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Falla típica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Métrica clave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API Gateway</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Autenticación, límites por usuario, perímetro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Rate limit mal dimensionado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Rechazos 429</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Backend / orquestador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Construir el prompt, recuperar contexto, invocar herramientas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Prompts excesivos, timeouts encadenados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Latencia end-to-end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Guardrails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Filtrar entradas y salidas indebidas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Falsos positivos o negativos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Tasa de bloqueo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Gateway de modelos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Enrutar modelos o proveedores, reintentos, cuotas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Punto único de fallo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Errores por proveedor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Serving</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Ejecutar la inferencia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Saturación de memoria, colas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TTFT, TPOT, cola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Vector store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Búsqueda semántica del contexto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Índice desactualizado o sin permisos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Relevancia y latencia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Observabilidad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Trazabilidad y diagnóstico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Registrar datos personales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Cobertura de trazas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Plano de control y plano de datos</a:t>
            </a:r>
            <a:endParaRPr lang="en-US" sz="2800" dirty="0"/>
          </a:p>
        </p:txBody>
      </p:sp>
      <p:sp>
        <p:nvSpPr>
          <p:cNvPr id="3" name="Shape 1"/>
          <p:cNvSpPr/>
          <p:nvPr/>
        </p:nvSpPr>
        <p:spPr>
          <a:xfrm>
            <a:off x="548640" y="1463040"/>
            <a:ext cx="5303520" cy="2926080"/>
          </a:xfrm>
          <a:prstGeom prst="roundRect">
            <a:avLst>
              <a:gd name="adj" fmla="val 2500"/>
            </a:avLst>
          </a:prstGeom>
          <a:solidFill>
            <a:srgbClr val="F2F4F6"/>
          </a:solidFill>
          <a:ln w="12700">
            <a:solidFill>
              <a:srgbClr val="1F6F9F"/>
            </a:solidFill>
            <a:prstDash val="solid"/>
          </a:ln>
        </p:spPr>
      </p:sp>
      <p:sp>
        <p:nvSpPr>
          <p:cNvPr id="4" name="Text 2"/>
          <p:cNvSpPr txBox="1"/>
          <p:nvPr/>
        </p:nvSpPr>
        <p:spPr>
          <a:xfrm>
            <a:off x="548640" y="1463040"/>
            <a:ext cx="5303520" cy="2926080"/>
          </a:xfrm>
          <a:prstGeom prst="rect">
            <a:avLst/>
          </a:prstGeom>
          <a:noFill/>
          <a:ln/>
        </p:spPr>
        <p:txBody>
          <a:bodyPr wrap="square" lIns="635" tIns="635" rIns="635" bIns="635" rtlCol="0" anchor="ctr"/>
          <a:lstStyle/>
          <a:p>
            <a:pPr algn="ctr" indent="0" marL="0">
              <a:buNone/>
            </a:pPr>
            <a:endParaRPr lang="en-US" sz="1300" dirty="0"/>
          </a:p>
        </p:txBody>
      </p:sp>
      <p:sp>
        <p:nvSpPr>
          <p:cNvPr id="5" name="Text 3"/>
          <p:cNvSpPr txBox="1"/>
          <p:nvPr/>
        </p:nvSpPr>
        <p:spPr>
          <a:xfrm>
            <a:off x="731520" y="1645920"/>
            <a:ext cx="4937760" cy="2560320"/>
          </a:xfrm>
          <a:prstGeom prst="rect">
            <a:avLst/>
          </a:prstGeom>
          <a:noFill/>
          <a:ln/>
        </p:spPr>
        <p:txBody>
          <a:bodyPr wrap="square" rtlCol="0" anchor="t"/>
          <a:lstStyle/>
          <a:p>
            <a:pPr indent="0" marL="0">
              <a:buNone/>
            </a:pPr>
            <a:r>
              <a:rPr lang="en-US" sz="2000" b="1" dirty="0">
                <a:solidFill>
                  <a:schemeClr val="accent1"/>
                </a:solidFill>
              </a:rPr>
              <a:t>Plano de control</a:t>
            </a:r>
            <a:endParaRPr lang="en-US" sz="2000" dirty="0"/>
          </a:p>
          <a:p>
            <a:pPr indent="0" marL="0">
              <a:buNone/>
            </a:pPr>
            <a:r>
              <a:rPr lang="en-US" sz="1600" dirty="0">
                <a:solidFill>
                  <a:srgbClr val="000000"/>
                </a:solidFill>
              </a:rPr>
              <a:t>Despliegue de modelos · versiones de prompts · políticas · cuotas · identidades · configuración</a:t>
            </a:r>
            <a:endParaRPr lang="en-US" sz="2000" dirty="0"/>
          </a:p>
        </p:txBody>
      </p:sp>
      <p:sp>
        <p:nvSpPr>
          <p:cNvPr id="6" name="Shape 4"/>
          <p:cNvSpPr/>
          <p:nvPr/>
        </p:nvSpPr>
        <p:spPr>
          <a:xfrm>
            <a:off x="6309360" y="1463040"/>
            <a:ext cx="5303520" cy="2926080"/>
          </a:xfrm>
          <a:prstGeom prst="roundRect">
            <a:avLst>
              <a:gd name="adj" fmla="val 2500"/>
            </a:avLst>
          </a:prstGeom>
          <a:solidFill>
            <a:srgbClr val="DCEAF4"/>
          </a:solidFill>
          <a:ln w="12700">
            <a:solidFill>
              <a:srgbClr val="1F6F9F"/>
            </a:solidFill>
            <a:prstDash val="solid"/>
          </a:ln>
        </p:spPr>
      </p:sp>
      <p:sp>
        <p:nvSpPr>
          <p:cNvPr id="7" name="Text 5"/>
          <p:cNvSpPr txBox="1"/>
          <p:nvPr/>
        </p:nvSpPr>
        <p:spPr>
          <a:xfrm>
            <a:off x="6309360" y="1463040"/>
            <a:ext cx="5303520" cy="2926080"/>
          </a:xfrm>
          <a:prstGeom prst="rect">
            <a:avLst/>
          </a:prstGeom>
          <a:noFill/>
          <a:ln/>
        </p:spPr>
        <p:txBody>
          <a:bodyPr wrap="square" lIns="635" tIns="635" rIns="635" bIns="635" rtlCol="0" anchor="ctr"/>
          <a:lstStyle/>
          <a:p>
            <a:pPr algn="ctr" indent="0" marL="0">
              <a:buNone/>
            </a:pPr>
            <a:endParaRPr lang="en-US" sz="1300" dirty="0"/>
          </a:p>
        </p:txBody>
      </p:sp>
      <p:sp>
        <p:nvSpPr>
          <p:cNvPr id="8" name="Text 6"/>
          <p:cNvSpPr txBox="1"/>
          <p:nvPr/>
        </p:nvSpPr>
        <p:spPr>
          <a:xfrm>
            <a:off x="6492240" y="1645920"/>
            <a:ext cx="4937760" cy="2560320"/>
          </a:xfrm>
          <a:prstGeom prst="rect">
            <a:avLst/>
          </a:prstGeom>
          <a:noFill/>
          <a:ln/>
        </p:spPr>
        <p:txBody>
          <a:bodyPr wrap="square" rtlCol="0" anchor="t"/>
          <a:lstStyle/>
          <a:p>
            <a:pPr indent="0" marL="0">
              <a:buNone/>
            </a:pPr>
            <a:r>
              <a:rPr lang="en-US" sz="2000" b="1" dirty="0">
                <a:solidFill>
                  <a:schemeClr val="accent1"/>
                </a:solidFill>
              </a:rPr>
              <a:t>Plano de datos</a:t>
            </a:r>
            <a:endParaRPr lang="en-US" sz="2000" dirty="0"/>
          </a:p>
          <a:p>
            <a:pPr indent="0" marL="0">
              <a:buNone/>
            </a:pPr>
            <a:r>
              <a:rPr lang="en-US" sz="1600" dirty="0">
                <a:solidFill>
                  <a:srgbClr val="000000"/>
                </a:solidFill>
              </a:rPr>
              <a:t>Cada solicitud de usuario: gateway → backend → serving → vector store → respuesta</a:t>
            </a:r>
            <a:endParaRPr lang="en-US" sz="2000" dirty="0"/>
          </a:p>
        </p:txBody>
      </p:sp>
      <p:sp>
        <p:nvSpPr>
          <p:cNvPr id="9" name="Shape 7"/>
          <p:cNvSpPr/>
          <p:nvPr/>
        </p:nvSpPr>
        <p:spPr>
          <a:xfrm>
            <a:off x="548640" y="4846320"/>
            <a:ext cx="11064240" cy="548640"/>
          </a:xfrm>
          <a:prstGeom prst="rect">
            <a:avLst/>
          </a:prstGeom>
          <a:solidFill>
            <a:srgbClr val="2E9C8A"/>
          </a:solidFill>
          <a:ln w="12700">
            <a:solidFill>
              <a:srgbClr val="2E9C8A"/>
            </a:solidFill>
            <a:prstDash val="solid"/>
          </a:ln>
        </p:spPr>
      </p:sp>
      <p:sp>
        <p:nvSpPr>
          <p:cNvPr id="10" name="Text 8"/>
          <p:cNvSpPr txBox="1"/>
          <p:nvPr/>
        </p:nvSpPr>
        <p:spPr>
          <a:xfrm>
            <a:off x="685800" y="484632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Separarlos permite escalar el plano de datos sin exponer la administración, con permisos distintos en cada uno.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Monolítico o distribuido</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3840480"/>
                <a:gridCol w="4480560"/>
              </a:tblGrid>
              <a:tr h="0">
                <a:tc>
                  <a:txBody>
                    <a:bodyPr/>
                    <a:lstStyle/>
                    <a:p>
                      <a:pPr indent="0" marL="0">
                        <a:buNone/>
                      </a:pPr>
                      <a:r>
                        <a:rPr lang="en-US" sz="1500" b="1" dirty="0">
                          <a:solidFill>
                            <a:srgbClr val="FFFFFF"/>
                          </a:solidFill>
                        </a:rPr>
                        <a:t>Criterio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Monolito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Distribuido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Complejidad inicial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Baja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Mayor: red, contratos, despliegues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Escalado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Todo escala junto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Cada componente según su cuello de botella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Aislamiento de fallos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Un fallo afecta a todo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Contenido con timeouts y circuit breakers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Adecuado para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Prototipo, laboratorio local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Producción con cargas variables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0624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20624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Recomendación: separar el serving del backend desde el inicio (perfiles GPU/memoria vs. CPU/E/S).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Espectro: gestionado ↔ autogestionado</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3108960"/>
                <a:gridCol w="2743200"/>
                <a:gridCol w="2834640"/>
              </a:tblGrid>
              <a:tr h="0">
                <a:tc>
                  <a:txBody>
                    <a:bodyPr/>
                    <a:lstStyle/>
                    <a:p>
                      <a:pPr indent="0" marL="0">
                        <a:buNone/>
                      </a:pPr>
                      <a:r>
                        <a:rPr lang="en-US" sz="1300" b="1" dirty="0">
                          <a:solidFill>
                            <a:srgbClr val="FFFFFF"/>
                          </a:solidFill>
                        </a:rPr>
                        <a:t>Modalidad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Quién opera la inferencia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Qué controla la organización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300" b="1" dirty="0">
                          <a:solidFill>
                            <a:srgbClr val="FFFFFF"/>
                          </a:solidFill>
                        </a:rPr>
                        <a:t>Cuándo conviene</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300" dirty="0">
                          <a:solidFill>
                            <a:srgbClr val="1B1F24"/>
                          </a:solidFill>
                        </a:rPr>
                        <a:t>VM con GPU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La organización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Todo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Investigación, aislamiento extremo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Kubernetes con GPU</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La organización, sobre clúster gestionado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Motor, escalado, red</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Varios modelos propios, equipo de plataforma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Contenedores serverless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Proveedor escala; organización aporta imagen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Imagen y configuración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Cargas variables, modelos pequeños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300" dirty="0">
                          <a:solidFill>
                            <a:srgbClr val="1B1F24"/>
                          </a:solidFill>
                        </a:rPr>
                        <a:t>API de modelos (MaaS)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Proveedor</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Prompt, parámetros, cuotas, región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rPr>
                        <a:t>Mayoría de casos al inicio</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1B1F24"/>
                          </a:solidFill>
                        </a:rPr>
                        <a:t>Runtime gestionado de agentes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Proveedor ejecuta agente, sesiones, memoria</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Lógica, herramientas, políticas</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300" dirty="0">
                          <a:solidFill>
                            <a:srgbClr val="1B1F24"/>
                          </a:solidFill>
                        </a:rPr>
                        <a:t>Agentes con estado en producción</a:t>
                      </a:r>
                      <a:endParaRPr lang="en-US" sz="13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Patrones de integración</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2560320"/>
                <a:gridCol w="3108960"/>
                <a:gridCol w="2651760"/>
              </a:tblGrid>
              <a:tr h="0">
                <a:tc>
                  <a:txBody>
                    <a:bodyPr/>
                    <a:lstStyle/>
                    <a:p>
                      <a:pPr indent="0" marL="0">
                        <a:buNone/>
                      </a:pPr>
                      <a:r>
                        <a:rPr lang="en-US" sz="1500" b="1" dirty="0">
                          <a:solidFill>
                            <a:srgbClr val="FFFFFF"/>
                          </a:solidFill>
                        </a:rPr>
                        <a:t>Patrón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Ventaja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Limitación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Uso en el caso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Síncrono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Simple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El usuario espera toda la generación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Llamadas internas cortas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Streaming (SSE / WebSocket)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Latencia percibida baja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Conexiones largas, timeouts de proxies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Conversación del asistente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Asíncrono con cola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Absorbe picos, reintentos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Mayor latencia, más componentes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Resúmenes de documentos largos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Event-driven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Desacoplamiento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Trazabilidad más difícil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Reindexar al publicar un reglamento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RAG como carga de trabajo</a:t>
            </a:r>
            <a:endParaRPr lang="en-US" sz="2800" dirty="0"/>
          </a:p>
        </p:txBody>
      </p:sp>
      <p:sp>
        <p:nvSpPr>
          <p:cNvPr id="3" name="Shape 1"/>
          <p:cNvSpPr/>
          <p:nvPr/>
        </p:nvSpPr>
        <p:spPr>
          <a:xfrm>
            <a:off x="548640" y="1463040"/>
            <a:ext cx="2560320" cy="914400"/>
          </a:xfrm>
          <a:prstGeom prst="roundRect">
            <a:avLst>
              <a:gd name="adj" fmla="val 8000"/>
            </a:avLst>
          </a:prstGeom>
          <a:solidFill>
            <a:srgbClr val="DCEAF4"/>
          </a:solidFill>
          <a:ln w="12700">
            <a:solidFill>
              <a:srgbClr val="1F6F9F"/>
            </a:solidFill>
            <a:prstDash val="solid"/>
          </a:ln>
        </p:spPr>
      </p:sp>
      <p:sp>
        <p:nvSpPr>
          <p:cNvPr id="4" name="Text 2"/>
          <p:cNvSpPr txBox="1"/>
          <p:nvPr/>
        </p:nvSpPr>
        <p:spPr>
          <a:xfrm>
            <a:off x="548640" y="1463040"/>
            <a:ext cx="256032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Documentos</a:t>
            </a:r>
            <a:endParaRPr lang="en-US" sz="1300" dirty="0"/>
          </a:p>
          <a:p>
            <a:pPr algn="ctr" indent="0" marL="0">
              <a:buNone/>
            </a:pPr>
            <a:r>
              <a:rPr lang="en-US" sz="1300" dirty="0">
                <a:solidFill>
                  <a:srgbClr val="1B1F24"/>
                </a:solidFill>
              </a:rPr>
              <a:t>fuente</a:t>
            </a:r>
            <a:endParaRPr lang="en-US" sz="1300" dirty="0"/>
          </a:p>
        </p:txBody>
      </p:sp>
      <p:sp>
        <p:nvSpPr>
          <p:cNvPr id="5" name="Shape 3"/>
          <p:cNvSpPr/>
          <p:nvPr/>
        </p:nvSpPr>
        <p:spPr>
          <a:xfrm>
            <a:off x="3108960" y="1920240"/>
            <a:ext cx="274320" cy="914"/>
          </a:xfrm>
          <a:prstGeom prst="line">
            <a:avLst/>
          </a:prstGeom>
          <a:noFill/>
          <a:ln w="19050">
            <a:solidFill>
              <a:srgbClr val="7A8794"/>
            </a:solidFill>
            <a:prstDash val="solid"/>
            <a:tailEnd type="triangle"/>
          </a:ln>
        </p:spPr>
      </p:sp>
      <p:sp>
        <p:nvSpPr>
          <p:cNvPr id="6" name="Shape 4"/>
          <p:cNvSpPr/>
          <p:nvPr/>
        </p:nvSpPr>
        <p:spPr>
          <a:xfrm>
            <a:off x="3383280" y="1463040"/>
            <a:ext cx="2560320" cy="914400"/>
          </a:xfrm>
          <a:prstGeom prst="roundRect">
            <a:avLst>
              <a:gd name="adj" fmla="val 8000"/>
            </a:avLst>
          </a:prstGeom>
          <a:solidFill>
            <a:srgbClr val="F2F4F6"/>
          </a:solidFill>
          <a:ln w="12700">
            <a:solidFill>
              <a:srgbClr val="1F6F9F"/>
            </a:solidFill>
            <a:prstDash val="solid"/>
          </a:ln>
        </p:spPr>
      </p:sp>
      <p:sp>
        <p:nvSpPr>
          <p:cNvPr id="7" name="Text 5"/>
          <p:cNvSpPr txBox="1"/>
          <p:nvPr/>
        </p:nvSpPr>
        <p:spPr>
          <a:xfrm>
            <a:off x="3383280" y="1463040"/>
            <a:ext cx="256032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Extraer y</a:t>
            </a:r>
            <a:endParaRPr lang="en-US" sz="1300" dirty="0"/>
          </a:p>
          <a:p>
            <a:pPr algn="ctr" indent="0" marL="0">
              <a:buNone/>
            </a:pPr>
            <a:r>
              <a:rPr lang="en-US" sz="1300" dirty="0">
                <a:solidFill>
                  <a:srgbClr val="1B1F24"/>
                </a:solidFill>
              </a:rPr>
              <a:t>dividir</a:t>
            </a:r>
            <a:endParaRPr lang="en-US" sz="1300" dirty="0"/>
          </a:p>
        </p:txBody>
      </p:sp>
      <p:sp>
        <p:nvSpPr>
          <p:cNvPr id="8" name="Shape 6"/>
          <p:cNvSpPr/>
          <p:nvPr/>
        </p:nvSpPr>
        <p:spPr>
          <a:xfrm>
            <a:off x="5943600" y="1920240"/>
            <a:ext cx="274320" cy="914"/>
          </a:xfrm>
          <a:prstGeom prst="line">
            <a:avLst/>
          </a:prstGeom>
          <a:noFill/>
          <a:ln w="19050">
            <a:solidFill>
              <a:srgbClr val="7A8794"/>
            </a:solidFill>
            <a:prstDash val="solid"/>
            <a:tailEnd type="triangle"/>
          </a:ln>
        </p:spPr>
      </p:sp>
      <p:sp>
        <p:nvSpPr>
          <p:cNvPr id="9" name="Shape 7"/>
          <p:cNvSpPr/>
          <p:nvPr/>
        </p:nvSpPr>
        <p:spPr>
          <a:xfrm>
            <a:off x="6217920" y="1463040"/>
            <a:ext cx="2560320" cy="914400"/>
          </a:xfrm>
          <a:prstGeom prst="roundRect">
            <a:avLst>
              <a:gd name="adj" fmla="val 8000"/>
            </a:avLst>
          </a:prstGeom>
          <a:solidFill>
            <a:srgbClr val="F2F4F6"/>
          </a:solidFill>
          <a:ln w="12700">
            <a:solidFill>
              <a:srgbClr val="1F6F9F"/>
            </a:solidFill>
            <a:prstDash val="solid"/>
          </a:ln>
        </p:spPr>
      </p:sp>
      <p:sp>
        <p:nvSpPr>
          <p:cNvPr id="10" name="Text 8"/>
          <p:cNvSpPr txBox="1"/>
          <p:nvPr/>
        </p:nvSpPr>
        <p:spPr>
          <a:xfrm>
            <a:off x="6217920" y="1463040"/>
            <a:ext cx="256032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Embeddings</a:t>
            </a:r>
            <a:endParaRPr lang="en-US" sz="1300" dirty="0"/>
          </a:p>
        </p:txBody>
      </p:sp>
      <p:sp>
        <p:nvSpPr>
          <p:cNvPr id="11" name="Shape 9"/>
          <p:cNvSpPr/>
          <p:nvPr/>
        </p:nvSpPr>
        <p:spPr>
          <a:xfrm>
            <a:off x="8778240" y="1920240"/>
            <a:ext cx="274320" cy="914"/>
          </a:xfrm>
          <a:prstGeom prst="line">
            <a:avLst/>
          </a:prstGeom>
          <a:noFill/>
          <a:ln w="19050">
            <a:solidFill>
              <a:srgbClr val="7A8794"/>
            </a:solidFill>
            <a:prstDash val="solid"/>
            <a:tailEnd type="triangle"/>
          </a:ln>
        </p:spPr>
      </p:sp>
      <p:sp>
        <p:nvSpPr>
          <p:cNvPr id="12" name="Shape 10"/>
          <p:cNvSpPr/>
          <p:nvPr/>
        </p:nvSpPr>
        <p:spPr>
          <a:xfrm>
            <a:off x="9052560" y="1463040"/>
            <a:ext cx="2560320" cy="914400"/>
          </a:xfrm>
          <a:prstGeom prst="roundRect">
            <a:avLst>
              <a:gd name="adj" fmla="val 8000"/>
            </a:avLst>
          </a:prstGeom>
          <a:solidFill>
            <a:srgbClr val="F2F4F6"/>
          </a:solidFill>
          <a:ln w="12700">
            <a:solidFill>
              <a:srgbClr val="1F6F9F"/>
            </a:solidFill>
            <a:prstDash val="solid"/>
          </a:ln>
        </p:spPr>
      </p:sp>
      <p:sp>
        <p:nvSpPr>
          <p:cNvPr id="13" name="Text 11"/>
          <p:cNvSpPr txBox="1"/>
          <p:nvPr/>
        </p:nvSpPr>
        <p:spPr>
          <a:xfrm>
            <a:off x="9052560" y="1463040"/>
            <a:ext cx="2560320" cy="914400"/>
          </a:xfrm>
          <a:prstGeom prst="rect">
            <a:avLst/>
          </a:prstGeom>
          <a:noFill/>
          <a:ln/>
        </p:spPr>
        <p:txBody>
          <a:bodyPr wrap="square" lIns="635" tIns="635" rIns="635" bIns="635" rtlCol="0" anchor="ctr"/>
          <a:lstStyle/>
          <a:p>
            <a:pPr algn="ctr" indent="0" marL="0">
              <a:buNone/>
            </a:pPr>
            <a:r>
              <a:rPr lang="en-US" sz="1300" dirty="0">
                <a:solidFill>
                  <a:srgbClr val="1B1F24"/>
                </a:solidFill>
              </a:rPr>
              <a:t>Indexar en</a:t>
            </a:r>
            <a:endParaRPr lang="en-US" sz="1300" dirty="0"/>
          </a:p>
          <a:p>
            <a:pPr algn="ctr" indent="0" marL="0">
              <a:buNone/>
            </a:pPr>
            <a:r>
              <a:rPr lang="en-US" sz="1300" dirty="0">
                <a:solidFill>
                  <a:srgbClr val="1B1F24"/>
                </a:solidFill>
              </a:rPr>
              <a:t>vector store</a:t>
            </a:r>
            <a:endParaRPr lang="en-US" sz="1300" dirty="0"/>
          </a:p>
        </p:txBody>
      </p:sp>
      <p:sp>
        <p:nvSpPr>
          <p:cNvPr id="14" name="Shape 12"/>
          <p:cNvSpPr/>
          <p:nvPr/>
        </p:nvSpPr>
        <p:spPr>
          <a:xfrm>
            <a:off x="548640" y="3017520"/>
            <a:ext cx="1993392" cy="914400"/>
          </a:xfrm>
          <a:prstGeom prst="roundRect">
            <a:avLst>
              <a:gd name="adj" fmla="val 8000"/>
            </a:avLst>
          </a:prstGeom>
          <a:solidFill>
            <a:srgbClr val="DCEAF4"/>
          </a:solidFill>
          <a:ln w="12700">
            <a:solidFill>
              <a:srgbClr val="1F6F9F"/>
            </a:solidFill>
            <a:prstDash val="solid"/>
          </a:ln>
        </p:spPr>
      </p:sp>
      <p:sp>
        <p:nvSpPr>
          <p:cNvPr id="15" name="Text 13"/>
          <p:cNvSpPr txBox="1"/>
          <p:nvPr/>
        </p:nvSpPr>
        <p:spPr>
          <a:xfrm>
            <a:off x="548640" y="3017520"/>
            <a:ext cx="1993392" cy="914400"/>
          </a:xfrm>
          <a:prstGeom prst="rect">
            <a:avLst/>
          </a:prstGeom>
          <a:noFill/>
          <a:ln/>
        </p:spPr>
        <p:txBody>
          <a:bodyPr wrap="square" lIns="635" tIns="635" rIns="635" bIns="635" rtlCol="0" anchor="ctr"/>
          <a:lstStyle/>
          <a:p>
            <a:pPr algn="ctr" indent="0" marL="0">
              <a:buNone/>
            </a:pPr>
            <a:r>
              <a:rPr lang="en-US" sz="1300" dirty="0">
                <a:solidFill>
                  <a:srgbClr val="1B1F24"/>
                </a:solidFill>
              </a:rPr>
              <a:t>Pregunta</a:t>
            </a:r>
            <a:endParaRPr lang="en-US" sz="1300" dirty="0"/>
          </a:p>
        </p:txBody>
      </p:sp>
      <p:sp>
        <p:nvSpPr>
          <p:cNvPr id="16" name="Shape 14"/>
          <p:cNvSpPr/>
          <p:nvPr/>
        </p:nvSpPr>
        <p:spPr>
          <a:xfrm>
            <a:off x="2542032" y="3474720"/>
            <a:ext cx="274320" cy="914"/>
          </a:xfrm>
          <a:prstGeom prst="line">
            <a:avLst/>
          </a:prstGeom>
          <a:noFill/>
          <a:ln w="19050">
            <a:solidFill>
              <a:srgbClr val="7A8794"/>
            </a:solidFill>
            <a:prstDash val="solid"/>
            <a:tailEnd type="triangle"/>
          </a:ln>
        </p:spPr>
      </p:sp>
      <p:sp>
        <p:nvSpPr>
          <p:cNvPr id="17" name="Shape 15"/>
          <p:cNvSpPr/>
          <p:nvPr/>
        </p:nvSpPr>
        <p:spPr>
          <a:xfrm>
            <a:off x="2816352" y="3017520"/>
            <a:ext cx="1993392" cy="914400"/>
          </a:xfrm>
          <a:prstGeom prst="roundRect">
            <a:avLst>
              <a:gd name="adj" fmla="val 8000"/>
            </a:avLst>
          </a:prstGeom>
          <a:solidFill>
            <a:srgbClr val="F2F4F6"/>
          </a:solidFill>
          <a:ln w="12700">
            <a:solidFill>
              <a:srgbClr val="1F6F9F"/>
            </a:solidFill>
            <a:prstDash val="solid"/>
          </a:ln>
        </p:spPr>
      </p:sp>
      <p:sp>
        <p:nvSpPr>
          <p:cNvPr id="18" name="Text 16"/>
          <p:cNvSpPr txBox="1"/>
          <p:nvPr/>
        </p:nvSpPr>
        <p:spPr>
          <a:xfrm>
            <a:off x="2816352" y="3017520"/>
            <a:ext cx="1993392" cy="914400"/>
          </a:xfrm>
          <a:prstGeom prst="rect">
            <a:avLst/>
          </a:prstGeom>
          <a:noFill/>
          <a:ln/>
        </p:spPr>
        <p:txBody>
          <a:bodyPr wrap="square" lIns="635" tIns="635" rIns="635" bIns="635" rtlCol="0" anchor="ctr"/>
          <a:lstStyle/>
          <a:p>
            <a:pPr algn="ctr" indent="0" marL="0">
              <a:buNone/>
            </a:pPr>
            <a:r>
              <a:rPr lang="en-US" sz="1300" dirty="0">
                <a:solidFill>
                  <a:srgbClr val="1B1F24"/>
                </a:solidFill>
              </a:rPr>
              <a:t>Embedding de</a:t>
            </a:r>
            <a:endParaRPr lang="en-US" sz="1300" dirty="0"/>
          </a:p>
          <a:p>
            <a:pPr algn="ctr" indent="0" marL="0">
              <a:buNone/>
            </a:pPr>
            <a:r>
              <a:rPr lang="en-US" sz="1300" dirty="0">
                <a:solidFill>
                  <a:srgbClr val="1B1F24"/>
                </a:solidFill>
              </a:rPr>
              <a:t>la pregunta</a:t>
            </a:r>
            <a:endParaRPr lang="en-US" sz="1300" dirty="0"/>
          </a:p>
        </p:txBody>
      </p:sp>
      <p:sp>
        <p:nvSpPr>
          <p:cNvPr id="19" name="Shape 17"/>
          <p:cNvSpPr/>
          <p:nvPr/>
        </p:nvSpPr>
        <p:spPr>
          <a:xfrm>
            <a:off x="4809744" y="3474720"/>
            <a:ext cx="274320" cy="914"/>
          </a:xfrm>
          <a:prstGeom prst="line">
            <a:avLst/>
          </a:prstGeom>
          <a:noFill/>
          <a:ln w="19050">
            <a:solidFill>
              <a:srgbClr val="7A8794"/>
            </a:solidFill>
            <a:prstDash val="solid"/>
            <a:tailEnd type="triangle"/>
          </a:ln>
        </p:spPr>
      </p:sp>
      <p:sp>
        <p:nvSpPr>
          <p:cNvPr id="20" name="Shape 18"/>
          <p:cNvSpPr/>
          <p:nvPr/>
        </p:nvSpPr>
        <p:spPr>
          <a:xfrm>
            <a:off x="5084064" y="3017520"/>
            <a:ext cx="1993392" cy="914400"/>
          </a:xfrm>
          <a:prstGeom prst="roundRect">
            <a:avLst>
              <a:gd name="adj" fmla="val 8000"/>
            </a:avLst>
          </a:prstGeom>
          <a:solidFill>
            <a:srgbClr val="F2F4F6"/>
          </a:solidFill>
          <a:ln w="12700">
            <a:solidFill>
              <a:srgbClr val="1F6F9F"/>
            </a:solidFill>
            <a:prstDash val="solid"/>
          </a:ln>
        </p:spPr>
      </p:sp>
      <p:sp>
        <p:nvSpPr>
          <p:cNvPr id="21" name="Text 19"/>
          <p:cNvSpPr txBox="1"/>
          <p:nvPr/>
        </p:nvSpPr>
        <p:spPr>
          <a:xfrm>
            <a:off x="5084064" y="3017520"/>
            <a:ext cx="1993392" cy="914400"/>
          </a:xfrm>
          <a:prstGeom prst="rect">
            <a:avLst/>
          </a:prstGeom>
          <a:noFill/>
          <a:ln/>
        </p:spPr>
        <p:txBody>
          <a:bodyPr wrap="square" lIns="635" tIns="635" rIns="635" bIns="635" rtlCol="0" anchor="ctr"/>
          <a:lstStyle/>
          <a:p>
            <a:pPr algn="ctr" indent="0" marL="0">
              <a:buNone/>
            </a:pPr>
            <a:r>
              <a:rPr lang="en-US" sz="1300" dirty="0">
                <a:solidFill>
                  <a:srgbClr val="1B1F24"/>
                </a:solidFill>
              </a:rPr>
              <a:t>Búsqueda con</a:t>
            </a:r>
            <a:endParaRPr lang="en-US" sz="1300" dirty="0"/>
          </a:p>
          <a:p>
            <a:pPr algn="ctr" indent="0" marL="0">
              <a:buNone/>
            </a:pPr>
            <a:r>
              <a:rPr lang="en-US" sz="1300" dirty="0">
                <a:solidFill>
                  <a:srgbClr val="1B1F24"/>
                </a:solidFill>
              </a:rPr>
              <a:t>filtro de permisos</a:t>
            </a:r>
            <a:endParaRPr lang="en-US" sz="1300" dirty="0"/>
          </a:p>
        </p:txBody>
      </p:sp>
      <p:sp>
        <p:nvSpPr>
          <p:cNvPr id="22" name="Shape 20"/>
          <p:cNvSpPr/>
          <p:nvPr/>
        </p:nvSpPr>
        <p:spPr>
          <a:xfrm>
            <a:off x="7077456" y="3474720"/>
            <a:ext cx="274320" cy="914"/>
          </a:xfrm>
          <a:prstGeom prst="line">
            <a:avLst/>
          </a:prstGeom>
          <a:noFill/>
          <a:ln w="19050">
            <a:solidFill>
              <a:srgbClr val="7A8794"/>
            </a:solidFill>
            <a:prstDash val="solid"/>
            <a:tailEnd type="triangle"/>
          </a:ln>
        </p:spPr>
      </p:sp>
      <p:sp>
        <p:nvSpPr>
          <p:cNvPr id="23" name="Shape 21"/>
          <p:cNvSpPr/>
          <p:nvPr/>
        </p:nvSpPr>
        <p:spPr>
          <a:xfrm>
            <a:off x="7351776" y="3017520"/>
            <a:ext cx="1993392" cy="914400"/>
          </a:xfrm>
          <a:prstGeom prst="roundRect">
            <a:avLst>
              <a:gd name="adj" fmla="val 8000"/>
            </a:avLst>
          </a:prstGeom>
          <a:solidFill>
            <a:srgbClr val="F2F4F6"/>
          </a:solidFill>
          <a:ln w="12700">
            <a:solidFill>
              <a:srgbClr val="1F6F9F"/>
            </a:solidFill>
            <a:prstDash val="solid"/>
          </a:ln>
        </p:spPr>
      </p:sp>
      <p:sp>
        <p:nvSpPr>
          <p:cNvPr id="24" name="Text 22"/>
          <p:cNvSpPr txBox="1"/>
          <p:nvPr/>
        </p:nvSpPr>
        <p:spPr>
          <a:xfrm>
            <a:off x="7351776" y="3017520"/>
            <a:ext cx="1993392" cy="914400"/>
          </a:xfrm>
          <a:prstGeom prst="rect">
            <a:avLst/>
          </a:prstGeom>
          <a:noFill/>
          <a:ln/>
        </p:spPr>
        <p:txBody>
          <a:bodyPr wrap="square" lIns="635" tIns="635" rIns="635" bIns="635" rtlCol="0" anchor="ctr"/>
          <a:lstStyle/>
          <a:p>
            <a:pPr algn="ctr" indent="0" marL="0">
              <a:buNone/>
            </a:pPr>
            <a:r>
              <a:rPr lang="en-US" sz="1300" dirty="0">
                <a:solidFill>
                  <a:srgbClr val="1B1F24"/>
                </a:solidFill>
              </a:rPr>
              <a:t>Prompt con</a:t>
            </a:r>
            <a:endParaRPr lang="en-US" sz="1300" dirty="0"/>
          </a:p>
          <a:p>
            <a:pPr algn="ctr" indent="0" marL="0">
              <a:buNone/>
            </a:pPr>
            <a:r>
              <a:rPr lang="en-US" sz="1300" dirty="0">
                <a:solidFill>
                  <a:srgbClr val="1B1F24"/>
                </a:solidFill>
              </a:rPr>
              <a:t>contexto</a:t>
            </a:r>
            <a:endParaRPr lang="en-US" sz="1300" dirty="0"/>
          </a:p>
        </p:txBody>
      </p:sp>
      <p:sp>
        <p:nvSpPr>
          <p:cNvPr id="25" name="Shape 23"/>
          <p:cNvSpPr/>
          <p:nvPr/>
        </p:nvSpPr>
        <p:spPr>
          <a:xfrm>
            <a:off x="9345168" y="3474720"/>
            <a:ext cx="274320" cy="914"/>
          </a:xfrm>
          <a:prstGeom prst="line">
            <a:avLst/>
          </a:prstGeom>
          <a:noFill/>
          <a:ln w="19050">
            <a:solidFill>
              <a:srgbClr val="7A8794"/>
            </a:solidFill>
            <a:prstDash val="solid"/>
            <a:tailEnd type="triangle"/>
          </a:ln>
        </p:spPr>
      </p:sp>
      <p:sp>
        <p:nvSpPr>
          <p:cNvPr id="26" name="Shape 24"/>
          <p:cNvSpPr/>
          <p:nvPr/>
        </p:nvSpPr>
        <p:spPr>
          <a:xfrm>
            <a:off x="9619488" y="3017520"/>
            <a:ext cx="1993392" cy="914400"/>
          </a:xfrm>
          <a:prstGeom prst="roundRect">
            <a:avLst>
              <a:gd name="adj" fmla="val 8000"/>
            </a:avLst>
          </a:prstGeom>
          <a:solidFill>
            <a:srgbClr val="F2F4F6"/>
          </a:solidFill>
          <a:ln w="12700">
            <a:solidFill>
              <a:srgbClr val="1F6F9F"/>
            </a:solidFill>
            <a:prstDash val="solid"/>
          </a:ln>
        </p:spPr>
      </p:sp>
      <p:sp>
        <p:nvSpPr>
          <p:cNvPr id="27" name="Text 25"/>
          <p:cNvSpPr txBox="1"/>
          <p:nvPr/>
        </p:nvSpPr>
        <p:spPr>
          <a:xfrm>
            <a:off x="9619488" y="3017520"/>
            <a:ext cx="1993392" cy="914400"/>
          </a:xfrm>
          <a:prstGeom prst="rect">
            <a:avLst/>
          </a:prstGeom>
          <a:noFill/>
          <a:ln/>
        </p:spPr>
        <p:txBody>
          <a:bodyPr wrap="square" lIns="635" tIns="635" rIns="635" bIns="635" rtlCol="0" anchor="ctr"/>
          <a:lstStyle/>
          <a:p>
            <a:pPr algn="ctr" indent="0" marL="0">
              <a:buNone/>
            </a:pPr>
            <a:r>
              <a:rPr lang="en-US" sz="1300" dirty="0">
                <a:solidFill>
                  <a:srgbClr val="1B1F24"/>
                </a:solidFill>
              </a:rPr>
              <a:t>Modelo</a:t>
            </a:r>
            <a:endParaRPr lang="en-US" sz="1300" dirty="0"/>
          </a:p>
        </p:txBody>
      </p:sp>
      <p:sp>
        <p:nvSpPr>
          <p:cNvPr id="28" name="Text 26"/>
          <p:cNvSpPr txBox="1"/>
          <p:nvPr/>
        </p:nvSpPr>
        <p:spPr>
          <a:xfrm>
            <a:off x="548640" y="1097280"/>
            <a:ext cx="5486400" cy="320040"/>
          </a:xfrm>
          <a:prstGeom prst="rect">
            <a:avLst/>
          </a:prstGeom>
          <a:noFill/>
          <a:ln/>
        </p:spPr>
        <p:txBody>
          <a:bodyPr wrap="square" rtlCol="0" anchor="ctr"/>
          <a:lstStyle/>
          <a:p>
            <a:pPr indent="0" marL="0">
              <a:buNone/>
            </a:pPr>
            <a:r>
              <a:rPr lang="en-US" sz="1300" b="1" dirty="0">
                <a:solidFill>
                  <a:schemeClr val="accent2"/>
                </a:solidFill>
              </a:rPr>
              <a:t>Ingesta (por lotes, por eventos)</a:t>
            </a:r>
            <a:endParaRPr lang="en-US" sz="1300" dirty="0"/>
          </a:p>
        </p:txBody>
      </p:sp>
      <p:sp>
        <p:nvSpPr>
          <p:cNvPr id="29" name="Text 27"/>
          <p:cNvSpPr txBox="1"/>
          <p:nvPr/>
        </p:nvSpPr>
        <p:spPr>
          <a:xfrm>
            <a:off x="548640" y="2651760"/>
            <a:ext cx="5486400" cy="320040"/>
          </a:xfrm>
          <a:prstGeom prst="rect">
            <a:avLst/>
          </a:prstGeom>
          <a:noFill/>
          <a:ln/>
        </p:spPr>
        <p:txBody>
          <a:bodyPr wrap="square" rtlCol="0" anchor="ctr"/>
          <a:lstStyle/>
          <a:p>
            <a:pPr indent="0" marL="0">
              <a:buNone/>
            </a:pPr>
            <a:r>
              <a:rPr lang="en-US" sz="1300" b="1" dirty="0">
                <a:solidFill>
                  <a:schemeClr val="accent1"/>
                </a:solidFill>
              </a:rPr>
              <a:t>Consulta (en línea, añade latencia y tokens)</a:t>
            </a:r>
            <a:endParaRPr lang="en-US" sz="1300" dirty="0"/>
          </a:p>
        </p:txBody>
      </p:sp>
      <p:sp>
        <p:nvSpPr>
          <p:cNvPr id="30" name="Shape 28"/>
          <p:cNvSpPr/>
          <p:nvPr/>
        </p:nvSpPr>
        <p:spPr>
          <a:xfrm>
            <a:off x="548640" y="4572000"/>
            <a:ext cx="11064240" cy="548640"/>
          </a:xfrm>
          <a:prstGeom prst="rect">
            <a:avLst/>
          </a:prstGeom>
          <a:solidFill>
            <a:srgbClr val="D98E2B"/>
          </a:solidFill>
          <a:ln w="12700">
            <a:solidFill>
              <a:srgbClr val="D98E2B"/>
            </a:solidFill>
            <a:prstDash val="solid"/>
          </a:ln>
        </p:spPr>
      </p:sp>
      <p:sp>
        <p:nvSpPr>
          <p:cNvPr id="31" name="Text 29"/>
          <p:cNvSpPr txBox="1"/>
          <p:nvPr/>
        </p:nvSpPr>
        <p:spPr>
          <a:xfrm>
            <a:off x="685800" y="457200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Nuevos riesgos: documentos con permisos distintos e inyección indirecta a través del contenido recuperado.</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Agentes como carga de trabajo</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8869680"/>
              </a:tblGrid>
              <a:tr h="0">
                <a:tc>
                  <a:txBody>
                    <a:bodyPr/>
                    <a:lstStyle/>
                    <a:p>
                      <a:pPr indent="0" marL="0">
                        <a:buNone/>
                      </a:pPr>
                      <a:r>
                        <a:rPr lang="en-US" sz="1600" b="1" dirty="0">
                          <a:solidFill>
                            <a:srgbClr val="FFFFFF"/>
                          </a:solidFill>
                        </a:rPr>
                        <a:t>Cambio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Por qué importa a la infraestructura</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600" dirty="0">
                          <a:solidFill>
                            <a:srgbClr val="1B1F24"/>
                          </a:solidFill>
                        </a:rPr>
                        <a:t>Duración</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Una tarea puede tomar muchos pasos y minutos: los timeouts de chat no sirven</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600" dirty="0">
                          <a:solidFill>
                            <a:srgbClr val="1B1F24"/>
                          </a:solidFill>
                        </a:rPr>
                        <a:t>Estado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Memoria de sesión y, a veces, de largo plazo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24"/>
                          </a:solidFill>
                        </a:rPr>
                        <a:t>Identidad</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Actúa sobre sistemas reales: identidad propia con mínimo privilegio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600" dirty="0">
                          <a:solidFill>
                            <a:srgbClr val="1B1F24"/>
                          </a:solidFill>
                        </a:rPr>
                        <a:t>Costo variable</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Número de llamadas al modelo por solicitud no fijo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0624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20624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Por eso los tres proveedores ofrecen runtimes gestionados específicos para agentes (Unidad D).</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Puntos únicos de fallo y límites de escalabilidad</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Candidatos a punto único de fallo en D-06:</a:t>
            </a:r>
            <a:endParaRPr lang="en-US" sz="2000" dirty="0"/>
          </a:p>
          <a:p>
            <a:pPr lvl="1" marL="457200" indent="-228600">
              <a:spcAft>
                <a:spcPts val="800"/>
              </a:spcAft>
              <a:buSzPct val="100000"/>
              <a:buChar char="•"/>
            </a:pPr>
            <a:r>
              <a:rPr lang="en-US" sz="1700" dirty="0">
                <a:solidFill>
                  <a:schemeClr val="accent6"/>
                </a:solidFill>
              </a:rPr>
              <a:t>Gateway de modelos sin réplicas</a:t>
            </a:r>
            <a:endParaRPr lang="en-US" sz="2000" dirty="0"/>
          </a:p>
          <a:p>
            <a:pPr lvl="1" marL="457200" indent="-228600">
              <a:spcAft>
                <a:spcPts val="800"/>
              </a:spcAft>
              <a:buSzPct val="100000"/>
              <a:buChar char="•"/>
            </a:pPr>
            <a:r>
              <a:rPr lang="en-US" sz="1700" dirty="0">
                <a:solidFill>
                  <a:schemeClr val="accent6"/>
                </a:solidFill>
              </a:rPr>
              <a:t>Un solo proveedor o región de modelo</a:t>
            </a:r>
            <a:endParaRPr lang="en-US" sz="2000" dirty="0"/>
          </a:p>
          <a:p>
            <a:pPr lvl="1" marL="457200" indent="-228600">
              <a:spcAft>
                <a:spcPts val="800"/>
              </a:spcAft>
              <a:buSzPct val="100000"/>
              <a:buChar char="•"/>
            </a:pPr>
            <a:r>
              <a:rPr lang="en-US" sz="1700" dirty="0">
                <a:solidFill>
                  <a:schemeClr val="accent6"/>
                </a:solidFill>
              </a:rPr>
              <a:t>Vector store sin réplica multizona</a:t>
            </a:r>
            <a:endParaRPr lang="en-US" sz="2000" dirty="0"/>
          </a:p>
          <a:p>
            <a:pPr lvl="1" marL="457200" indent="-228600">
              <a:spcAft>
                <a:spcPts val="800"/>
              </a:spcAft>
              <a:buSzPct val="100000"/>
              <a:buChar char="•"/>
            </a:pPr>
            <a:r>
              <a:rPr lang="en-US" sz="1700" dirty="0">
                <a:solidFill>
                  <a:schemeClr val="accent6"/>
                </a:solidFill>
              </a:rPr>
              <a:t>Proveedor de identidad</a:t>
            </a:r>
            <a:endParaRPr lang="en-US" sz="2000" dirty="0"/>
          </a:p>
          <a:p>
            <a:pPr marL="342900" indent="-342900">
              <a:spcAft>
                <a:spcPts val="800"/>
              </a:spcAft>
              <a:buSzPct val="100000"/>
              <a:buChar char="•"/>
            </a:pPr>
            <a:r>
              <a:rPr lang="en-US" sz="2000" dirty="0">
                <a:solidFill>
                  <a:schemeClr val="tx1"/>
                </a:solidFill>
              </a:rPr>
              <a:t>Los límites más frecuentes son contractuales: cuotas TPM (tokens/min) y RPM del proveedor</a:t>
            </a:r>
            <a:endParaRPr lang="en-US" sz="2000" dirty="0"/>
          </a:p>
          <a:p>
            <a:pPr marL="342900" indent="-342900">
              <a:spcAft>
                <a:spcPts val="800"/>
              </a:spcAft>
              <a:buSzPct val="100000"/>
              <a:buChar char="•"/>
            </a:pPr>
            <a:r>
              <a:rPr lang="en-US" sz="2000" dirty="0">
                <a:solidFill>
                  <a:schemeClr val="tx1"/>
                </a:solidFill>
              </a:rPr>
              <a:t>Recomendación: documentar las cuotas como requisito no funcional, con alertas antes de alcanzarlas</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2 · Misma API, dos backends</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Backend FastAPI con contrato común: /v1/chat/stream (SSE), /readyz</a:t>
            </a:r>
            <a:endParaRPr lang="en-US" sz="2000" dirty="0"/>
          </a:p>
          <a:p>
            <a:pPr marL="342900" indent="-342900">
              <a:spcAft>
                <a:spcPts val="800"/>
              </a:spcAft>
              <a:buSzPct val="100000"/>
              <a:buChar char="•"/>
            </a:pPr>
            <a:r>
              <a:rPr lang="en-US" sz="2000" dirty="0">
                <a:solidFill>
                  <a:schemeClr val="tx1"/>
                </a:solidFill>
              </a:rPr>
              <a:t>Paso 1: proveedor = API nativa de Ollama</a:t>
            </a:r>
            <a:endParaRPr lang="en-US" sz="2000" dirty="0"/>
          </a:p>
          <a:p>
            <a:pPr marL="342900" indent="-342900">
              <a:spcAft>
                <a:spcPts val="800"/>
              </a:spcAft>
              <a:buSzPct val="100000"/>
              <a:buChar char="•"/>
            </a:pPr>
            <a:r>
              <a:rPr lang="en-US" sz="2000" dirty="0">
                <a:solidFill>
                  <a:schemeClr val="tx1"/>
                </a:solidFill>
              </a:rPr>
              <a:t>Paso 2: cambiar solo variables de entorno a un endpoint compatible con OpenAI (/v1)</a:t>
            </a:r>
            <a:endParaRPr lang="en-US" sz="2000" dirty="0"/>
          </a:p>
          <a:p>
            <a:pPr marL="342900" indent="-342900">
              <a:spcAft>
                <a:spcPts val="800"/>
              </a:spcAft>
              <a:buSzPct val="100000"/>
              <a:buChar char="•"/>
            </a:pPr>
            <a:r>
              <a:rPr lang="en-US" sz="2000" dirty="0">
                <a:solidFill>
                  <a:schemeClr val="tx1"/>
                </a:solidFill>
              </a:rPr>
              <a:t>El frontend, el contrato y las pruebas no cambian; cambia el adaptador</a:t>
            </a:r>
            <a:endParaRPr lang="en-US" sz="2000" dirty="0"/>
          </a:p>
          <a:p>
            <a:pPr marL="342900" indent="-342900">
              <a:spcAft>
                <a:spcPts val="800"/>
              </a:spcAft>
              <a:buSzPct val="100000"/>
              <a:buChar char="•"/>
            </a:pPr>
            <a:r>
              <a:rPr lang="en-US" sz="2000" dirty="0">
                <a:solidFill>
                  <a:schemeClr val="tx1"/>
                </a:solidFill>
              </a:rPr>
              <a:t>Lección: aislar el proveedor reduce la dependencia y facilita la comparación multicloud</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p>
            <a:pPr algn="l" indent="0" marL="0">
              <a:buNone/>
            </a:pPr>
            <a:r>
              <a:rPr lang="en-US" sz="3800" b="1" dirty="0">
                <a:solidFill>
                  <a:schemeClr val="bg1"/>
                </a:solidFill>
              </a:rPr>
              <a:t>Unidad C · Infraestructura</a:t>
            </a: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p>
            <a:pPr indent="0" marL="0">
              <a:buNone/>
            </a:pPr>
            <a:r>
              <a:rPr lang="en-US" sz="2000" dirty="0">
                <a:solidFill>
                  <a:schemeClr val="bg2"/>
                </a:solidFill>
              </a:rPr>
              <a:t>Si la universidad aloja su propio modelo, ¿cuánta GPU necesita y dónde se ubica en la red?</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CPU, GPU y jerarquía de memoria</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828800"/>
                <a:gridCol w="3931920"/>
                <a:gridCol w="5303520"/>
              </a:tblGrid>
              <a:tr h="0">
                <a:tc>
                  <a:txBody>
                    <a:bodyPr/>
                    <a:lstStyle/>
                    <a:p>
                      <a:pPr indent="0" marL="0">
                        <a:buNone/>
                      </a:pPr>
                      <a:r>
                        <a:rPr lang="en-US" sz="1500" b="1" dirty="0">
                          <a:solidFill>
                            <a:srgbClr val="FFFFFF"/>
                          </a:solidFill>
                        </a:rPr>
                        <a:t>Recurso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Fortaleza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Papel en inferencia LLM</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CPU</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Pocos núcleos potentes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Backend, tokenización, RAG; inferencia solo de modelos pequeños cuantizados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GPU</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Miles de unidades paralelas + VRAM de alto ancho de banda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Prefill y decode de modelos medianos y grandes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RAM</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Capacidad alta, menor ancho de banda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Inferencia en CPU, carga de pesos, offloading lento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Disco / objetos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Capacidad muy alta, lento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Guardar pesos; determina el arranque en frío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38912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38912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Límite superior con batch 1: tokens/s ≈ ancho de banda de memoria / tamaño de los pesos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Método de dimensionamiento de memoria</a:t>
            </a:r>
            <a:endParaRPr lang="en-US" sz="2800" dirty="0"/>
          </a:p>
        </p:txBody>
      </p:sp>
      <p:sp>
        <p:nvSpPr>
          <p:cNvPr id="3" name="Text 1"/>
          <p:cNvSpPr txBox="1"/>
          <p:nvPr/>
        </p:nvSpPr>
        <p:spPr>
          <a:xfrm>
            <a:off x="548640" y="1371600"/>
            <a:ext cx="11064240" cy="822960"/>
          </a:xfrm>
          <a:prstGeom prst="rect">
            <a:avLst/>
          </a:prstGeom>
          <a:noFill/>
          <a:ln/>
        </p:spPr>
        <p:txBody>
          <a:bodyPr wrap="square" rtlCol="0" anchor="ctr"/>
          <a:lstStyle/>
          <a:p>
            <a:pPr algn="ctr" indent="0" marL="0">
              <a:buNone/>
            </a:pPr>
            <a:r>
              <a:rPr lang="en-US" sz="2600" b="1" dirty="0">
                <a:solidFill>
                  <a:schemeClr val="accent1"/>
                </a:solidFill>
              </a:rPr>
              <a:t>M ≈ N × b  +  S × L × KV(bytes/token)  +  M runtime</a:t>
            </a:r>
            <a:endParaRPr lang="en-US" sz="2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64240" cy="914400"/>
        </p:xfrm>
        <a:graphic>
          <a:graphicData uri="http://schemas.openxmlformats.org/drawingml/2006/table">
            <a:tbl>
              <a:tblPr/>
              <a:tblGrid>
                <a:gridCol w="2377440"/>
                <a:gridCol w="8686800"/>
              </a:tblGrid>
              <a:tr h="0">
                <a:tc>
                  <a:txBody>
                    <a:bodyPr/>
                    <a:lstStyle/>
                    <a:p>
                      <a:pPr indent="0" marL="0">
                        <a:buNone/>
                      </a:pPr>
                      <a:r>
                        <a:rPr lang="en-US" sz="1500" b="1" dirty="0">
                          <a:solidFill>
                            <a:srgbClr val="FFFFFF"/>
                          </a:solidFill>
                        </a:rPr>
                        <a:t>Símbolo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Significado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N × 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Pesos: parámetros × bytes por parámetro (FP16 = 2, INT8 = 1, INT4 ≈ 0,5 + escalas)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Secuencias activas simultáneas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Tokens de contexto por secuencia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KV(bytes/token)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2 × capas × kv_heads × d_head × bytes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M runtime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Activaciones, buffers y fragmentación: margen del 10–20 %</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Ejemplo resuelto: el asistente universitario</a:t>
            </a:r>
            <a:endParaRPr lang="en-US" sz="2800" dirty="0"/>
          </a:p>
        </p:txBody>
      </p:sp>
      <p:sp>
        <p:nvSpPr>
          <p:cNvPr id="3" name="Text 1"/>
          <p:cNvSpPr txBox="1"/>
          <p:nvPr/>
        </p:nvSpPr>
        <p:spPr>
          <a:xfrm>
            <a:off x="548640" y="1280160"/>
            <a:ext cx="11064240" cy="14630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Supuestos: modelo de 8 B tipo Llama 3.1 8B (32 capas, 8 kv_heads, d_head 128)</a:t>
            </a:r>
            <a:endParaRPr lang="en-US" sz="1700" dirty="0"/>
          </a:p>
          <a:p>
            <a:pPr marL="342900" indent="-342900">
              <a:spcAft>
                <a:spcPts val="800"/>
              </a:spcAft>
              <a:buSzPct val="100000"/>
              <a:buChar char="•"/>
            </a:pPr>
            <a:r>
              <a:rPr lang="en-US" sz="1700" dirty="0">
                <a:solidFill>
                  <a:schemeClr val="tx1"/>
                </a:solidFill>
              </a:rPr>
              <a:t>25 % de 100 usuarios generando a la vez (S = 25) · L = 4.096 tokens · KV en FP16</a:t>
            </a:r>
            <a:endParaRPr lang="en-US" sz="1700" dirty="0"/>
          </a:p>
          <a:p>
            <a:pPr marL="342900" indent="-342900">
              <a:spcAft>
                <a:spcPts val="800"/>
              </a:spcAft>
              <a:buSzPct val="100000"/>
              <a:buChar char="•"/>
            </a:pPr>
            <a:r>
              <a:rPr lang="en-US" sz="1700" dirty="0">
                <a:solidFill>
                  <a:schemeClr val="tx1"/>
                </a:solidFill>
              </a:rPr>
              <a:t>KV/token = 2 × 32 × 8 × 128 × 2 B = 128 KiB · KV/secuencia = 512 MiB</a:t>
            </a:r>
            <a:endParaRPr lang="en-US" sz="1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2377440"/>
                <a:gridCol w="1463040"/>
                <a:gridCol w="1645920"/>
                <a:gridCol w="1463040"/>
                <a:gridCol w="1463040"/>
                <a:gridCol w="2651760"/>
              </a:tblGrid>
              <a:tr h="0">
                <a:tc>
                  <a:txBody>
                    <a:bodyPr/>
                    <a:lstStyle/>
                    <a:p>
                      <a:pPr indent="0" marL="0">
                        <a:buNone/>
                      </a:pPr>
                      <a:r>
                        <a:rPr lang="en-US" sz="1500" b="1" dirty="0">
                          <a:solidFill>
                            <a:srgbClr val="FFFFFF"/>
                          </a:solidFill>
                        </a:rPr>
                        <a:t>Escenario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Pesos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KV cache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Margen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Total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GPU que cabe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FP16 · 25 activas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~15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12,5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~4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~31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Una de 40–48 GB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INT4 · 25 activas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~4,5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12,5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~2,5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~20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Una de 24 GB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FP16 · 100 activas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~15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50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~10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~75 GiB</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Una de 80 GB o dos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5" name="Shape 2"/>
          <p:cNvSpPr/>
          <p:nvPr/>
        </p:nvSpPr>
        <p:spPr>
          <a:xfrm>
            <a:off x="548640" y="5029200"/>
            <a:ext cx="11064240" cy="548640"/>
          </a:xfrm>
          <a:prstGeom prst="rect">
            <a:avLst/>
          </a:prstGeom>
          <a:solidFill>
            <a:srgbClr val="D98E2B"/>
          </a:solidFill>
          <a:ln w="12700">
            <a:solidFill>
              <a:srgbClr val="D98E2B"/>
            </a:solidFill>
            <a:prstDash val="solid"/>
          </a:ln>
        </p:spPr>
      </p:sp>
      <p:sp>
        <p:nvSpPr>
          <p:cNvPr id="6" name="Text 3"/>
          <p:cNvSpPr txBox="1"/>
          <p:nvPr/>
        </p:nvSpPr>
        <p:spPr>
          <a:xfrm>
            <a:off x="685800" y="502920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Para 99,9 %: dos réplicas en zonas distintas → el doble de GPU. Ejemplo académico, no medición.</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Cuantización</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2560320"/>
                <a:gridCol w="2377440"/>
                <a:gridCol w="3931920"/>
              </a:tblGrid>
              <a:tr h="0">
                <a:tc>
                  <a:txBody>
                    <a:bodyPr/>
                    <a:lstStyle/>
                    <a:p>
                      <a:pPr indent="0" marL="0">
                        <a:buNone/>
                      </a:pPr>
                      <a:r>
                        <a:rPr lang="en-US" sz="1600" b="1" dirty="0">
                          <a:solidFill>
                            <a:srgbClr val="FFFFFF"/>
                          </a:solidFill>
                        </a:rPr>
                        <a:t>Precisión</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Bytes por parámetro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Modelo de 8 B</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Efecto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600" dirty="0">
                          <a:solidFill>
                            <a:srgbClr val="1B1F24"/>
                          </a:solidFill>
                        </a:rPr>
                        <a:t>FP16 / BF16</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2</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~15 GiB</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Referencia de calidad</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600" dirty="0">
                          <a:solidFill>
                            <a:srgbClr val="1B1F24"/>
                          </a:solidFill>
                        </a:rPr>
                        <a:t>INT8 / FP8</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1</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~7,5 GiB</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Menos memoria, decode más rápido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24"/>
                          </a:solidFill>
                        </a:rPr>
                        <a:t>INT4</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~0,5 + metadatos</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~4,5 GiB</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Permite CPU o GPU pequeñas; posible pérdida de calidad</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402336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02336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Trade-off: la pérdida de calidad depende del método, del modelo y de la tarea → medir con evaluación propia.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Red: dónde vive cada componente</a:t>
            </a:r>
            <a:endParaRPr lang="en-US" sz="2800" dirty="0"/>
          </a:p>
        </p:txBody>
      </p:sp>
      <p:sp>
        <p:nvSpPr>
          <p:cNvPr id="3" name="Shape 1"/>
          <p:cNvSpPr/>
          <p:nvPr/>
        </p:nvSpPr>
        <p:spPr>
          <a:xfrm>
            <a:off x="548640" y="1371600"/>
            <a:ext cx="11064240" cy="3931920"/>
          </a:xfrm>
          <a:prstGeom prst="roundRect">
            <a:avLst>
              <a:gd name="adj" fmla="val 1860"/>
            </a:avLst>
          </a:prstGeom>
          <a:solidFill>
            <a:srgbClr val="F8FAFC"/>
          </a:solidFill>
          <a:ln w="12700">
            <a:solidFill>
              <a:srgbClr val="1F6F9F"/>
            </a:solidFill>
            <a:prstDash val="solid"/>
          </a:ln>
        </p:spPr>
      </p:sp>
      <p:sp>
        <p:nvSpPr>
          <p:cNvPr id="4" name="Text 2"/>
          <p:cNvSpPr txBox="1"/>
          <p:nvPr/>
        </p:nvSpPr>
        <p:spPr>
          <a:xfrm>
            <a:off x="548640" y="1371600"/>
            <a:ext cx="11064240" cy="3931920"/>
          </a:xfrm>
          <a:prstGeom prst="rect">
            <a:avLst/>
          </a:prstGeom>
          <a:noFill/>
          <a:ln/>
        </p:spPr>
        <p:txBody>
          <a:bodyPr wrap="square" lIns="635" tIns="635" rIns="635" bIns="635" rtlCol="0" anchor="ctr"/>
          <a:lstStyle/>
          <a:p>
            <a:pPr algn="ctr" indent="0" marL="0">
              <a:buNone/>
            </a:pPr>
            <a:endParaRPr lang="en-US" sz="1300" dirty="0"/>
          </a:p>
        </p:txBody>
      </p:sp>
      <p:sp>
        <p:nvSpPr>
          <p:cNvPr id="5" name="Text 3"/>
          <p:cNvSpPr txBox="1"/>
          <p:nvPr/>
        </p:nvSpPr>
        <p:spPr>
          <a:xfrm>
            <a:off x="731520" y="1417320"/>
            <a:ext cx="4572000" cy="365760"/>
          </a:xfrm>
          <a:prstGeom prst="rect">
            <a:avLst/>
          </a:prstGeom>
          <a:noFill/>
          <a:ln/>
        </p:spPr>
        <p:txBody>
          <a:bodyPr wrap="square" rtlCol="0" anchor="ctr"/>
          <a:lstStyle/>
          <a:p>
            <a:pPr indent="0" marL="0">
              <a:buNone/>
            </a:pPr>
            <a:r>
              <a:rPr lang="en-US" sz="1400" b="1" dirty="0">
                <a:solidFill>
                  <a:schemeClr val="accent1"/>
                </a:solidFill>
              </a:rPr>
              <a:t>Red virtual (VPC / VNet)</a:t>
            </a:r>
            <a:endParaRPr lang="en-US" sz="1400" dirty="0"/>
          </a:p>
        </p:txBody>
      </p:sp>
      <p:sp>
        <p:nvSpPr>
          <p:cNvPr id="6" name="Shape 4"/>
          <p:cNvSpPr/>
          <p:nvPr/>
        </p:nvSpPr>
        <p:spPr>
          <a:xfrm>
            <a:off x="822960" y="1920240"/>
            <a:ext cx="3108960" cy="3108960"/>
          </a:xfrm>
          <a:prstGeom prst="roundRect">
            <a:avLst>
              <a:gd name="adj" fmla="val 2353"/>
            </a:avLst>
          </a:prstGeom>
          <a:solidFill>
            <a:srgbClr val="FFF4E0"/>
          </a:solidFill>
          <a:ln w="12700">
            <a:solidFill>
              <a:srgbClr val="1F6F9F"/>
            </a:solidFill>
            <a:prstDash val="solid"/>
          </a:ln>
        </p:spPr>
      </p:sp>
      <p:sp>
        <p:nvSpPr>
          <p:cNvPr id="7" name="Text 5"/>
          <p:cNvSpPr txBox="1"/>
          <p:nvPr/>
        </p:nvSpPr>
        <p:spPr>
          <a:xfrm>
            <a:off x="822960" y="1920240"/>
            <a:ext cx="3108960" cy="3108960"/>
          </a:xfrm>
          <a:prstGeom prst="rect">
            <a:avLst/>
          </a:prstGeom>
          <a:noFill/>
          <a:ln/>
        </p:spPr>
        <p:txBody>
          <a:bodyPr wrap="square" lIns="635" tIns="635" rIns="635" bIns="635" rtlCol="0" anchor="ctr"/>
          <a:lstStyle/>
          <a:p>
            <a:pPr algn="ctr" indent="0" marL="0">
              <a:buNone/>
            </a:pPr>
            <a:r>
              <a:rPr lang="en-US" sz="1300" dirty="0">
                <a:solidFill>
                  <a:srgbClr val="1B1F24"/>
                </a:solidFill>
              </a:rPr>
              <a:t>Subred pública</a:t>
            </a:r>
            <a:endParaRPr lang="en-US" sz="1300" dirty="0"/>
          </a:p>
          <a:p>
            <a:pPr algn="ctr" indent="0" marL="0">
              <a:buNone/>
            </a:pPr>
            <a:endParaRPr lang="en-US" sz="1300" dirty="0"/>
          </a:p>
          <a:p>
            <a:pPr algn="ctr" indent="0" marL="0">
              <a:buNone/>
            </a:pPr>
            <a:r>
              <a:rPr lang="en-US" sz="1300" dirty="0">
                <a:solidFill>
                  <a:srgbClr val="1B1F24"/>
                </a:solidFill>
              </a:rPr>
              <a:t>Balanceador L7</a:t>
            </a:r>
            <a:endParaRPr lang="en-US" sz="1300" dirty="0"/>
          </a:p>
          <a:p>
            <a:pPr algn="ctr" indent="0" marL="0">
              <a:buNone/>
            </a:pPr>
            <a:r>
              <a:rPr lang="en-US" sz="1300" dirty="0">
                <a:solidFill>
                  <a:srgbClr val="1B1F24"/>
                </a:solidFill>
              </a:rPr>
              <a:t>API Gateway / WAF</a:t>
            </a:r>
            <a:endParaRPr lang="en-US" sz="1300" dirty="0"/>
          </a:p>
        </p:txBody>
      </p:sp>
      <p:sp>
        <p:nvSpPr>
          <p:cNvPr id="8" name="Shape 6"/>
          <p:cNvSpPr/>
          <p:nvPr/>
        </p:nvSpPr>
        <p:spPr>
          <a:xfrm>
            <a:off x="4389120" y="1920240"/>
            <a:ext cx="3291840" cy="3108960"/>
          </a:xfrm>
          <a:prstGeom prst="roundRect">
            <a:avLst>
              <a:gd name="adj" fmla="val 2353"/>
            </a:avLst>
          </a:prstGeom>
          <a:solidFill>
            <a:srgbClr val="DCEAF4"/>
          </a:solidFill>
          <a:ln w="12700">
            <a:solidFill>
              <a:srgbClr val="1F6F9F"/>
            </a:solidFill>
            <a:prstDash val="solid"/>
          </a:ln>
        </p:spPr>
      </p:sp>
      <p:sp>
        <p:nvSpPr>
          <p:cNvPr id="9" name="Text 7"/>
          <p:cNvSpPr txBox="1"/>
          <p:nvPr/>
        </p:nvSpPr>
        <p:spPr>
          <a:xfrm>
            <a:off x="4389120" y="1920240"/>
            <a:ext cx="3291840" cy="3108960"/>
          </a:xfrm>
          <a:prstGeom prst="rect">
            <a:avLst/>
          </a:prstGeom>
          <a:noFill/>
          <a:ln/>
        </p:spPr>
        <p:txBody>
          <a:bodyPr wrap="square" lIns="635" tIns="635" rIns="635" bIns="635" rtlCol="0" anchor="ctr"/>
          <a:lstStyle/>
          <a:p>
            <a:pPr algn="ctr" indent="0" marL="0">
              <a:buNone/>
            </a:pPr>
            <a:r>
              <a:rPr lang="en-US" sz="1300" dirty="0">
                <a:solidFill>
                  <a:srgbClr val="1B1F24"/>
                </a:solidFill>
              </a:rPr>
              <a:t>Subred privada</a:t>
            </a:r>
            <a:endParaRPr lang="en-US" sz="1300" dirty="0"/>
          </a:p>
          <a:p>
            <a:pPr algn="ctr" indent="0" marL="0">
              <a:buNone/>
            </a:pPr>
            <a:endParaRPr lang="en-US" sz="1300" dirty="0"/>
          </a:p>
          <a:p>
            <a:pPr algn="ctr" indent="0" marL="0">
              <a:buNone/>
            </a:pPr>
            <a:r>
              <a:rPr lang="en-US" sz="1300" dirty="0">
                <a:solidFill>
                  <a:srgbClr val="1B1F24"/>
                </a:solidFill>
              </a:rPr>
              <a:t>Backend</a:t>
            </a:r>
            <a:endParaRPr lang="en-US" sz="1300" dirty="0"/>
          </a:p>
          <a:p>
            <a:pPr algn="ctr" indent="0" marL="0">
              <a:buNone/>
            </a:pPr>
            <a:r>
              <a:rPr lang="en-US" sz="1300" dirty="0">
                <a:solidFill>
                  <a:srgbClr val="1B1F24"/>
                </a:solidFill>
              </a:rPr>
              <a:t>Serving / GPU</a:t>
            </a:r>
            <a:endParaRPr lang="en-US" sz="1300" dirty="0"/>
          </a:p>
          <a:p>
            <a:pPr algn="ctr" indent="0" marL="0">
              <a:buNone/>
            </a:pPr>
            <a:r>
              <a:rPr lang="en-US" sz="1300" dirty="0">
                <a:solidFill>
                  <a:srgbClr val="1B1F24"/>
                </a:solidFill>
              </a:rPr>
              <a:t>Vector store</a:t>
            </a:r>
            <a:endParaRPr lang="en-US" sz="1300" dirty="0"/>
          </a:p>
        </p:txBody>
      </p:sp>
      <p:sp>
        <p:nvSpPr>
          <p:cNvPr id="10" name="Shape 8"/>
          <p:cNvSpPr/>
          <p:nvPr/>
        </p:nvSpPr>
        <p:spPr>
          <a:xfrm>
            <a:off x="8138160" y="1920240"/>
            <a:ext cx="3200400" cy="1371600"/>
          </a:xfrm>
          <a:prstGeom prst="roundRect">
            <a:avLst>
              <a:gd name="adj" fmla="val 5333"/>
            </a:avLst>
          </a:prstGeom>
          <a:solidFill>
            <a:srgbClr val="E3F2EF"/>
          </a:solidFill>
          <a:ln w="12700">
            <a:solidFill>
              <a:srgbClr val="1F6F9F"/>
            </a:solidFill>
            <a:prstDash val="solid"/>
          </a:ln>
        </p:spPr>
      </p:sp>
      <p:sp>
        <p:nvSpPr>
          <p:cNvPr id="11" name="Text 9"/>
          <p:cNvSpPr txBox="1"/>
          <p:nvPr/>
        </p:nvSpPr>
        <p:spPr>
          <a:xfrm>
            <a:off x="8138160" y="1920240"/>
            <a:ext cx="320040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Endpoints privados</a:t>
            </a:r>
            <a:endParaRPr lang="en-US" sz="1300" dirty="0"/>
          </a:p>
          <a:p>
            <a:pPr algn="ctr" indent="0" marL="0">
              <a:buNone/>
            </a:pPr>
            <a:r>
              <a:rPr lang="en-US" sz="1300" dirty="0">
                <a:solidFill>
                  <a:srgbClr val="1B1F24"/>
                </a:solidFill>
              </a:rPr>
              <a:t>API de modelos gestionada</a:t>
            </a:r>
            <a:endParaRPr lang="en-US" sz="1300" dirty="0"/>
          </a:p>
        </p:txBody>
      </p:sp>
      <p:sp>
        <p:nvSpPr>
          <p:cNvPr id="12" name="Shape 10"/>
          <p:cNvSpPr/>
          <p:nvPr/>
        </p:nvSpPr>
        <p:spPr>
          <a:xfrm>
            <a:off x="8138160" y="3657600"/>
            <a:ext cx="3200400" cy="1371600"/>
          </a:xfrm>
          <a:prstGeom prst="roundRect">
            <a:avLst>
              <a:gd name="adj" fmla="val 5333"/>
            </a:avLst>
          </a:prstGeom>
          <a:solidFill>
            <a:srgbClr val="F2F4F6"/>
          </a:solidFill>
          <a:ln w="12700">
            <a:solidFill>
              <a:srgbClr val="1F6F9F"/>
            </a:solidFill>
            <a:prstDash val="solid"/>
          </a:ln>
        </p:spPr>
      </p:sp>
      <p:sp>
        <p:nvSpPr>
          <p:cNvPr id="13" name="Text 11"/>
          <p:cNvSpPr txBox="1"/>
          <p:nvPr/>
        </p:nvSpPr>
        <p:spPr>
          <a:xfrm>
            <a:off x="8138160" y="3657600"/>
            <a:ext cx="3200400"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NAT</a:t>
            </a:r>
            <a:endParaRPr lang="en-US" sz="1300" dirty="0"/>
          </a:p>
          <a:p>
            <a:pPr algn="ctr" indent="0" marL="0">
              <a:buNone/>
            </a:pPr>
            <a:r>
              <a:rPr lang="en-US" sz="1300" dirty="0">
                <a:solidFill>
                  <a:srgbClr val="1B1F24"/>
                </a:solidFill>
              </a:rPr>
              <a:t>salida controlada</a:t>
            </a:r>
            <a:endParaRPr lang="en-US" sz="1300" dirty="0"/>
          </a:p>
        </p:txBody>
      </p:sp>
      <p:sp>
        <p:nvSpPr>
          <p:cNvPr id="14" name="Shape 12"/>
          <p:cNvSpPr/>
          <p:nvPr/>
        </p:nvSpPr>
        <p:spPr>
          <a:xfrm>
            <a:off x="3931920" y="3474720"/>
            <a:ext cx="457200" cy="914"/>
          </a:xfrm>
          <a:prstGeom prst="line">
            <a:avLst/>
          </a:prstGeom>
          <a:noFill/>
          <a:ln w="19050">
            <a:solidFill>
              <a:srgbClr val="7A8794"/>
            </a:solidFill>
            <a:prstDash val="solid"/>
            <a:tailEnd type="triangle"/>
          </a:ln>
        </p:spPr>
      </p:sp>
      <p:sp>
        <p:nvSpPr>
          <p:cNvPr id="15" name="Shape 13"/>
          <p:cNvSpPr/>
          <p:nvPr/>
        </p:nvSpPr>
        <p:spPr>
          <a:xfrm>
            <a:off x="7680960" y="2606040"/>
            <a:ext cx="457200" cy="914"/>
          </a:xfrm>
          <a:prstGeom prst="line">
            <a:avLst/>
          </a:prstGeom>
          <a:noFill/>
          <a:ln w="19050">
            <a:solidFill>
              <a:srgbClr val="7A8794"/>
            </a:solidFill>
            <a:prstDash val="solid"/>
            <a:tailEnd type="triangle"/>
          </a:ln>
        </p:spPr>
      </p:sp>
      <p:sp>
        <p:nvSpPr>
          <p:cNvPr id="16" name="Shape 14"/>
          <p:cNvSpPr/>
          <p:nvPr/>
        </p:nvSpPr>
        <p:spPr>
          <a:xfrm>
            <a:off x="7680960" y="4343400"/>
            <a:ext cx="457200" cy="914"/>
          </a:xfrm>
          <a:prstGeom prst="line">
            <a:avLst/>
          </a:prstGeom>
          <a:noFill/>
          <a:ln w="19050">
            <a:solidFill>
              <a:srgbClr val="7A8794"/>
            </a:solidFill>
            <a:prstDash val="solid"/>
            <a:tailEnd type="triangle"/>
          </a:ln>
        </p:spPr>
      </p:sp>
      <p:sp>
        <p:nvSpPr>
          <p:cNvPr id="17" name="Shape 15"/>
          <p:cNvSpPr/>
          <p:nvPr/>
        </p:nvSpPr>
        <p:spPr>
          <a:xfrm>
            <a:off x="548640" y="5486400"/>
            <a:ext cx="11064240" cy="548640"/>
          </a:xfrm>
          <a:prstGeom prst="rect">
            <a:avLst/>
          </a:prstGeom>
          <a:solidFill>
            <a:srgbClr val="2E9C8A"/>
          </a:solidFill>
          <a:ln w="12700">
            <a:solidFill>
              <a:srgbClr val="2E9C8A"/>
            </a:solidFill>
            <a:prstDash val="solid"/>
          </a:ln>
        </p:spPr>
      </p:sp>
      <p:sp>
        <p:nvSpPr>
          <p:cNvPr id="18" name="Text 16"/>
          <p:cNvSpPr txBox="1"/>
          <p:nvPr/>
        </p:nvSpPr>
        <p:spPr>
          <a:xfrm>
            <a:off x="685800" y="548640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Ajustar timeouts de inactividad del balanceador para streaming.</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Almacenamiento y vector stores</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3749040"/>
                <a:gridCol w="4297680"/>
              </a:tblGrid>
              <a:tr h="0">
                <a:tc>
                  <a:txBody>
                    <a:bodyPr/>
                    <a:lstStyle/>
                    <a:p>
                      <a:pPr indent="0" marL="0">
                        <a:buNone/>
                      </a:pPr>
                      <a:r>
                        <a:rPr lang="en-US" sz="1400" b="1" dirty="0">
                          <a:solidFill>
                            <a:srgbClr val="FFFFFF"/>
                          </a:solidFill>
                        </a:rPr>
                        <a:t>Tipo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Contenido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Consideración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Almacenamiento de objetos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Documentos fuente; pesos en self-hosting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Versionado, permisos; tamaño de pesos = arranque en frío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Volúmenes de bloque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Caché local de pesos en nodos GPU</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Acelera arranque; atado a la zona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Vector store dedicado o búsqueda gestionada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Embeddings e índice semántico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Escala, búsqueda híbrida; otro servicio que operar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Extensión vectorial (pgvector)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Embeddings con metadatos y permisos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Simple si ya existe PostgreSQL; evaluar escala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48056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48056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Para el caso: priorizar el filtrado por permisos sobre el rendimiento bruto de búsqueda.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Docker, Kubernetes y serverless</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286000"/>
                <a:gridCol w="2926080"/>
                <a:gridCol w="2926080"/>
                <a:gridCol w="2926080"/>
              </a:tblGrid>
              <a:tr h="0">
                <a:tc>
                  <a:txBody>
                    <a:bodyPr/>
                    <a:lstStyle/>
                    <a:p>
                      <a:pPr indent="0" marL="0">
                        <a:buNone/>
                      </a:pPr>
                      <a:r>
                        <a:rPr lang="en-US" sz="1400" b="1" dirty="0">
                          <a:solidFill>
                            <a:srgbClr val="FFFFFF"/>
                          </a:solidFill>
                        </a:rPr>
                        <a:t>Criterio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Contenedores serverless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Kubernetes gestionado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Funciones serverless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Carga operativa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Baja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Alta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Muy baja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Escalado a cero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Sí, con arranque en frío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Posible con componentes adicionales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Sí</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GPU</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En algunos servicios y regiones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Sí, con mayor control</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No para modelos medianos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Duración de solicitudes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Limitada por el servicio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Sin límite propio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Limitada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Adecuado para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Backend; modelos pequeños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Plataforma de varios modelos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Ingesta por eventos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493776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93776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Docker es la unidad común: el mismo contenedor corre en el portátil, en serverless o en Kubernetes.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Alta disponibilidad y despliegue multizona</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926080"/>
                <a:gridCol w="5852160"/>
                <a:gridCol w="2286000"/>
              </a:tblGrid>
              <a:tr h="0">
                <a:tc>
                  <a:txBody>
                    <a:bodyPr/>
                    <a:lstStyle/>
                    <a:p>
                      <a:pPr indent="0" marL="0">
                        <a:buNone/>
                      </a:pPr>
                      <a:r>
                        <a:rPr lang="en-US" sz="1500" b="1" dirty="0">
                          <a:solidFill>
                            <a:srgbClr val="FFFFFF"/>
                          </a:solidFill>
                        </a:rPr>
                        <a:t>Componente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Estrategia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Costo relativo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Backend sin estado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Réplicas en varias zonas detrás del balanceador</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Bajo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Serving propio con GPU</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Al menos dos réplicas en zonas distintas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Alto: duplica GPU</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API de modelos gestionada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Redundancia del proveedor; modelo o región de respaldo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Bajo en infraestructura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Vector store y estado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Servicio con réplicas multizona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Medio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0624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420624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99,9 % mensual ≈ 43 minutos de indisponibilidad: menos que una falla típica de zona.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Dos topologías de referencia para el caso</a:t>
            </a:r>
            <a:endParaRPr lang="en-US" sz="2800" dirty="0"/>
          </a:p>
        </p:txBody>
      </p:sp>
      <p:sp>
        <p:nvSpPr>
          <p:cNvPr id="3" name="Shape 1"/>
          <p:cNvSpPr/>
          <p:nvPr/>
        </p:nvSpPr>
        <p:spPr>
          <a:xfrm>
            <a:off x="548640" y="1371600"/>
            <a:ext cx="5303520" cy="4023360"/>
          </a:xfrm>
          <a:prstGeom prst="roundRect">
            <a:avLst>
              <a:gd name="adj" fmla="val 1818"/>
            </a:avLst>
          </a:prstGeom>
          <a:solidFill>
            <a:srgbClr val="DCEAF4"/>
          </a:solidFill>
          <a:ln w="12700">
            <a:solidFill>
              <a:srgbClr val="1F6F9F"/>
            </a:solidFill>
            <a:prstDash val="solid"/>
          </a:ln>
        </p:spPr>
      </p:sp>
      <p:sp>
        <p:nvSpPr>
          <p:cNvPr id="4" name="Text 2"/>
          <p:cNvSpPr txBox="1"/>
          <p:nvPr/>
        </p:nvSpPr>
        <p:spPr>
          <a:xfrm>
            <a:off x="548640" y="1371600"/>
            <a:ext cx="5303520" cy="4023360"/>
          </a:xfrm>
          <a:prstGeom prst="rect">
            <a:avLst/>
          </a:prstGeom>
          <a:noFill/>
          <a:ln/>
        </p:spPr>
        <p:txBody>
          <a:bodyPr wrap="square" lIns="635" tIns="635" rIns="635" bIns="635" rtlCol="0" anchor="ctr"/>
          <a:lstStyle/>
          <a:p>
            <a:pPr algn="ctr" indent="0" marL="0">
              <a:buNone/>
            </a:pPr>
            <a:endParaRPr lang="en-US" sz="1300" dirty="0"/>
          </a:p>
        </p:txBody>
      </p:sp>
      <p:sp>
        <p:nvSpPr>
          <p:cNvPr id="5" name="Text 3"/>
          <p:cNvSpPr txBox="1"/>
          <p:nvPr/>
        </p:nvSpPr>
        <p:spPr>
          <a:xfrm>
            <a:off x="731520" y="1463040"/>
            <a:ext cx="4937760" cy="3840480"/>
          </a:xfrm>
          <a:prstGeom prst="rect">
            <a:avLst/>
          </a:prstGeom>
          <a:noFill/>
          <a:ln/>
        </p:spPr>
        <p:txBody>
          <a:bodyPr wrap="square" rtlCol="0" anchor="t"/>
          <a:lstStyle/>
          <a:p>
            <a:pPr indent="0" marL="0">
              <a:buNone/>
            </a:pPr>
            <a:r>
              <a:rPr lang="en-US" sz="2000" b="1" dirty="0">
                <a:solidFill>
                  <a:schemeClr val="accent1"/>
                </a:solidFill>
              </a:rPr>
              <a:t>A · Gestionada</a:t>
            </a:r>
            <a:endParaRPr lang="en-US" sz="2000" dirty="0"/>
          </a:p>
          <a:p>
            <a:pPr indent="0" marL="0">
              <a:buNone/>
            </a:pPr>
            <a:r>
              <a:rPr lang="en-US" sz="1500" dirty="0">
                <a:solidFill>
                  <a:srgbClr val="000000"/>
                </a:solidFill>
              </a:rPr>
              <a:t>Gateway + backend en contenedores serverless multizona</a:t>
            </a:r>
            <a:endParaRPr lang="en-US" sz="2000" dirty="0"/>
          </a:p>
          <a:p>
            <a:pPr indent="0" marL="0">
              <a:buNone/>
            </a:pPr>
            <a:r>
              <a:rPr lang="en-US" sz="1500" dirty="0">
                <a:solidFill>
                  <a:srgbClr val="000000"/>
                </a:solidFill>
              </a:rPr>
              <a:t>API de modelos gestionada vía endpoint privado</a:t>
            </a:r>
            <a:endParaRPr lang="en-US" sz="2000" dirty="0"/>
          </a:p>
          <a:p>
            <a:pPr indent="0" marL="0">
              <a:buNone/>
            </a:pPr>
            <a:r>
              <a:rPr lang="en-US" sz="1500" dirty="0">
                <a:solidFill>
                  <a:srgbClr val="000000"/>
                </a:solidFill>
              </a:rPr>
              <a:t>Búsqueda vectorial gestionada con filtros por permisos</a:t>
            </a:r>
            <a:endParaRPr lang="en-US" sz="2000" dirty="0"/>
          </a:p>
          <a:p>
            <a:pPr indent="0" marL="0">
              <a:buNone/>
            </a:pPr>
            <a:r>
              <a:rPr lang="en-US" sz="1500" dirty="0">
                <a:solidFill>
                  <a:srgbClr val="000000"/>
                </a:solidFill>
              </a:rPr>
              <a:t>Identidad institucional + identidades gestionadas</a:t>
            </a:r>
            <a:endParaRPr lang="en-US" sz="2000" dirty="0"/>
          </a:p>
          <a:p>
            <a:pPr indent="0" marL="0">
              <a:buNone/>
            </a:pPr>
            <a:endParaRPr lang="en-US" sz="2000" dirty="0"/>
          </a:p>
          <a:p>
            <a:pPr indent="0" marL="0">
              <a:buNone/>
            </a:pPr>
            <a:r>
              <a:rPr lang="en-US" sz="1500" dirty="0">
                <a:solidFill>
                  <a:srgbClr val="000000"/>
                </a:solidFill>
              </a:rPr>
              <a:t>Menor operación · costo variable · dependencia del proveedor</a:t>
            </a:r>
            <a:endParaRPr lang="en-US" sz="2000" dirty="0"/>
          </a:p>
        </p:txBody>
      </p:sp>
      <p:sp>
        <p:nvSpPr>
          <p:cNvPr id="6" name="Shape 4"/>
          <p:cNvSpPr/>
          <p:nvPr/>
        </p:nvSpPr>
        <p:spPr>
          <a:xfrm>
            <a:off x="6309360" y="1371600"/>
            <a:ext cx="5303520" cy="4023360"/>
          </a:xfrm>
          <a:prstGeom prst="roundRect">
            <a:avLst>
              <a:gd name="adj" fmla="val 1818"/>
            </a:avLst>
          </a:prstGeom>
          <a:solidFill>
            <a:srgbClr val="F2F4F6"/>
          </a:solidFill>
          <a:ln w="12700">
            <a:solidFill>
              <a:srgbClr val="1F6F9F"/>
            </a:solidFill>
            <a:prstDash val="solid"/>
          </a:ln>
        </p:spPr>
      </p:sp>
      <p:sp>
        <p:nvSpPr>
          <p:cNvPr id="7" name="Text 5"/>
          <p:cNvSpPr txBox="1"/>
          <p:nvPr/>
        </p:nvSpPr>
        <p:spPr>
          <a:xfrm>
            <a:off x="6309360" y="1371600"/>
            <a:ext cx="5303520" cy="4023360"/>
          </a:xfrm>
          <a:prstGeom prst="rect">
            <a:avLst/>
          </a:prstGeom>
          <a:noFill/>
          <a:ln/>
        </p:spPr>
        <p:txBody>
          <a:bodyPr wrap="square" lIns="635" tIns="635" rIns="635" bIns="635" rtlCol="0" anchor="ctr"/>
          <a:lstStyle/>
          <a:p>
            <a:pPr algn="ctr" indent="0" marL="0">
              <a:buNone/>
            </a:pPr>
            <a:endParaRPr lang="en-US" sz="1300" dirty="0"/>
          </a:p>
        </p:txBody>
      </p:sp>
      <p:sp>
        <p:nvSpPr>
          <p:cNvPr id="8" name="Text 6"/>
          <p:cNvSpPr txBox="1"/>
          <p:nvPr/>
        </p:nvSpPr>
        <p:spPr>
          <a:xfrm>
            <a:off x="6492240" y="1463040"/>
            <a:ext cx="4937760" cy="3840480"/>
          </a:xfrm>
          <a:prstGeom prst="rect">
            <a:avLst/>
          </a:prstGeom>
          <a:noFill/>
          <a:ln/>
        </p:spPr>
        <p:txBody>
          <a:bodyPr wrap="square" rtlCol="0" anchor="t"/>
          <a:lstStyle/>
          <a:p>
            <a:pPr indent="0" marL="0">
              <a:buNone/>
            </a:pPr>
            <a:r>
              <a:rPr lang="en-US" sz="2000" b="1" dirty="0">
                <a:solidFill>
                  <a:schemeClr val="accent1"/>
                </a:solidFill>
              </a:rPr>
              <a:t>B · Self-hosted</a:t>
            </a:r>
            <a:endParaRPr lang="en-US" sz="2000" dirty="0"/>
          </a:p>
          <a:p>
            <a:pPr indent="0" marL="0">
              <a:buNone/>
            </a:pPr>
            <a:r>
              <a:rPr lang="en-US" sz="1500" dirty="0">
                <a:solidFill>
                  <a:srgbClr val="000000"/>
                </a:solidFill>
              </a:rPr>
              <a:t>Kubernetes con nodos GPU en dos zonas</a:t>
            </a:r>
            <a:endParaRPr lang="en-US" sz="2000" dirty="0"/>
          </a:p>
          <a:p>
            <a:pPr indent="0" marL="0">
              <a:buNone/>
            </a:pPr>
            <a:r>
              <a:rPr lang="en-US" sz="1500" dirty="0">
                <a:solidFill>
                  <a:srgbClr val="000000"/>
                </a:solidFill>
              </a:rPr>
              <a:t>Modelo open-weight con motor de serving propio</a:t>
            </a:r>
            <a:endParaRPr lang="en-US" sz="2000" dirty="0"/>
          </a:p>
          <a:p>
            <a:pPr indent="0" marL="0">
              <a:buNone/>
            </a:pPr>
            <a:r>
              <a:rPr lang="en-US" sz="1500" dirty="0">
                <a:solidFill>
                  <a:srgbClr val="000000"/>
                </a:solidFill>
              </a:rPr>
              <a:t>pgvector o vector store en la red privada</a:t>
            </a:r>
            <a:endParaRPr lang="en-US" sz="2000" dirty="0"/>
          </a:p>
          <a:p>
            <a:pPr indent="0" marL="0">
              <a:buNone/>
            </a:pPr>
            <a:r>
              <a:rPr lang="en-US" sz="1500" dirty="0">
                <a:solidFill>
                  <a:srgbClr val="000000"/>
                </a:solidFill>
              </a:rPr>
              <a:t>Observabilidad y autoscaling por cola</a:t>
            </a:r>
            <a:endParaRPr lang="en-US" sz="2000" dirty="0"/>
          </a:p>
          <a:p>
            <a:pPr indent="0" marL="0">
              <a:buNone/>
            </a:pPr>
            <a:endParaRPr lang="en-US" sz="2000" dirty="0"/>
          </a:p>
          <a:p>
            <a:pPr indent="0" marL="0">
              <a:buNone/>
            </a:pPr>
            <a:r>
              <a:rPr lang="en-US" sz="1500" dirty="0">
                <a:solidFill>
                  <a:srgbClr val="000000"/>
                </a:solidFill>
              </a:rPr>
              <a:t>Más control · costo fijo · equipo de plataforma</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p>
            <a:pPr algn="l" indent="0" marL="0">
              <a:buNone/>
            </a:pPr>
            <a:r>
              <a:rPr lang="en-US" sz="3800" b="1" dirty="0">
                <a:solidFill>
                  <a:schemeClr val="bg1"/>
                </a:solidFill>
              </a:rPr>
              <a:t>Unidad D · Comparación multicloud</a:t>
            </a: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p>
            <a:pPr indent="0" marL="0">
              <a:buNone/>
            </a:pPr>
            <a:r>
              <a:rPr lang="en-US" sz="2000" dirty="0">
                <a:solidFill>
                  <a:schemeClr val="bg2"/>
                </a:solidFill>
              </a:rPr>
              <a:t>Comparar por categoría de servicio, no por catálogo de productos. Ninguna nube es ganadora en abstracto.</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Mapa de categorías de servicio (13-oct-2026)</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60320"/>
                <a:gridCol w="2743200"/>
                <a:gridCol w="2743200"/>
                <a:gridCol w="3017520"/>
              </a:tblGrid>
              <a:tr h="0">
                <a:tc>
                  <a:txBody>
                    <a:bodyPr/>
                    <a:lstStyle/>
                    <a:p>
                      <a:pPr indent="0" marL="0">
                        <a:buNone/>
                      </a:pPr>
                      <a:r>
                        <a:rPr lang="en-US" sz="1100" b="1" dirty="0">
                          <a:solidFill>
                            <a:srgbClr val="FFFFFF"/>
                          </a:solidFill>
                        </a:rPr>
                        <a:t>Categoría</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100" b="1" dirty="0">
                          <a:solidFill>
                            <a:srgbClr val="FFFFFF"/>
                          </a:solidFill>
                        </a:rPr>
                        <a:t>AWS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100" b="1" dirty="0">
                          <a:solidFill>
                            <a:srgbClr val="FFFFFF"/>
                          </a:solidFill>
                        </a:rPr>
                        <a:t>Microsoft Azure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100" b="1" dirty="0">
                          <a:solidFill>
                            <a:srgbClr val="FFFFFF"/>
                          </a:solidFill>
                        </a:rPr>
                        <a:t>Google Cloud</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100" dirty="0">
                          <a:solidFill>
                            <a:srgbClr val="1B1F24"/>
                          </a:solidFill>
                        </a:rPr>
                        <a:t>Plataforma de modelos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Amazon Bedrock</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Microsoft Foundry</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Gemini Enterprise Agent Platform (antes Vertex AI)</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Runtime gestionado de agentes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Bedrock AgentCore Runtime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Foundry Agent Service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Agent Engine / Agent Runtime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SDK de agentes del proveedor</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Strands Agents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Microsoft Agent Framework 1.x</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Agent Development Kit (ADK)</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Contenedores serverless con GPU</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ECS/EKS con instancias GPU</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Azure Container Apps (GPU)</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Cloud Run (GPU L4)</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Kubernetes gestionado</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Amazon EKS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AKS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GKE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RAG / vectores gestionados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Knowledge Bases + S3 Vectors / OpenSearch</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Azure AI Search</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Vector Search; AlloyDB/Cloud SQL + pgvector</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Identidad de cargas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Roles de IAM</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Identidades gestionadas (Entra ID)</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Cuentas de servicio + Workload Identity</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Guardrails gestionados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Bedrock Guardrails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Azure AI Content Safety</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Model Armor</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Observabilidad</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CloudWatch + AgentCore Observability</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Azure Monitor + App Insights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Cloud Logging / Monitoring / Trace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Google Cloud: arquitectura de referencia del caso</a:t>
            </a:r>
            <a:endParaRPr lang="en-US" sz="2800" dirty="0"/>
          </a:p>
        </p:txBody>
      </p:sp>
      <p:sp>
        <p:nvSpPr>
          <p:cNvPr id="3" name="Shape 1"/>
          <p:cNvSpPr/>
          <p:nvPr/>
        </p:nvSpPr>
        <p:spPr>
          <a:xfrm>
            <a:off x="548640" y="1645920"/>
            <a:ext cx="2560320" cy="1097280"/>
          </a:xfrm>
          <a:prstGeom prst="roundRect">
            <a:avLst>
              <a:gd name="adj" fmla="val 6667"/>
            </a:avLst>
          </a:prstGeom>
          <a:solidFill>
            <a:srgbClr val="DCEAF4"/>
          </a:solidFill>
          <a:ln w="12700">
            <a:solidFill>
              <a:srgbClr val="1F6F9F"/>
            </a:solidFill>
            <a:prstDash val="solid"/>
          </a:ln>
        </p:spPr>
      </p:sp>
      <p:sp>
        <p:nvSpPr>
          <p:cNvPr id="4" name="Text 2"/>
          <p:cNvSpPr txBox="1"/>
          <p:nvPr/>
        </p:nvSpPr>
        <p:spPr>
          <a:xfrm>
            <a:off x="54864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Usuario</a:t>
            </a:r>
            <a:endParaRPr lang="en-US" sz="1300" dirty="0"/>
          </a:p>
          <a:p>
            <a:pPr algn="ctr" indent="0" marL="0">
              <a:buNone/>
            </a:pPr>
            <a:r>
              <a:rPr lang="en-US" sz="1300" dirty="0">
                <a:solidFill>
                  <a:srgbClr val="1B1F24"/>
                </a:solidFill>
              </a:rPr>
              <a:t>Identidad institucional</a:t>
            </a:r>
            <a:endParaRPr lang="en-US" sz="1300" dirty="0"/>
          </a:p>
        </p:txBody>
      </p:sp>
      <p:sp>
        <p:nvSpPr>
          <p:cNvPr id="5" name="Shape 3"/>
          <p:cNvSpPr/>
          <p:nvPr/>
        </p:nvSpPr>
        <p:spPr>
          <a:xfrm>
            <a:off x="3108960" y="2194560"/>
            <a:ext cx="274320" cy="914"/>
          </a:xfrm>
          <a:prstGeom prst="line">
            <a:avLst/>
          </a:prstGeom>
          <a:noFill/>
          <a:ln w="19050">
            <a:solidFill>
              <a:srgbClr val="7A8794"/>
            </a:solidFill>
            <a:prstDash val="solid"/>
            <a:tailEnd type="triangle"/>
          </a:ln>
        </p:spPr>
      </p:sp>
      <p:sp>
        <p:nvSpPr>
          <p:cNvPr id="6" name="Shape 4"/>
          <p:cNvSpPr/>
          <p:nvPr/>
        </p:nvSpPr>
        <p:spPr>
          <a:xfrm>
            <a:off x="3383280" y="1645920"/>
            <a:ext cx="2560320" cy="1097280"/>
          </a:xfrm>
          <a:prstGeom prst="roundRect">
            <a:avLst>
              <a:gd name="adj" fmla="val 6667"/>
            </a:avLst>
          </a:prstGeom>
          <a:solidFill>
            <a:srgbClr val="F2F4F6"/>
          </a:solidFill>
          <a:ln w="12700">
            <a:solidFill>
              <a:srgbClr val="1F6F9F"/>
            </a:solidFill>
            <a:prstDash val="solid"/>
          </a:ln>
        </p:spPr>
      </p:sp>
      <p:sp>
        <p:nvSpPr>
          <p:cNvPr id="7" name="Text 5"/>
          <p:cNvSpPr txBox="1"/>
          <p:nvPr/>
        </p:nvSpPr>
        <p:spPr>
          <a:xfrm>
            <a:off x="338328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Cloud Run</a:t>
            </a:r>
            <a:endParaRPr lang="en-US" sz="1300" dirty="0"/>
          </a:p>
          <a:p>
            <a:pPr algn="ctr" indent="0" marL="0">
              <a:buNone/>
            </a:pPr>
            <a:r>
              <a:rPr lang="en-US" sz="1300" dirty="0">
                <a:solidFill>
                  <a:srgbClr val="1B1F24"/>
                </a:solidFill>
              </a:rPr>
              <a:t>backend multizona</a:t>
            </a:r>
            <a:endParaRPr lang="en-US" sz="1300" dirty="0"/>
          </a:p>
        </p:txBody>
      </p:sp>
      <p:sp>
        <p:nvSpPr>
          <p:cNvPr id="8" name="Shape 6"/>
          <p:cNvSpPr/>
          <p:nvPr/>
        </p:nvSpPr>
        <p:spPr>
          <a:xfrm>
            <a:off x="5943600" y="2194560"/>
            <a:ext cx="274320" cy="914"/>
          </a:xfrm>
          <a:prstGeom prst="line">
            <a:avLst/>
          </a:prstGeom>
          <a:noFill/>
          <a:ln w="19050">
            <a:solidFill>
              <a:srgbClr val="7A8794"/>
            </a:solidFill>
            <a:prstDash val="solid"/>
            <a:tailEnd type="triangle"/>
          </a:ln>
        </p:spPr>
      </p:sp>
      <p:sp>
        <p:nvSpPr>
          <p:cNvPr id="9" name="Shape 7"/>
          <p:cNvSpPr/>
          <p:nvPr/>
        </p:nvSpPr>
        <p:spPr>
          <a:xfrm>
            <a:off x="6217920" y="1645920"/>
            <a:ext cx="2560320" cy="1097280"/>
          </a:xfrm>
          <a:prstGeom prst="roundRect">
            <a:avLst>
              <a:gd name="adj" fmla="val 6667"/>
            </a:avLst>
          </a:prstGeom>
          <a:solidFill>
            <a:srgbClr val="F2F4F6"/>
          </a:solidFill>
          <a:ln w="12700">
            <a:solidFill>
              <a:srgbClr val="1F6F9F"/>
            </a:solidFill>
            <a:prstDash val="solid"/>
          </a:ln>
        </p:spPr>
      </p:sp>
      <p:sp>
        <p:nvSpPr>
          <p:cNvPr id="10" name="Text 8"/>
          <p:cNvSpPr txBox="1"/>
          <p:nvPr/>
        </p:nvSpPr>
        <p:spPr>
          <a:xfrm>
            <a:off x="621792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Gemini Enterprise</a:t>
            </a:r>
            <a:endParaRPr lang="en-US" sz="1300" dirty="0"/>
          </a:p>
          <a:p>
            <a:pPr algn="ctr" indent="0" marL="0">
              <a:buNone/>
            </a:pPr>
            <a:r>
              <a:rPr lang="en-US" sz="1300" dirty="0">
                <a:solidFill>
                  <a:srgbClr val="1B1F24"/>
                </a:solidFill>
              </a:rPr>
              <a:t>Agent Platform</a:t>
            </a:r>
            <a:endParaRPr lang="en-US" sz="1300" dirty="0"/>
          </a:p>
        </p:txBody>
      </p:sp>
      <p:sp>
        <p:nvSpPr>
          <p:cNvPr id="11" name="Shape 9"/>
          <p:cNvSpPr/>
          <p:nvPr/>
        </p:nvSpPr>
        <p:spPr>
          <a:xfrm>
            <a:off x="8778240" y="2194560"/>
            <a:ext cx="274320" cy="914"/>
          </a:xfrm>
          <a:prstGeom prst="line">
            <a:avLst/>
          </a:prstGeom>
          <a:noFill/>
          <a:ln w="19050">
            <a:solidFill>
              <a:srgbClr val="7A8794"/>
            </a:solidFill>
            <a:prstDash val="solid"/>
            <a:tailEnd type="triangle"/>
          </a:ln>
        </p:spPr>
      </p:sp>
      <p:sp>
        <p:nvSpPr>
          <p:cNvPr id="12" name="Shape 10"/>
          <p:cNvSpPr/>
          <p:nvPr/>
        </p:nvSpPr>
        <p:spPr>
          <a:xfrm>
            <a:off x="9052560" y="1645920"/>
            <a:ext cx="2560320" cy="1097280"/>
          </a:xfrm>
          <a:prstGeom prst="roundRect">
            <a:avLst>
              <a:gd name="adj" fmla="val 6667"/>
            </a:avLst>
          </a:prstGeom>
          <a:solidFill>
            <a:srgbClr val="F2F4F6"/>
          </a:solidFill>
          <a:ln w="12700">
            <a:solidFill>
              <a:srgbClr val="1F6F9F"/>
            </a:solidFill>
            <a:prstDash val="solid"/>
          </a:ln>
        </p:spPr>
      </p:sp>
      <p:sp>
        <p:nvSpPr>
          <p:cNvPr id="13" name="Text 11"/>
          <p:cNvSpPr txBox="1"/>
          <p:nvPr/>
        </p:nvSpPr>
        <p:spPr>
          <a:xfrm>
            <a:off x="905256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Gemini</a:t>
            </a:r>
            <a:endParaRPr lang="en-US" sz="1300" dirty="0"/>
          </a:p>
          <a:p>
            <a:pPr algn="ctr" indent="0" marL="0">
              <a:buNone/>
            </a:pPr>
            <a:r>
              <a:rPr lang="en-US" sz="1300" dirty="0">
                <a:solidFill>
                  <a:srgbClr val="1B1F24"/>
                </a:solidFill>
              </a:rPr>
              <a:t>(modelo gestionado)</a:t>
            </a:r>
            <a:endParaRPr lang="en-US" sz="1300" dirty="0"/>
          </a:p>
        </p:txBody>
      </p:sp>
      <p:sp>
        <p:nvSpPr>
          <p:cNvPr id="14" name="Text 12"/>
          <p:cNvSpPr txBox="1"/>
          <p:nvPr/>
        </p:nvSpPr>
        <p:spPr>
          <a:xfrm>
            <a:off x="548640" y="3200400"/>
            <a:ext cx="11064240" cy="23774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Agente con ADK desplegado en Agent Engine / Agent Runtime (gestionado)</a:t>
            </a:r>
            <a:endParaRPr lang="en-US" sz="1700" dirty="0"/>
          </a:p>
          <a:p>
            <a:pPr marL="342900" indent="-342900">
              <a:spcAft>
                <a:spcPts val="800"/>
              </a:spcAft>
              <a:buSzPct val="100000"/>
              <a:buChar char="•"/>
            </a:pPr>
            <a:r>
              <a:rPr lang="en-US" sz="1700" dirty="0">
                <a:solidFill>
                  <a:schemeClr val="tx1"/>
                </a:solidFill>
              </a:rPr>
              <a:t>Vector Search o AlloyDB/Cloud SQL con pgvector para RAG</a:t>
            </a:r>
            <a:endParaRPr lang="en-US" sz="1700" dirty="0"/>
          </a:p>
          <a:p>
            <a:pPr marL="342900" indent="-342900">
              <a:spcAft>
                <a:spcPts val="800"/>
              </a:spcAft>
              <a:buSzPct val="100000"/>
              <a:buChar char="•"/>
            </a:pPr>
            <a:r>
              <a:rPr lang="en-US" sz="1700" dirty="0">
                <a:solidFill>
                  <a:schemeClr val="tx1"/>
                </a:solidFill>
              </a:rPr>
              <a:t>Secret Manager, cuentas de servicio con Workload Identity, Model Armor</a:t>
            </a:r>
            <a:endParaRPr lang="en-US" sz="1700" dirty="0"/>
          </a:p>
          <a:p>
            <a:pPr marL="342900" indent="-342900">
              <a:spcAft>
                <a:spcPts val="800"/>
              </a:spcAft>
              <a:buSzPct val="100000"/>
              <a:buChar char="•"/>
            </a:pPr>
            <a:r>
              <a:rPr lang="en-US" sz="1700" dirty="0">
                <a:solidFill>
                  <a:schemeClr val="tx1"/>
                </a:solidFill>
              </a:rPr>
              <a:t>Trial: el crédito no cubre la Gemini API de AI Studio ni GPUs → usar la plataforma</a:t>
            </a:r>
            <a:endParaRPr lang="en-US" sz="17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Microsoft Azure: arquitectura de referencia del caso</a:t>
            </a:r>
            <a:endParaRPr lang="en-US" sz="2800" dirty="0"/>
          </a:p>
        </p:txBody>
      </p:sp>
      <p:sp>
        <p:nvSpPr>
          <p:cNvPr id="3" name="Shape 1"/>
          <p:cNvSpPr/>
          <p:nvPr/>
        </p:nvSpPr>
        <p:spPr>
          <a:xfrm>
            <a:off x="548640" y="1645920"/>
            <a:ext cx="2560320" cy="1097280"/>
          </a:xfrm>
          <a:prstGeom prst="roundRect">
            <a:avLst>
              <a:gd name="adj" fmla="val 6667"/>
            </a:avLst>
          </a:prstGeom>
          <a:solidFill>
            <a:srgbClr val="DCEAF4"/>
          </a:solidFill>
          <a:ln w="12700">
            <a:solidFill>
              <a:srgbClr val="1F6F9F"/>
            </a:solidFill>
            <a:prstDash val="solid"/>
          </a:ln>
        </p:spPr>
      </p:sp>
      <p:sp>
        <p:nvSpPr>
          <p:cNvPr id="4" name="Text 2"/>
          <p:cNvSpPr txBox="1"/>
          <p:nvPr/>
        </p:nvSpPr>
        <p:spPr>
          <a:xfrm>
            <a:off x="54864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Usuario</a:t>
            </a:r>
            <a:endParaRPr lang="en-US" sz="1300" dirty="0"/>
          </a:p>
          <a:p>
            <a:pPr algn="ctr" indent="0" marL="0">
              <a:buNone/>
            </a:pPr>
            <a:r>
              <a:rPr lang="en-US" sz="1300" dirty="0">
                <a:solidFill>
                  <a:srgbClr val="1B1F24"/>
                </a:solidFill>
              </a:rPr>
              <a:t>Microsoft Entra ID</a:t>
            </a:r>
            <a:endParaRPr lang="en-US" sz="1300" dirty="0"/>
          </a:p>
        </p:txBody>
      </p:sp>
      <p:sp>
        <p:nvSpPr>
          <p:cNvPr id="5" name="Shape 3"/>
          <p:cNvSpPr/>
          <p:nvPr/>
        </p:nvSpPr>
        <p:spPr>
          <a:xfrm>
            <a:off x="3108960" y="2194560"/>
            <a:ext cx="274320" cy="914"/>
          </a:xfrm>
          <a:prstGeom prst="line">
            <a:avLst/>
          </a:prstGeom>
          <a:noFill/>
          <a:ln w="19050">
            <a:solidFill>
              <a:srgbClr val="7A8794"/>
            </a:solidFill>
            <a:prstDash val="solid"/>
            <a:tailEnd type="triangle"/>
          </a:ln>
        </p:spPr>
      </p:sp>
      <p:sp>
        <p:nvSpPr>
          <p:cNvPr id="6" name="Shape 4"/>
          <p:cNvSpPr/>
          <p:nvPr/>
        </p:nvSpPr>
        <p:spPr>
          <a:xfrm>
            <a:off x="3383280" y="1645920"/>
            <a:ext cx="2560320" cy="1097280"/>
          </a:xfrm>
          <a:prstGeom prst="roundRect">
            <a:avLst>
              <a:gd name="adj" fmla="val 6667"/>
            </a:avLst>
          </a:prstGeom>
          <a:solidFill>
            <a:srgbClr val="F2F4F6"/>
          </a:solidFill>
          <a:ln w="12700">
            <a:solidFill>
              <a:srgbClr val="1F6F9F"/>
            </a:solidFill>
            <a:prstDash val="solid"/>
          </a:ln>
        </p:spPr>
      </p:sp>
      <p:sp>
        <p:nvSpPr>
          <p:cNvPr id="7" name="Text 5"/>
          <p:cNvSpPr txBox="1"/>
          <p:nvPr/>
        </p:nvSpPr>
        <p:spPr>
          <a:xfrm>
            <a:off x="338328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Container Apps</a:t>
            </a:r>
            <a:endParaRPr lang="en-US" sz="1300" dirty="0"/>
          </a:p>
          <a:p>
            <a:pPr algn="ctr" indent="0" marL="0">
              <a:buNone/>
            </a:pPr>
            <a:r>
              <a:rPr lang="en-US" sz="1300" dirty="0">
                <a:solidFill>
                  <a:srgbClr val="1B1F24"/>
                </a:solidFill>
              </a:rPr>
              <a:t>backend</a:t>
            </a:r>
            <a:endParaRPr lang="en-US" sz="1300" dirty="0"/>
          </a:p>
        </p:txBody>
      </p:sp>
      <p:sp>
        <p:nvSpPr>
          <p:cNvPr id="8" name="Shape 6"/>
          <p:cNvSpPr/>
          <p:nvPr/>
        </p:nvSpPr>
        <p:spPr>
          <a:xfrm>
            <a:off x="5943600" y="2194560"/>
            <a:ext cx="274320" cy="914"/>
          </a:xfrm>
          <a:prstGeom prst="line">
            <a:avLst/>
          </a:prstGeom>
          <a:noFill/>
          <a:ln w="19050">
            <a:solidFill>
              <a:srgbClr val="7A8794"/>
            </a:solidFill>
            <a:prstDash val="solid"/>
            <a:tailEnd type="triangle"/>
          </a:ln>
        </p:spPr>
      </p:sp>
      <p:sp>
        <p:nvSpPr>
          <p:cNvPr id="9" name="Shape 7"/>
          <p:cNvSpPr/>
          <p:nvPr/>
        </p:nvSpPr>
        <p:spPr>
          <a:xfrm>
            <a:off x="6217920" y="1645920"/>
            <a:ext cx="2560320" cy="1097280"/>
          </a:xfrm>
          <a:prstGeom prst="roundRect">
            <a:avLst>
              <a:gd name="adj" fmla="val 6667"/>
            </a:avLst>
          </a:prstGeom>
          <a:solidFill>
            <a:srgbClr val="F2F4F6"/>
          </a:solidFill>
          <a:ln w="12700">
            <a:solidFill>
              <a:srgbClr val="1F6F9F"/>
            </a:solidFill>
            <a:prstDash val="solid"/>
          </a:ln>
        </p:spPr>
      </p:sp>
      <p:sp>
        <p:nvSpPr>
          <p:cNvPr id="10" name="Text 8"/>
          <p:cNvSpPr txBox="1"/>
          <p:nvPr/>
        </p:nvSpPr>
        <p:spPr>
          <a:xfrm>
            <a:off x="621792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Foundry Agent Service</a:t>
            </a:r>
            <a:endParaRPr lang="en-US" sz="1300" dirty="0"/>
          </a:p>
          <a:p>
            <a:pPr algn="ctr" indent="0" marL="0">
              <a:buNone/>
            </a:pPr>
            <a:r>
              <a:rPr lang="en-US" sz="1300" dirty="0">
                <a:solidFill>
                  <a:srgbClr val="1B1F24"/>
                </a:solidFill>
              </a:rPr>
              <a:t>prompt / hosted agents</a:t>
            </a:r>
            <a:endParaRPr lang="en-US" sz="1300" dirty="0"/>
          </a:p>
        </p:txBody>
      </p:sp>
      <p:sp>
        <p:nvSpPr>
          <p:cNvPr id="11" name="Shape 9"/>
          <p:cNvSpPr/>
          <p:nvPr/>
        </p:nvSpPr>
        <p:spPr>
          <a:xfrm>
            <a:off x="8778240" y="2194560"/>
            <a:ext cx="274320" cy="914"/>
          </a:xfrm>
          <a:prstGeom prst="line">
            <a:avLst/>
          </a:prstGeom>
          <a:noFill/>
          <a:ln w="19050">
            <a:solidFill>
              <a:srgbClr val="7A8794"/>
            </a:solidFill>
            <a:prstDash val="solid"/>
            <a:tailEnd type="triangle"/>
          </a:ln>
        </p:spPr>
      </p:sp>
      <p:sp>
        <p:nvSpPr>
          <p:cNvPr id="12" name="Shape 10"/>
          <p:cNvSpPr/>
          <p:nvPr/>
        </p:nvSpPr>
        <p:spPr>
          <a:xfrm>
            <a:off x="9052560" y="1645920"/>
            <a:ext cx="2560320" cy="1097280"/>
          </a:xfrm>
          <a:prstGeom prst="roundRect">
            <a:avLst>
              <a:gd name="adj" fmla="val 6667"/>
            </a:avLst>
          </a:prstGeom>
          <a:solidFill>
            <a:srgbClr val="F2F4F6"/>
          </a:solidFill>
          <a:ln w="12700">
            <a:solidFill>
              <a:srgbClr val="1F6F9F"/>
            </a:solidFill>
            <a:prstDash val="solid"/>
          </a:ln>
        </p:spPr>
      </p:sp>
      <p:sp>
        <p:nvSpPr>
          <p:cNvPr id="13" name="Text 11"/>
          <p:cNvSpPr txBox="1"/>
          <p:nvPr/>
        </p:nvSpPr>
        <p:spPr>
          <a:xfrm>
            <a:off x="905256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Foundry Models</a:t>
            </a:r>
            <a:endParaRPr lang="en-US" sz="1300" dirty="0"/>
          </a:p>
          <a:p>
            <a:pPr algn="ctr" indent="0" marL="0">
              <a:buNone/>
            </a:pPr>
            <a:r>
              <a:rPr lang="en-US" sz="1300" dirty="0">
                <a:solidFill>
                  <a:srgbClr val="1B1F24"/>
                </a:solidFill>
              </a:rPr>
              <a:t>(gpt-5-mini en Tier 0)</a:t>
            </a:r>
            <a:endParaRPr lang="en-US" sz="1300" dirty="0"/>
          </a:p>
        </p:txBody>
      </p:sp>
      <p:sp>
        <p:nvSpPr>
          <p:cNvPr id="14" name="Text 12"/>
          <p:cNvSpPr txBox="1"/>
          <p:nvPr/>
        </p:nvSpPr>
        <p:spPr>
          <a:xfrm>
            <a:off x="548640" y="3200400"/>
            <a:ext cx="11064240" cy="23774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Agent Framework 1.x para agentes en código; Semantic Kernel y AutoGen en mantenimiento</a:t>
            </a:r>
            <a:endParaRPr lang="en-US" sz="1700" dirty="0"/>
          </a:p>
          <a:p>
            <a:pPr marL="342900" indent="-342900">
              <a:spcAft>
                <a:spcPts val="800"/>
              </a:spcAft>
              <a:buSzPct val="100000"/>
              <a:buChar char="•"/>
            </a:pPr>
            <a:r>
              <a:rPr lang="en-US" sz="1700" dirty="0">
                <a:solidFill>
                  <a:schemeClr val="tx1"/>
                </a:solidFill>
              </a:rPr>
              <a:t>LangGraph puede ejecutarse como hosted agent: framework externo, no oficial de Microsoft</a:t>
            </a:r>
            <a:endParaRPr lang="en-US" sz="1700" dirty="0"/>
          </a:p>
          <a:p>
            <a:pPr marL="342900" indent="-342900">
              <a:spcAft>
                <a:spcPts val="800"/>
              </a:spcAft>
              <a:buSzPct val="100000"/>
              <a:buChar char="•"/>
            </a:pPr>
            <a:r>
              <a:rPr lang="en-US" sz="1700" dirty="0">
                <a:solidFill>
                  <a:schemeClr val="tx1"/>
                </a:solidFill>
              </a:rPr>
              <a:t>Azure AI Search para RAG · Key Vault · identidades gestionadas · API Management como AI gateway</a:t>
            </a:r>
            <a:endParaRPr lang="en-US" sz="1700" dirty="0"/>
          </a:p>
          <a:p>
            <a:pPr marL="342900" indent="-342900">
              <a:spcAft>
                <a:spcPts val="800"/>
              </a:spcAft>
              <a:buSzPct val="100000"/>
              <a:buChar char="•"/>
            </a:pPr>
            <a:r>
              <a:rPr lang="en-US" sz="1700" dirty="0">
                <a:solidFill>
                  <a:schemeClr val="tx1"/>
                </a:solidFill>
              </a:rPr>
              <a:t>Trial: validar cuota (Free Tier / Tier 0) antes del laboratorio</a:t>
            </a:r>
            <a:endParaRPr lang="en-US" sz="17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AWS: arquitectura de referencia del caso</a:t>
            </a:r>
            <a:endParaRPr lang="en-US" sz="2800" dirty="0"/>
          </a:p>
        </p:txBody>
      </p:sp>
      <p:sp>
        <p:nvSpPr>
          <p:cNvPr id="3" name="Shape 1"/>
          <p:cNvSpPr/>
          <p:nvPr/>
        </p:nvSpPr>
        <p:spPr>
          <a:xfrm>
            <a:off x="548640" y="1645920"/>
            <a:ext cx="2560320" cy="1097280"/>
          </a:xfrm>
          <a:prstGeom prst="roundRect">
            <a:avLst>
              <a:gd name="adj" fmla="val 6667"/>
            </a:avLst>
          </a:prstGeom>
          <a:solidFill>
            <a:srgbClr val="DCEAF4"/>
          </a:solidFill>
          <a:ln w="12700">
            <a:solidFill>
              <a:srgbClr val="1F6F9F"/>
            </a:solidFill>
            <a:prstDash val="solid"/>
          </a:ln>
        </p:spPr>
      </p:sp>
      <p:sp>
        <p:nvSpPr>
          <p:cNvPr id="4" name="Text 2"/>
          <p:cNvSpPr txBox="1"/>
          <p:nvPr/>
        </p:nvSpPr>
        <p:spPr>
          <a:xfrm>
            <a:off x="54864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Usuario</a:t>
            </a:r>
            <a:endParaRPr lang="en-US" sz="1300" dirty="0"/>
          </a:p>
          <a:p>
            <a:pPr algn="ctr" indent="0" marL="0">
              <a:buNone/>
            </a:pPr>
            <a:r>
              <a:rPr lang="en-US" sz="1300" dirty="0">
                <a:solidFill>
                  <a:srgbClr val="1B1F24"/>
                </a:solidFill>
              </a:rPr>
              <a:t>proveedor OIDC</a:t>
            </a:r>
            <a:endParaRPr lang="en-US" sz="1300" dirty="0"/>
          </a:p>
        </p:txBody>
      </p:sp>
      <p:sp>
        <p:nvSpPr>
          <p:cNvPr id="5" name="Shape 3"/>
          <p:cNvSpPr/>
          <p:nvPr/>
        </p:nvSpPr>
        <p:spPr>
          <a:xfrm>
            <a:off x="3108960" y="2194560"/>
            <a:ext cx="274320" cy="914"/>
          </a:xfrm>
          <a:prstGeom prst="line">
            <a:avLst/>
          </a:prstGeom>
          <a:noFill/>
          <a:ln w="19050">
            <a:solidFill>
              <a:srgbClr val="7A8794"/>
            </a:solidFill>
            <a:prstDash val="solid"/>
            <a:tailEnd type="triangle"/>
          </a:ln>
        </p:spPr>
      </p:sp>
      <p:sp>
        <p:nvSpPr>
          <p:cNvPr id="6" name="Shape 4"/>
          <p:cNvSpPr/>
          <p:nvPr/>
        </p:nvSpPr>
        <p:spPr>
          <a:xfrm>
            <a:off x="3383280" y="1645920"/>
            <a:ext cx="2560320" cy="1097280"/>
          </a:xfrm>
          <a:prstGeom prst="roundRect">
            <a:avLst>
              <a:gd name="adj" fmla="val 6667"/>
            </a:avLst>
          </a:prstGeom>
          <a:solidFill>
            <a:srgbClr val="F2F4F6"/>
          </a:solidFill>
          <a:ln w="12700">
            <a:solidFill>
              <a:srgbClr val="1F6F9F"/>
            </a:solidFill>
            <a:prstDash val="solid"/>
          </a:ln>
        </p:spPr>
      </p:sp>
      <p:sp>
        <p:nvSpPr>
          <p:cNvPr id="7" name="Text 5"/>
          <p:cNvSpPr txBox="1"/>
          <p:nvPr/>
        </p:nvSpPr>
        <p:spPr>
          <a:xfrm>
            <a:off x="338328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API Gateway +</a:t>
            </a:r>
            <a:endParaRPr lang="en-US" sz="1300" dirty="0"/>
          </a:p>
          <a:p>
            <a:pPr algn="ctr" indent="0" marL="0">
              <a:buNone/>
            </a:pPr>
            <a:r>
              <a:rPr lang="en-US" sz="1300" dirty="0">
                <a:solidFill>
                  <a:srgbClr val="1B1F24"/>
                </a:solidFill>
              </a:rPr>
              <a:t>ECS / Lambda</a:t>
            </a:r>
            <a:endParaRPr lang="en-US" sz="1300" dirty="0"/>
          </a:p>
        </p:txBody>
      </p:sp>
      <p:sp>
        <p:nvSpPr>
          <p:cNvPr id="8" name="Shape 6"/>
          <p:cNvSpPr/>
          <p:nvPr/>
        </p:nvSpPr>
        <p:spPr>
          <a:xfrm>
            <a:off x="5943600" y="2194560"/>
            <a:ext cx="274320" cy="914"/>
          </a:xfrm>
          <a:prstGeom prst="line">
            <a:avLst/>
          </a:prstGeom>
          <a:noFill/>
          <a:ln w="19050">
            <a:solidFill>
              <a:srgbClr val="7A8794"/>
            </a:solidFill>
            <a:prstDash val="solid"/>
            <a:tailEnd type="triangle"/>
          </a:ln>
        </p:spPr>
      </p:sp>
      <p:sp>
        <p:nvSpPr>
          <p:cNvPr id="9" name="Shape 7"/>
          <p:cNvSpPr/>
          <p:nvPr/>
        </p:nvSpPr>
        <p:spPr>
          <a:xfrm>
            <a:off x="6217920" y="1645920"/>
            <a:ext cx="2560320" cy="1097280"/>
          </a:xfrm>
          <a:prstGeom prst="roundRect">
            <a:avLst>
              <a:gd name="adj" fmla="val 6667"/>
            </a:avLst>
          </a:prstGeom>
          <a:solidFill>
            <a:srgbClr val="F2F4F6"/>
          </a:solidFill>
          <a:ln w="12700">
            <a:solidFill>
              <a:srgbClr val="1F6F9F"/>
            </a:solidFill>
            <a:prstDash val="solid"/>
          </a:ln>
        </p:spPr>
      </p:sp>
      <p:sp>
        <p:nvSpPr>
          <p:cNvPr id="10" name="Text 8"/>
          <p:cNvSpPr txBox="1"/>
          <p:nvPr/>
        </p:nvSpPr>
        <p:spPr>
          <a:xfrm>
            <a:off x="621792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Bedrock AgentCore</a:t>
            </a:r>
            <a:endParaRPr lang="en-US" sz="1300" dirty="0"/>
          </a:p>
          <a:p>
            <a:pPr algn="ctr" indent="0" marL="0">
              <a:buNone/>
            </a:pPr>
            <a:r>
              <a:rPr lang="en-US" sz="1300" dirty="0">
                <a:solidFill>
                  <a:srgbClr val="1B1F24"/>
                </a:solidFill>
              </a:rPr>
              <a:t>Runtime, Identity, Gateway</a:t>
            </a:r>
            <a:endParaRPr lang="en-US" sz="1300" dirty="0"/>
          </a:p>
        </p:txBody>
      </p:sp>
      <p:sp>
        <p:nvSpPr>
          <p:cNvPr id="11" name="Shape 9"/>
          <p:cNvSpPr/>
          <p:nvPr/>
        </p:nvSpPr>
        <p:spPr>
          <a:xfrm>
            <a:off x="8778240" y="2194560"/>
            <a:ext cx="274320" cy="914"/>
          </a:xfrm>
          <a:prstGeom prst="line">
            <a:avLst/>
          </a:prstGeom>
          <a:noFill/>
          <a:ln w="19050">
            <a:solidFill>
              <a:srgbClr val="7A8794"/>
            </a:solidFill>
            <a:prstDash val="solid"/>
            <a:tailEnd type="triangle"/>
          </a:ln>
        </p:spPr>
      </p:sp>
      <p:sp>
        <p:nvSpPr>
          <p:cNvPr id="12" name="Shape 10"/>
          <p:cNvSpPr/>
          <p:nvPr/>
        </p:nvSpPr>
        <p:spPr>
          <a:xfrm>
            <a:off x="9052560" y="1645920"/>
            <a:ext cx="2560320" cy="1097280"/>
          </a:xfrm>
          <a:prstGeom prst="roundRect">
            <a:avLst>
              <a:gd name="adj" fmla="val 6667"/>
            </a:avLst>
          </a:prstGeom>
          <a:solidFill>
            <a:srgbClr val="F2F4F6"/>
          </a:solidFill>
          <a:ln w="12700">
            <a:solidFill>
              <a:srgbClr val="1F6F9F"/>
            </a:solidFill>
            <a:prstDash val="solid"/>
          </a:ln>
        </p:spPr>
      </p:sp>
      <p:sp>
        <p:nvSpPr>
          <p:cNvPr id="13" name="Text 11"/>
          <p:cNvSpPr txBox="1"/>
          <p:nvPr/>
        </p:nvSpPr>
        <p:spPr>
          <a:xfrm>
            <a:off x="9052560" y="1645920"/>
            <a:ext cx="2560320" cy="1097280"/>
          </a:xfrm>
          <a:prstGeom prst="rect">
            <a:avLst/>
          </a:prstGeom>
          <a:noFill/>
          <a:ln/>
        </p:spPr>
        <p:txBody>
          <a:bodyPr wrap="square" lIns="635" tIns="635" rIns="635" bIns="635" rtlCol="0" anchor="ctr"/>
          <a:lstStyle/>
          <a:p>
            <a:pPr algn="ctr" indent="0" marL="0">
              <a:buNone/>
            </a:pPr>
            <a:r>
              <a:rPr lang="en-US" sz="1300" dirty="0">
                <a:solidFill>
                  <a:srgbClr val="1B1F24"/>
                </a:solidFill>
              </a:rPr>
              <a:t>Amazon Bedrock</a:t>
            </a:r>
            <a:endParaRPr lang="en-US" sz="1300" dirty="0"/>
          </a:p>
          <a:p>
            <a:pPr algn="ctr" indent="0" marL="0">
              <a:buNone/>
            </a:pPr>
            <a:r>
              <a:rPr lang="en-US" sz="1300" dirty="0">
                <a:solidFill>
                  <a:srgbClr val="1B1F24"/>
                </a:solidFill>
              </a:rPr>
              <a:t>modelos</a:t>
            </a:r>
            <a:endParaRPr lang="en-US" sz="1300" dirty="0"/>
          </a:p>
        </p:txBody>
      </p:sp>
      <p:sp>
        <p:nvSpPr>
          <p:cNvPr id="14" name="Text 12"/>
          <p:cNvSpPr txBox="1"/>
          <p:nvPr/>
        </p:nvSpPr>
        <p:spPr>
          <a:xfrm>
            <a:off x="548640" y="3200400"/>
            <a:ext cx="11064240" cy="23774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Agente con Strands Agents desplegado en AgentCore Runtime (sesiones aisladas)</a:t>
            </a:r>
            <a:endParaRPr lang="en-US" sz="1700" dirty="0"/>
          </a:p>
          <a:p>
            <a:pPr marL="342900" indent="-342900">
              <a:spcAft>
                <a:spcPts val="800"/>
              </a:spcAft>
              <a:buSzPct val="100000"/>
              <a:buChar char="•"/>
            </a:pPr>
            <a:r>
              <a:rPr lang="en-US" sz="1700" dirty="0">
                <a:solidFill>
                  <a:schemeClr val="tx1"/>
                </a:solidFill>
              </a:rPr>
              <a:t>Bedrock Knowledge Bases con S3 Vectors u OpenSearch para RAG</a:t>
            </a:r>
            <a:endParaRPr lang="en-US" sz="1700" dirty="0"/>
          </a:p>
          <a:p>
            <a:pPr marL="342900" indent="-342900">
              <a:spcAft>
                <a:spcPts val="800"/>
              </a:spcAft>
              <a:buSzPct val="100000"/>
              <a:buChar char="•"/>
            </a:pPr>
            <a:r>
              <a:rPr lang="en-US" sz="1700" dirty="0">
                <a:solidFill>
                  <a:schemeClr val="tx1"/>
                </a:solidFill>
              </a:rPr>
              <a:t>Roles de IAM de mínimo privilegio · Secrets Manager · Bedrock Guardrails</a:t>
            </a:r>
            <a:endParaRPr lang="en-US" sz="1700" dirty="0"/>
          </a:p>
          <a:p>
            <a:pPr marL="342900" indent="-342900">
              <a:spcAft>
                <a:spcPts val="800"/>
              </a:spcAft>
              <a:buSzPct val="100000"/>
              <a:buChar char="•"/>
            </a:pPr>
            <a:r>
              <a:rPr lang="en-US" sz="1700" dirty="0">
                <a:solidFill>
                  <a:schemeClr val="tx1"/>
                </a:solidFill>
              </a:rPr>
              <a:t>Cuentas nuevas: usar AgentCore; Bedrock Agents Classic ya no admite clientes nuevos</a:t>
            </a:r>
            <a:endParaRPr lang="en-US" sz="17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SDK, runtime y servicio de modelos: tres capas distintas</a:t>
            </a:r>
            <a:endParaRPr lang="en-US" sz="2800" dirty="0"/>
          </a:p>
        </p:txBody>
      </p:sp>
      <p:sp>
        <p:nvSpPr>
          <p:cNvPr id="3" name="Shape 1"/>
          <p:cNvSpPr/>
          <p:nvPr/>
        </p:nvSpPr>
        <p:spPr>
          <a:xfrm>
            <a:off x="1828800" y="1371600"/>
            <a:ext cx="8503920" cy="1005840"/>
          </a:xfrm>
          <a:prstGeom prst="roundRect">
            <a:avLst>
              <a:gd name="adj" fmla="val 7273"/>
            </a:avLst>
          </a:prstGeom>
          <a:solidFill>
            <a:srgbClr val="DCEAF4"/>
          </a:solidFill>
          <a:ln w="12700">
            <a:solidFill>
              <a:srgbClr val="1F6F9F"/>
            </a:solidFill>
            <a:prstDash val="solid"/>
          </a:ln>
        </p:spPr>
      </p:sp>
      <p:sp>
        <p:nvSpPr>
          <p:cNvPr id="4" name="Text 2"/>
          <p:cNvSpPr txBox="1"/>
          <p:nvPr/>
        </p:nvSpPr>
        <p:spPr>
          <a:xfrm>
            <a:off x="1828800" y="1371600"/>
            <a:ext cx="8503920" cy="1005840"/>
          </a:xfrm>
          <a:prstGeom prst="rect">
            <a:avLst/>
          </a:prstGeom>
          <a:noFill/>
          <a:ln/>
        </p:spPr>
        <p:txBody>
          <a:bodyPr wrap="square" lIns="635" tIns="635" rIns="635" bIns="635" rtlCol="0" anchor="ctr"/>
          <a:lstStyle/>
          <a:p>
            <a:pPr algn="ctr" indent="0" marL="0">
              <a:buNone/>
            </a:pPr>
            <a:r>
              <a:rPr lang="en-US" sz="1500" dirty="0">
                <a:solidFill>
                  <a:srgbClr val="1B1F24"/>
                </a:solidFill>
              </a:rPr>
              <a:t>Código del agente — SDK o framework</a:t>
            </a:r>
            <a:endParaRPr lang="en-US" sz="1500" dirty="0"/>
          </a:p>
          <a:p>
            <a:pPr algn="ctr" indent="0" marL="0">
              <a:buNone/>
            </a:pPr>
            <a:r>
              <a:rPr lang="en-US" sz="1500" dirty="0">
                <a:solidFill>
                  <a:srgbClr val="1B1F24"/>
                </a:solidFill>
              </a:rPr>
              <a:t>Strands · Agent Framework · ADK · LangGraph</a:t>
            </a:r>
            <a:endParaRPr lang="en-US" sz="1500" dirty="0"/>
          </a:p>
        </p:txBody>
      </p:sp>
      <p:sp>
        <p:nvSpPr>
          <p:cNvPr id="5" name="Shape 3"/>
          <p:cNvSpPr/>
          <p:nvPr/>
        </p:nvSpPr>
        <p:spPr>
          <a:xfrm>
            <a:off x="1828800" y="2834640"/>
            <a:ext cx="8503920" cy="1005840"/>
          </a:xfrm>
          <a:prstGeom prst="roundRect">
            <a:avLst>
              <a:gd name="adj" fmla="val 7273"/>
            </a:avLst>
          </a:prstGeom>
          <a:solidFill>
            <a:srgbClr val="F2F4F6"/>
          </a:solidFill>
          <a:ln w="12700">
            <a:solidFill>
              <a:srgbClr val="1F6F9F"/>
            </a:solidFill>
            <a:prstDash val="solid"/>
          </a:ln>
        </p:spPr>
      </p:sp>
      <p:sp>
        <p:nvSpPr>
          <p:cNvPr id="6" name="Text 4"/>
          <p:cNvSpPr txBox="1"/>
          <p:nvPr/>
        </p:nvSpPr>
        <p:spPr>
          <a:xfrm>
            <a:off x="1828800" y="2834640"/>
            <a:ext cx="8503920" cy="1005840"/>
          </a:xfrm>
          <a:prstGeom prst="rect">
            <a:avLst/>
          </a:prstGeom>
          <a:noFill/>
          <a:ln/>
        </p:spPr>
        <p:txBody>
          <a:bodyPr wrap="square" lIns="635" tIns="635" rIns="635" bIns="635" rtlCol="0" anchor="ctr"/>
          <a:lstStyle/>
          <a:p>
            <a:pPr algn="ctr" indent="0" marL="0">
              <a:buNone/>
            </a:pPr>
            <a:r>
              <a:rPr lang="en-US" sz="1500" dirty="0">
                <a:solidFill>
                  <a:srgbClr val="1B1F24"/>
                </a:solidFill>
              </a:rPr>
              <a:t>Runtime de ejecución — gestionado o propio</a:t>
            </a:r>
            <a:endParaRPr lang="en-US" sz="1500" dirty="0"/>
          </a:p>
          <a:p>
            <a:pPr algn="ctr" indent="0" marL="0">
              <a:buNone/>
            </a:pPr>
            <a:r>
              <a:rPr lang="en-US" sz="1500" dirty="0">
                <a:solidFill>
                  <a:srgbClr val="1B1F24"/>
                </a:solidFill>
              </a:rPr>
              <a:t>AgentCore · Foundry Agent Service · Agent Engine · contenedor</a:t>
            </a:r>
            <a:endParaRPr lang="en-US" sz="1500" dirty="0"/>
          </a:p>
        </p:txBody>
      </p:sp>
      <p:sp>
        <p:nvSpPr>
          <p:cNvPr id="7" name="Shape 5"/>
          <p:cNvSpPr/>
          <p:nvPr/>
        </p:nvSpPr>
        <p:spPr>
          <a:xfrm>
            <a:off x="1828800" y="4297680"/>
            <a:ext cx="8503920" cy="1005840"/>
          </a:xfrm>
          <a:prstGeom prst="roundRect">
            <a:avLst>
              <a:gd name="adj" fmla="val 7273"/>
            </a:avLst>
          </a:prstGeom>
          <a:solidFill>
            <a:srgbClr val="E3F2EF"/>
          </a:solidFill>
          <a:ln w="12700">
            <a:solidFill>
              <a:srgbClr val="1F6F9F"/>
            </a:solidFill>
            <a:prstDash val="solid"/>
          </a:ln>
        </p:spPr>
      </p:sp>
      <p:sp>
        <p:nvSpPr>
          <p:cNvPr id="8" name="Text 6"/>
          <p:cNvSpPr txBox="1"/>
          <p:nvPr/>
        </p:nvSpPr>
        <p:spPr>
          <a:xfrm>
            <a:off x="1828800" y="4297680"/>
            <a:ext cx="8503920" cy="1005840"/>
          </a:xfrm>
          <a:prstGeom prst="rect">
            <a:avLst/>
          </a:prstGeom>
          <a:noFill/>
          <a:ln/>
        </p:spPr>
        <p:txBody>
          <a:bodyPr wrap="square" lIns="635" tIns="635" rIns="635" bIns="635" rtlCol="0" anchor="ctr"/>
          <a:lstStyle/>
          <a:p>
            <a:pPr algn="ctr" indent="0" marL="0">
              <a:buNone/>
            </a:pPr>
            <a:r>
              <a:rPr lang="en-US" sz="1500" dirty="0">
                <a:solidFill>
                  <a:srgbClr val="1B1F24"/>
                </a:solidFill>
              </a:rPr>
              <a:t>Servicio de modelos — quién hace la inferencia</a:t>
            </a:r>
            <a:endParaRPr lang="en-US" sz="1500" dirty="0"/>
          </a:p>
          <a:p>
            <a:pPr algn="ctr" indent="0" marL="0">
              <a:buNone/>
            </a:pPr>
            <a:r>
              <a:rPr lang="en-US" sz="1500" dirty="0">
                <a:solidFill>
                  <a:srgbClr val="1B1F24"/>
                </a:solidFill>
              </a:rPr>
              <a:t>Bedrock · Foundry Models · Gemini · Ollama local</a:t>
            </a:r>
            <a:endParaRPr lang="en-US" sz="1500" dirty="0"/>
          </a:p>
        </p:txBody>
      </p:sp>
      <p:sp>
        <p:nvSpPr>
          <p:cNvPr id="9" name="Shape 7"/>
          <p:cNvSpPr/>
          <p:nvPr/>
        </p:nvSpPr>
        <p:spPr>
          <a:xfrm>
            <a:off x="6080760" y="2377440"/>
            <a:ext cx="914" cy="457200"/>
          </a:xfrm>
          <a:prstGeom prst="line">
            <a:avLst/>
          </a:prstGeom>
          <a:noFill/>
          <a:ln w="19050">
            <a:solidFill>
              <a:srgbClr val="7A8794"/>
            </a:solidFill>
            <a:prstDash val="solid"/>
            <a:tailEnd type="triangle"/>
          </a:ln>
        </p:spPr>
      </p:sp>
      <p:sp>
        <p:nvSpPr>
          <p:cNvPr id="10" name="Shape 8"/>
          <p:cNvSpPr/>
          <p:nvPr/>
        </p:nvSpPr>
        <p:spPr>
          <a:xfrm>
            <a:off x="6080760" y="3840480"/>
            <a:ext cx="914" cy="457200"/>
          </a:xfrm>
          <a:prstGeom prst="line">
            <a:avLst/>
          </a:prstGeom>
          <a:noFill/>
          <a:ln w="19050">
            <a:solidFill>
              <a:srgbClr val="7A8794"/>
            </a:solidFill>
            <a:prstDash val="solid"/>
            <a:tailEnd type="triangle"/>
          </a:ln>
        </p:spPr>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Responsabilidades y criterios de selección</a:t>
            </a:r>
            <a:endParaRPr lang="en-US" sz="2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566160"/>
                <a:gridCol w="2468880"/>
                <a:gridCol w="2468880"/>
                <a:gridCol w="2560320"/>
              </a:tblGrid>
              <a:tr h="0">
                <a:tc>
                  <a:txBody>
                    <a:bodyPr/>
                    <a:lstStyle/>
                    <a:p>
                      <a:pPr indent="0" marL="0">
                        <a:buNone/>
                      </a:pPr>
                      <a:r>
                        <a:rPr lang="en-US" sz="1400" b="1" dirty="0">
                          <a:solidFill>
                            <a:srgbClr val="FFFFFF"/>
                          </a:solidFill>
                        </a:rPr>
                        <a:t>Responsabilidad</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API de modelos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Runtime de agentes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Self-hosting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Capacidad GPU y escalado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Proveedor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Proveedor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Sesiones y memoria del agente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Proveedor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Identidad, red, datos, prompts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Calidad y seguridad de las respuestas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Organización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023360"/>
            <a:ext cx="11064240" cy="16459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Criterios: ecosistema existente · modelos y región · residencia de datos · capacidades del equipo · costo total · portabilidad</a:t>
            </a:r>
            <a:endParaRPr lang="en-US" sz="1600" dirty="0"/>
          </a:p>
          <a:p>
            <a:pPr marL="342900" indent="-342900">
              <a:spcAft>
                <a:spcPts val="800"/>
              </a:spcAft>
              <a:buSzPct val="100000"/>
              <a:buChar char="•"/>
            </a:pPr>
            <a:r>
              <a:rPr lang="en-US" sz="1600" dirty="0">
                <a:solidFill>
                  <a:schemeClr val="tx1"/>
                </a:solidFill>
              </a:rPr>
              <a:t>Estándares abiertos que reducen el lock-in: MCP (herramientas), A2A (agentes), OpenTelemetry (trazas)</a:t>
            </a:r>
            <a:endParaRPr lang="en-US" sz="16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3 · Agente gestionado en Microsoft Foundry</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Proyecto Foundry y despliegue de un modelo pequeño (gpt-5-mini)</a:t>
            </a:r>
            <a:endParaRPr lang="en-US" sz="2000" dirty="0"/>
          </a:p>
          <a:p>
            <a:pPr marL="342900" indent="-342900">
              <a:spcAft>
                <a:spcPts val="800"/>
              </a:spcAft>
              <a:buSzPct val="100000"/>
              <a:buChar char="•"/>
            </a:pPr>
            <a:r>
              <a:rPr lang="en-US" sz="2000" dirty="0">
                <a:solidFill>
                  <a:schemeClr val="tx1"/>
                </a:solidFill>
              </a:rPr>
              <a:t>Prompt agent: instrucciones del asistente universitario</a:t>
            </a:r>
            <a:endParaRPr lang="en-US" sz="2000" dirty="0"/>
          </a:p>
          <a:p>
            <a:pPr marL="342900" indent="-342900">
              <a:spcAft>
                <a:spcPts val="800"/>
              </a:spcAft>
              <a:buSzPct val="100000"/>
              <a:buChar char="•"/>
            </a:pPr>
            <a:r>
              <a:rPr lang="en-US" sz="2000" dirty="0">
                <a:solidFill>
                  <a:schemeClr val="tx1"/>
                </a:solidFill>
              </a:rPr>
              <a:t>Una herramienta de consulta (p. ej., calendario académico de ejemplo)</a:t>
            </a:r>
            <a:endParaRPr lang="en-US" sz="2000" dirty="0"/>
          </a:p>
          <a:p>
            <a:pPr marL="342900" indent="-342900">
              <a:spcAft>
                <a:spcPts val="800"/>
              </a:spcAft>
              <a:buSzPct val="100000"/>
              <a:buChar char="•"/>
            </a:pPr>
            <a:r>
              <a:rPr lang="en-US" sz="2000" dirty="0">
                <a:solidFill>
                  <a:schemeClr val="tx1"/>
                </a:solidFill>
              </a:rPr>
              <a:t>Probar en el playground y revisar la traza de la ejecución</a:t>
            </a:r>
            <a:endParaRPr lang="en-US" sz="2000" dirty="0"/>
          </a:p>
          <a:p>
            <a:pPr marL="342900" indent="-342900">
              <a:spcAft>
                <a:spcPts val="800"/>
              </a:spcAft>
              <a:buSzPct val="100000"/>
              <a:buChar char="•"/>
            </a:pPr>
            <a:r>
              <a:rPr lang="en-US" sz="2000" dirty="0">
                <a:solidFill>
                  <a:schemeClr val="tx1"/>
                </a:solidFill>
              </a:rPr>
              <a:t>Señalar los límites de confianza: identidad, herramienta, datos, modelo</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p>
            <a:pPr algn="l" indent="0" marL="0">
              <a:buNone/>
            </a:pPr>
            <a:r>
              <a:rPr lang="en-US" sz="3800" b="1" dirty="0">
                <a:solidFill>
                  <a:schemeClr val="bg1"/>
                </a:solidFill>
              </a:rPr>
              <a:t>Unidad E · Seguridad</a:t>
            </a: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p>
            <a:pPr indent="0" marL="0">
              <a:buNone/>
            </a:pPr>
            <a:r>
              <a:rPr lang="en-US" sz="2000" dirty="0">
                <a:solidFill>
                  <a:schemeClr val="bg2"/>
                </a:solidFill>
              </a:rPr>
              <a:t>En un LLM, los datos y las instrucciones viajan por el mismo canal.</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Responsabilidad compartida en aplicaciones LLM</a:t>
            </a:r>
            <a:endParaRPr lang="en-US" sz="2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532120"/>
                <a:gridCol w="5532120"/>
              </a:tblGrid>
              <a:tr h="0">
                <a:tc>
                  <a:txBody>
                    <a:bodyPr/>
                    <a:lstStyle/>
                    <a:p>
                      <a:pPr indent="0" marL="0">
                        <a:buNone/>
                      </a:pPr>
                      <a:r>
                        <a:rPr lang="en-US" sz="1600" b="1" dirty="0">
                          <a:solidFill>
                            <a:srgbClr val="FFFFFF"/>
                          </a:solidFill>
                        </a:rPr>
                        <a:t>Siempre del proveedor</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Siempre de la organización</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600" dirty="0">
                          <a:solidFill>
                            <a:srgbClr val="1B1F24"/>
                          </a:solidFill>
                        </a:rPr>
                        <a:t>Seguridad física e infraestructura</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Identidades y permisos</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600" dirty="0">
                          <a:solidFill>
                            <a:srgbClr val="1B1F24"/>
                          </a:solidFill>
                        </a:rPr>
                        <a:t>En gestionados: modelo y disponibilidad</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Clasificación y protección de datos</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24"/>
                          </a:solidFill>
                        </a:rPr>
                        <a:t>Parches de la plataforma gestionada</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Configuración de red</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Prompts, documentos y herramientas del agente</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Evaluación de lo que el sistema responde</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Identidad sin secretos estáticos y mínimo privilegio</a:t>
            </a:r>
            <a:endParaRPr lang="en-US" sz="2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4572000"/>
                <a:gridCol w="4114800"/>
              </a:tblGrid>
              <a:tr h="0">
                <a:tc>
                  <a:txBody>
                    <a:bodyPr/>
                    <a:lstStyle/>
                    <a:p>
                      <a:pPr indent="0" marL="0">
                        <a:buNone/>
                      </a:pPr>
                      <a:r>
                        <a:rPr lang="en-US" sz="1500" b="1" dirty="0">
                          <a:solidFill>
                            <a:srgbClr val="FFFFFF"/>
                          </a:solidFill>
                        </a:rPr>
                        <a:t>Identidad</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Mecanismo recomendado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Riesgo que evita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Usuario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SSO institucional con OIDC; RBAC por perfil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Acceso anónimo; información de otro perfil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Carga de trabajo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Identidad gestionada o workload identity</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Claves de API en código o repositorios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Herramienta del agente</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Credenciales de alcance mínimo; acceso en nombre del usuario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Agente con más permisos que el usuario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4023360"/>
            <a:ext cx="11064240" cy="548640"/>
          </a:xfrm>
          <a:prstGeom prst="rect">
            <a:avLst/>
          </a:prstGeom>
          <a:solidFill>
            <a:srgbClr val="B5443A"/>
          </a:solidFill>
          <a:ln w="12700">
            <a:solidFill>
              <a:srgbClr val="B5443A"/>
            </a:solidFill>
            <a:prstDash val="solid"/>
          </a:ln>
        </p:spPr>
      </p:sp>
      <p:sp>
        <p:nvSpPr>
          <p:cNvPr id="5" name="Text 2"/>
          <p:cNvSpPr txBox="1"/>
          <p:nvPr/>
        </p:nvSpPr>
        <p:spPr>
          <a:xfrm>
            <a:off x="685800" y="402336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RAG: filtrar la recuperación por los permisos del usuario final, no por los del backend.</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Red, cifrado y protección de datos</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Inferencia y datos en subredes privadas; endpoints privados hacia servicios gestionados</a:t>
            </a:r>
            <a:endParaRPr lang="en-US" sz="2000" dirty="0"/>
          </a:p>
          <a:p>
            <a:pPr marL="342900" indent="-342900">
              <a:spcAft>
                <a:spcPts val="800"/>
              </a:spcAft>
              <a:buSzPct val="100000"/>
              <a:buChar char="•"/>
            </a:pPr>
            <a:r>
              <a:rPr lang="en-US" sz="2000" dirty="0">
                <a:solidFill>
                  <a:schemeClr val="tx1"/>
                </a:solidFill>
              </a:rPr>
              <a:t>TLS en todos los saltos; cifrado en reposo con llaves gestionadas por el cliente si la política lo exige</a:t>
            </a:r>
            <a:endParaRPr lang="en-US" sz="2000" dirty="0"/>
          </a:p>
          <a:p>
            <a:pPr marL="342900" indent="-342900">
              <a:spcAft>
                <a:spcPts val="800"/>
              </a:spcAft>
              <a:buSzPct val="100000"/>
              <a:buChar char="•"/>
            </a:pPr>
            <a:r>
              <a:rPr lang="en-US" sz="2000" dirty="0">
                <a:solidFill>
                  <a:schemeClr val="tx1"/>
                </a:solidFill>
              </a:rPr>
              <a:t>Minimización: no enviar al modelo datos personales que la respuesta no necesite</a:t>
            </a:r>
            <a:endParaRPr lang="en-US" sz="2000" dirty="0"/>
          </a:p>
          <a:p>
            <a:pPr marL="342900" indent="-342900">
              <a:spcAft>
                <a:spcPts val="800"/>
              </a:spcAft>
              <a:buSzPct val="100000"/>
              <a:buChar char="•"/>
            </a:pPr>
            <a:r>
              <a:rPr lang="en-US" sz="2000" dirty="0">
                <a:solidFill>
                  <a:schemeClr val="tx1"/>
                </a:solidFill>
              </a:rPr>
              <a:t>Residencia: algunos despliegues 'globales' pueden procesar fuera de la región del recurso</a:t>
            </a:r>
            <a:endParaRPr lang="en-US" sz="2000" dirty="0"/>
          </a:p>
          <a:p>
            <a:pPr marL="342900" indent="-342900">
              <a:spcAft>
                <a:spcPts val="800"/>
              </a:spcAft>
              <a:buSzPct val="100000"/>
              <a:buChar char="•"/>
            </a:pPr>
            <a:r>
              <a:rPr lang="en-US" sz="2000" dirty="0">
                <a:solidFill>
                  <a:schemeClr val="tx1"/>
                </a:solidFill>
              </a:rPr>
              <a:t>Colombia: Ley Estatutaria 1581 de 2012 y decretos reglamentarios; análisis jurídico de la oficina competente</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OWASP Top 10 para aplicaciones LLM 2025</a:t>
            </a:r>
            <a:endParaRPr lang="en-US" sz="2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3566160"/>
                <a:gridCol w="4297680"/>
              </a:tblGrid>
              <a:tr h="0">
                <a:tc>
                  <a:txBody>
                    <a:bodyPr/>
                    <a:lstStyle/>
                    <a:p>
                      <a:pPr indent="0" marL="0">
                        <a:buNone/>
                      </a:pPr>
                      <a:r>
                        <a:rPr lang="en-US" sz="1100" b="1" dirty="0">
                          <a:solidFill>
                            <a:srgbClr val="FFFFFF"/>
                          </a:solidFill>
                        </a:rPr>
                        <a:t>Riesgo</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100" b="1" dirty="0">
                          <a:solidFill>
                            <a:srgbClr val="FFFFFF"/>
                          </a:solidFill>
                        </a:rPr>
                        <a:t>En el asistente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100" b="1" dirty="0">
                          <a:solidFill>
                            <a:srgbClr val="FFFFFF"/>
                          </a:solidFill>
                        </a:rPr>
                        <a:t>Control principal</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100" dirty="0">
                          <a:solidFill>
                            <a:srgbClr val="1B1F24"/>
                          </a:solidFill>
                        </a:rPr>
                        <a:t>LLM01 Prompt Injection</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Instrucciones en la pregunta o en un documento</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Separar instrucciones y datos, guardrails, mínimo privilegio</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LLM02 Sensitive Info Disclosure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Datos de otros estudiantes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Filtrado por permisos, minimización</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LLM03 Supply Chain</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Modelo o dependencia comprometidos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Fuentes verificadas, versiones fijadas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LLM04 Data/Model Poisoning</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Documento alterado en el corpus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Procedencia y control de cambios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LLM05 Improper Output Handling</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Salida ejecutada sin validar</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Tratar la salida como no confiable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LLM06 Excessive Agency</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Agente con permisos de escritura</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Mínimo privilegio, aprobación humana</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LLM07 System Prompt Leakage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Exposición de instrucciones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Sin secretos ni autorización en el prompt</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LLM08 Vector/Embedding Weaknesses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Acceso indebido al índice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Control de acceso en el vector store</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F24"/>
                          </a:solidFill>
                        </a:rPr>
                        <a:t>LLM09 Misinformation</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Respuesta incorrecta de reglamento</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100" dirty="0">
                          <a:solidFill>
                            <a:srgbClr val="1B1F24"/>
                          </a:solidFill>
                        </a:rPr>
                        <a:t>RAG con citas, evaluación</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100" dirty="0">
                          <a:solidFill>
                            <a:srgbClr val="1B1F24"/>
                          </a:solidFill>
                        </a:rPr>
                        <a:t>LLM10 Unbounded Consumption</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Abuso que agota cuota</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100" dirty="0">
                          <a:solidFill>
                            <a:srgbClr val="1B1F24"/>
                          </a:solidFill>
                        </a:rPr>
                        <a:t>Rate limiting, límites de tokens</a:t>
                      </a:r>
                      <a:endParaRPr lang="en-US" sz="11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Inyección indirecta a través de RAG</a:t>
            </a:r>
            <a:endParaRPr lang="en-US" sz="2800" dirty="0"/>
          </a:p>
        </p:txBody>
      </p:sp>
      <p:sp>
        <p:nvSpPr>
          <p:cNvPr id="3" name="Shape 1"/>
          <p:cNvSpPr/>
          <p:nvPr/>
        </p:nvSpPr>
        <p:spPr>
          <a:xfrm>
            <a:off x="548640" y="1645920"/>
            <a:ext cx="1993392" cy="1371600"/>
          </a:xfrm>
          <a:prstGeom prst="roundRect">
            <a:avLst>
              <a:gd name="adj" fmla="val 5333"/>
            </a:avLst>
          </a:prstGeom>
          <a:solidFill>
            <a:srgbClr val="DCEAF4"/>
          </a:solidFill>
          <a:ln w="12700">
            <a:solidFill>
              <a:srgbClr val="1F6F9F"/>
            </a:solidFill>
            <a:prstDash val="solid"/>
          </a:ln>
        </p:spPr>
      </p:sp>
      <p:sp>
        <p:nvSpPr>
          <p:cNvPr id="4" name="Text 2"/>
          <p:cNvSpPr txBox="1"/>
          <p:nvPr/>
        </p:nvSpPr>
        <p:spPr>
          <a:xfrm>
            <a:off x="548640" y="1645920"/>
            <a:ext cx="1993392"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Atacante inserta</a:t>
            </a:r>
            <a:endParaRPr lang="en-US" sz="1300" dirty="0"/>
          </a:p>
          <a:p>
            <a:pPr algn="ctr" indent="0" marL="0">
              <a:buNone/>
            </a:pPr>
            <a:r>
              <a:rPr lang="en-US" sz="1300" dirty="0">
                <a:solidFill>
                  <a:srgbClr val="1B1F24"/>
                </a:solidFill>
              </a:rPr>
              <a:t>instrucción en</a:t>
            </a:r>
            <a:endParaRPr lang="en-US" sz="1300" dirty="0"/>
          </a:p>
          <a:p>
            <a:pPr algn="ctr" indent="0" marL="0">
              <a:buNone/>
            </a:pPr>
            <a:r>
              <a:rPr lang="en-US" sz="1300" dirty="0">
                <a:solidFill>
                  <a:srgbClr val="1B1F24"/>
                </a:solidFill>
              </a:rPr>
              <a:t>un documento</a:t>
            </a:r>
            <a:endParaRPr lang="en-US" sz="1300" dirty="0"/>
          </a:p>
        </p:txBody>
      </p:sp>
      <p:sp>
        <p:nvSpPr>
          <p:cNvPr id="5" name="Shape 3"/>
          <p:cNvSpPr/>
          <p:nvPr/>
        </p:nvSpPr>
        <p:spPr>
          <a:xfrm>
            <a:off x="2542032" y="2331720"/>
            <a:ext cx="274320" cy="914"/>
          </a:xfrm>
          <a:prstGeom prst="line">
            <a:avLst/>
          </a:prstGeom>
          <a:noFill/>
          <a:ln w="19050">
            <a:solidFill>
              <a:srgbClr val="7A8794"/>
            </a:solidFill>
            <a:prstDash val="solid"/>
            <a:tailEnd type="triangle"/>
          </a:ln>
        </p:spPr>
      </p:sp>
      <p:sp>
        <p:nvSpPr>
          <p:cNvPr id="6" name="Shape 4"/>
          <p:cNvSpPr/>
          <p:nvPr/>
        </p:nvSpPr>
        <p:spPr>
          <a:xfrm>
            <a:off x="2816352" y="1645920"/>
            <a:ext cx="1993392" cy="1371600"/>
          </a:xfrm>
          <a:prstGeom prst="roundRect">
            <a:avLst>
              <a:gd name="adj" fmla="val 5333"/>
            </a:avLst>
          </a:prstGeom>
          <a:solidFill>
            <a:srgbClr val="F2F4F6"/>
          </a:solidFill>
          <a:ln w="12700">
            <a:solidFill>
              <a:srgbClr val="1F6F9F"/>
            </a:solidFill>
            <a:prstDash val="solid"/>
          </a:ln>
        </p:spPr>
      </p:sp>
      <p:sp>
        <p:nvSpPr>
          <p:cNvPr id="7" name="Text 5"/>
          <p:cNvSpPr txBox="1"/>
          <p:nvPr/>
        </p:nvSpPr>
        <p:spPr>
          <a:xfrm>
            <a:off x="2816352" y="1645920"/>
            <a:ext cx="1993392"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Usuario legítimo</a:t>
            </a:r>
            <a:endParaRPr lang="en-US" sz="1300" dirty="0"/>
          </a:p>
          <a:p>
            <a:pPr algn="ctr" indent="0" marL="0">
              <a:buNone/>
            </a:pPr>
            <a:r>
              <a:rPr lang="en-US" sz="1300" dirty="0">
                <a:solidFill>
                  <a:srgbClr val="1B1F24"/>
                </a:solidFill>
              </a:rPr>
              <a:t>pregunta</a:t>
            </a:r>
            <a:endParaRPr lang="en-US" sz="1300" dirty="0"/>
          </a:p>
        </p:txBody>
      </p:sp>
      <p:sp>
        <p:nvSpPr>
          <p:cNvPr id="8" name="Shape 6"/>
          <p:cNvSpPr/>
          <p:nvPr/>
        </p:nvSpPr>
        <p:spPr>
          <a:xfrm>
            <a:off x="4809744" y="2331720"/>
            <a:ext cx="274320" cy="914"/>
          </a:xfrm>
          <a:prstGeom prst="line">
            <a:avLst/>
          </a:prstGeom>
          <a:noFill/>
          <a:ln w="19050">
            <a:solidFill>
              <a:srgbClr val="7A8794"/>
            </a:solidFill>
            <a:prstDash val="solid"/>
            <a:tailEnd type="triangle"/>
          </a:ln>
        </p:spPr>
      </p:sp>
      <p:sp>
        <p:nvSpPr>
          <p:cNvPr id="9" name="Shape 7"/>
          <p:cNvSpPr/>
          <p:nvPr/>
        </p:nvSpPr>
        <p:spPr>
          <a:xfrm>
            <a:off x="5084064" y="1645920"/>
            <a:ext cx="1993392" cy="1371600"/>
          </a:xfrm>
          <a:prstGeom prst="roundRect">
            <a:avLst>
              <a:gd name="adj" fmla="val 5333"/>
            </a:avLst>
          </a:prstGeom>
          <a:solidFill>
            <a:srgbClr val="F2F4F6"/>
          </a:solidFill>
          <a:ln w="12700">
            <a:solidFill>
              <a:srgbClr val="1F6F9F"/>
            </a:solidFill>
            <a:prstDash val="solid"/>
          </a:ln>
        </p:spPr>
      </p:sp>
      <p:sp>
        <p:nvSpPr>
          <p:cNvPr id="10" name="Text 8"/>
          <p:cNvSpPr txBox="1"/>
          <p:nvPr/>
        </p:nvSpPr>
        <p:spPr>
          <a:xfrm>
            <a:off x="5084064" y="1645920"/>
            <a:ext cx="1993392"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Backend recupera</a:t>
            </a:r>
            <a:endParaRPr lang="en-US" sz="1300" dirty="0"/>
          </a:p>
          <a:p>
            <a:pPr algn="ctr" indent="0" marL="0">
              <a:buNone/>
            </a:pPr>
            <a:r>
              <a:rPr lang="en-US" sz="1300" dirty="0">
                <a:solidFill>
                  <a:srgbClr val="1B1F24"/>
                </a:solidFill>
              </a:rPr>
              <a:t>el fragmento</a:t>
            </a:r>
            <a:endParaRPr lang="en-US" sz="1300" dirty="0"/>
          </a:p>
        </p:txBody>
      </p:sp>
      <p:sp>
        <p:nvSpPr>
          <p:cNvPr id="11" name="Shape 9"/>
          <p:cNvSpPr/>
          <p:nvPr/>
        </p:nvSpPr>
        <p:spPr>
          <a:xfrm>
            <a:off x="7077456" y="2331720"/>
            <a:ext cx="274320" cy="914"/>
          </a:xfrm>
          <a:prstGeom prst="line">
            <a:avLst/>
          </a:prstGeom>
          <a:noFill/>
          <a:ln w="19050">
            <a:solidFill>
              <a:srgbClr val="7A8794"/>
            </a:solidFill>
            <a:prstDash val="solid"/>
            <a:tailEnd type="triangle"/>
          </a:ln>
        </p:spPr>
      </p:sp>
      <p:sp>
        <p:nvSpPr>
          <p:cNvPr id="12" name="Shape 10"/>
          <p:cNvSpPr/>
          <p:nvPr/>
        </p:nvSpPr>
        <p:spPr>
          <a:xfrm>
            <a:off x="7351776" y="1645920"/>
            <a:ext cx="1993392" cy="1371600"/>
          </a:xfrm>
          <a:prstGeom prst="roundRect">
            <a:avLst>
              <a:gd name="adj" fmla="val 5333"/>
            </a:avLst>
          </a:prstGeom>
          <a:solidFill>
            <a:srgbClr val="F2F4F6"/>
          </a:solidFill>
          <a:ln w="12700">
            <a:solidFill>
              <a:srgbClr val="1F6F9F"/>
            </a:solidFill>
            <a:prstDash val="solid"/>
          </a:ln>
        </p:spPr>
      </p:sp>
      <p:sp>
        <p:nvSpPr>
          <p:cNvPr id="13" name="Text 11"/>
          <p:cNvSpPr txBox="1"/>
          <p:nvPr/>
        </p:nvSpPr>
        <p:spPr>
          <a:xfrm>
            <a:off x="7351776" y="1645920"/>
            <a:ext cx="1993392"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Prompt =</a:t>
            </a:r>
            <a:endParaRPr lang="en-US" sz="1300" dirty="0"/>
          </a:p>
          <a:p>
            <a:pPr algn="ctr" indent="0" marL="0">
              <a:buNone/>
            </a:pPr>
            <a:r>
              <a:rPr lang="en-US" sz="1300" dirty="0">
                <a:solidFill>
                  <a:srgbClr val="1B1F24"/>
                </a:solidFill>
              </a:rPr>
              <a:t>instrucciones +</a:t>
            </a:r>
            <a:endParaRPr lang="en-US" sz="1300" dirty="0"/>
          </a:p>
          <a:p>
            <a:pPr algn="ctr" indent="0" marL="0">
              <a:buNone/>
            </a:pPr>
            <a:r>
              <a:rPr lang="en-US" sz="1300" dirty="0">
                <a:solidFill>
                  <a:srgbClr val="1B1F24"/>
                </a:solidFill>
              </a:rPr>
              <a:t>pregunta + fragmento</a:t>
            </a:r>
            <a:endParaRPr lang="en-US" sz="1300" dirty="0"/>
          </a:p>
        </p:txBody>
      </p:sp>
      <p:sp>
        <p:nvSpPr>
          <p:cNvPr id="14" name="Shape 12"/>
          <p:cNvSpPr/>
          <p:nvPr/>
        </p:nvSpPr>
        <p:spPr>
          <a:xfrm>
            <a:off x="9345168" y="2331720"/>
            <a:ext cx="274320" cy="914"/>
          </a:xfrm>
          <a:prstGeom prst="line">
            <a:avLst/>
          </a:prstGeom>
          <a:noFill/>
          <a:ln w="19050">
            <a:solidFill>
              <a:srgbClr val="7A8794"/>
            </a:solidFill>
            <a:prstDash val="solid"/>
            <a:tailEnd type="triangle"/>
          </a:ln>
        </p:spPr>
      </p:sp>
      <p:sp>
        <p:nvSpPr>
          <p:cNvPr id="15" name="Shape 13"/>
          <p:cNvSpPr/>
          <p:nvPr/>
        </p:nvSpPr>
        <p:spPr>
          <a:xfrm>
            <a:off x="9619488" y="1645920"/>
            <a:ext cx="1993392" cy="1371600"/>
          </a:xfrm>
          <a:prstGeom prst="roundRect">
            <a:avLst>
              <a:gd name="adj" fmla="val 5333"/>
            </a:avLst>
          </a:prstGeom>
          <a:solidFill>
            <a:srgbClr val="F2F4F6"/>
          </a:solidFill>
          <a:ln w="12700">
            <a:solidFill>
              <a:srgbClr val="1F6F9F"/>
            </a:solidFill>
            <a:prstDash val="solid"/>
          </a:ln>
        </p:spPr>
      </p:sp>
      <p:sp>
        <p:nvSpPr>
          <p:cNvPr id="16" name="Text 14"/>
          <p:cNvSpPr txBox="1"/>
          <p:nvPr/>
        </p:nvSpPr>
        <p:spPr>
          <a:xfrm>
            <a:off x="9619488" y="1645920"/>
            <a:ext cx="1993392" cy="1371600"/>
          </a:xfrm>
          <a:prstGeom prst="rect">
            <a:avLst/>
          </a:prstGeom>
          <a:noFill/>
          <a:ln/>
        </p:spPr>
        <p:txBody>
          <a:bodyPr wrap="square" lIns="635" tIns="635" rIns="635" bIns="635" rtlCol="0" anchor="ctr"/>
          <a:lstStyle/>
          <a:p>
            <a:pPr algn="ctr" indent="0" marL="0">
              <a:buNone/>
            </a:pPr>
            <a:r>
              <a:rPr lang="en-US" sz="1300" dirty="0">
                <a:solidFill>
                  <a:srgbClr val="1B1F24"/>
                </a:solidFill>
              </a:rPr>
              <a:t>Respuesta</a:t>
            </a:r>
            <a:endParaRPr lang="en-US" sz="1300" dirty="0"/>
          </a:p>
          <a:p>
            <a:pPr algn="ctr" indent="0" marL="0">
              <a:buNone/>
            </a:pPr>
            <a:r>
              <a:rPr lang="en-US" sz="1300" dirty="0">
                <a:solidFill>
                  <a:srgbClr val="1B1F24"/>
                </a:solidFill>
              </a:rPr>
              <a:t>influida por</a:t>
            </a:r>
            <a:endParaRPr lang="en-US" sz="1300" dirty="0"/>
          </a:p>
          <a:p>
            <a:pPr algn="ctr" indent="0" marL="0">
              <a:buNone/>
            </a:pPr>
            <a:r>
              <a:rPr lang="en-US" sz="1300" dirty="0">
                <a:solidFill>
                  <a:srgbClr val="1B1F24"/>
                </a:solidFill>
              </a:rPr>
              <a:t>el atacante</a:t>
            </a:r>
            <a:endParaRPr lang="en-US" sz="1300" dirty="0"/>
          </a:p>
        </p:txBody>
      </p:sp>
      <p:sp>
        <p:nvSpPr>
          <p:cNvPr id="17" name="Text 15"/>
          <p:cNvSpPr txBox="1"/>
          <p:nvPr/>
        </p:nvSpPr>
        <p:spPr>
          <a:xfrm>
            <a:off x="548640" y="3474720"/>
            <a:ext cx="11064240" cy="219456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No existe hoy un control que elimine por completo la inyección de prompts</a:t>
            </a:r>
            <a:endParaRPr lang="en-US" sz="1700" dirty="0"/>
          </a:p>
          <a:p>
            <a:pPr marL="342900" indent="-342900">
              <a:spcAft>
                <a:spcPts val="800"/>
              </a:spcAft>
              <a:buSzPct val="100000"/>
              <a:buChar char="•"/>
            </a:pPr>
            <a:r>
              <a:rPr lang="en-US" sz="1700" dirty="0">
                <a:solidFill>
                  <a:schemeClr val="tx1"/>
                </a:solidFill>
              </a:rPr>
              <a:t>Objetivo de diseño: limitar el daño posible cuando ocurre</a:t>
            </a:r>
            <a:endParaRPr lang="en-US" sz="1700" dirty="0"/>
          </a:p>
          <a:p>
            <a:pPr marL="342900" indent="-342900">
              <a:spcAft>
                <a:spcPts val="800"/>
              </a:spcAft>
              <a:buSzPct val="100000"/>
              <a:buChar char="•"/>
            </a:pPr>
            <a:r>
              <a:rPr lang="en-US" sz="1700" dirty="0">
                <a:solidFill>
                  <a:schemeClr val="tx1"/>
                </a:solidFill>
              </a:rPr>
              <a:t>Controles: procedencia de documentos, delimitación de datos, guardrails de salida, herramientas de mínimo privilegio</a:t>
            </a:r>
            <a:endParaRPr lang="en-US" sz="17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Defensa en profundidad, auditoría y gobierno</a:t>
            </a:r>
            <a:endParaRPr lang="en-US" sz="2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8869680"/>
              </a:tblGrid>
              <a:tr h="0">
                <a:tc>
                  <a:txBody>
                    <a:bodyPr/>
                    <a:lstStyle/>
                    <a:p>
                      <a:pPr indent="0" marL="0">
                        <a:buNone/>
                      </a:pPr>
                      <a:r>
                        <a:rPr lang="en-US" sz="1400" b="1" dirty="0">
                          <a:solidFill>
                            <a:srgbClr val="FFFFFF"/>
                          </a:solidFill>
                        </a:rPr>
                        <a:t>Capa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Controles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Perímetro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WAF, autenticación en el gateway, rate limiting</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Entrada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Guardrails, límites de longitud, detección de inyección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Contexto</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Filtrado por permisos, procedencia de documentos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Modelo y agente</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Instrucciones de sistema, herramientas de mínimo privilegio, aprobación humana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Salida</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Guardrails de salida, validación antes de ejecutar o mostrar</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Operación</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Logging seguro, trazas por solicitud, auditoría, respuesta a incidentes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512064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512064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Gobierno: NIST AI RMF y perfil de IA generativa · ISO/IEC 42001 (sistemas de gestión de IA)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280160"/>
          </a:xfrm>
          <a:prstGeom prst="rect">
            <a:avLst/>
          </a:prstGeom>
          <a:noFill/>
          <a:ln/>
        </p:spPr>
        <p:txBody>
          <a:bodyPr wrap="square" rtlCol="0"/>
          <a:lstStyle/>
          <a:p>
            <a:pPr algn="l" indent="0" marL="0">
              <a:buNone/>
            </a:pPr>
            <a:r>
              <a:rPr lang="en-US" sz="3800" b="1" dirty="0">
                <a:solidFill>
                  <a:schemeClr val="bg1"/>
                </a:solidFill>
              </a:rPr>
              <a:t>Unidad F · Rendimiento, SLO y FinOps</a:t>
            </a:r>
            <a:endParaRPr lang="en-US" sz="38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p>
            <a:pPr indent="0" marL="0">
              <a:buNone/>
            </a:pPr>
            <a:r>
              <a:rPr lang="en-US" sz="2000" dirty="0">
                <a:solidFill>
                  <a:schemeClr val="bg2"/>
                </a:solidFill>
              </a:rPr>
              <a:t>¿Es suficientemente rápido? ¿Cuánto costará? Traducir supuestos a solicitudes y tokens.</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Latencia end-to-end y métricas de inferencia</a:t>
            </a:r>
            <a:endParaRPr lang="en-US" sz="2800" dirty="0"/>
          </a:p>
        </p:txBody>
      </p:sp>
      <p:sp>
        <p:nvSpPr>
          <p:cNvPr id="3" name="Shape 1"/>
          <p:cNvSpPr/>
          <p:nvPr/>
        </p:nvSpPr>
        <p:spPr>
          <a:xfrm>
            <a:off x="548640" y="1371600"/>
            <a:ext cx="1345474" cy="822960"/>
          </a:xfrm>
          <a:prstGeom prst="roundRect">
            <a:avLst>
              <a:gd name="adj" fmla="val 8889"/>
            </a:avLst>
          </a:prstGeom>
          <a:solidFill>
            <a:srgbClr val="DCEAF4"/>
          </a:solidFill>
          <a:ln w="12700">
            <a:solidFill>
              <a:srgbClr val="1F6F9F"/>
            </a:solidFill>
            <a:prstDash val="solid"/>
          </a:ln>
        </p:spPr>
      </p:sp>
      <p:sp>
        <p:nvSpPr>
          <p:cNvPr id="4" name="Text 2"/>
          <p:cNvSpPr txBox="1"/>
          <p:nvPr/>
        </p:nvSpPr>
        <p:spPr>
          <a:xfrm>
            <a:off x="548640"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Red</a:t>
            </a:r>
            <a:endParaRPr lang="en-US" sz="1300" dirty="0"/>
          </a:p>
        </p:txBody>
      </p:sp>
      <p:sp>
        <p:nvSpPr>
          <p:cNvPr id="5" name="Shape 3"/>
          <p:cNvSpPr/>
          <p:nvPr/>
        </p:nvSpPr>
        <p:spPr>
          <a:xfrm>
            <a:off x="1894114" y="1783080"/>
            <a:ext cx="274320" cy="914"/>
          </a:xfrm>
          <a:prstGeom prst="line">
            <a:avLst/>
          </a:prstGeom>
          <a:noFill/>
          <a:ln w="19050">
            <a:solidFill>
              <a:srgbClr val="7A8794"/>
            </a:solidFill>
            <a:prstDash val="solid"/>
            <a:tailEnd type="triangle"/>
          </a:ln>
        </p:spPr>
      </p:sp>
      <p:sp>
        <p:nvSpPr>
          <p:cNvPr id="6" name="Shape 4"/>
          <p:cNvSpPr/>
          <p:nvPr/>
        </p:nvSpPr>
        <p:spPr>
          <a:xfrm>
            <a:off x="2168434" y="1371600"/>
            <a:ext cx="1345474" cy="822960"/>
          </a:xfrm>
          <a:prstGeom prst="roundRect">
            <a:avLst>
              <a:gd name="adj" fmla="val 8889"/>
            </a:avLst>
          </a:prstGeom>
          <a:solidFill>
            <a:srgbClr val="F2F4F6"/>
          </a:solidFill>
          <a:ln w="12700">
            <a:solidFill>
              <a:srgbClr val="1F6F9F"/>
            </a:solidFill>
            <a:prstDash val="solid"/>
          </a:ln>
        </p:spPr>
      </p:sp>
      <p:sp>
        <p:nvSpPr>
          <p:cNvPr id="7" name="Text 5"/>
          <p:cNvSpPr txBox="1"/>
          <p:nvPr/>
        </p:nvSpPr>
        <p:spPr>
          <a:xfrm>
            <a:off x="2168434"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Gateway</a:t>
            </a:r>
            <a:endParaRPr lang="en-US" sz="1300" dirty="0"/>
          </a:p>
        </p:txBody>
      </p:sp>
      <p:sp>
        <p:nvSpPr>
          <p:cNvPr id="8" name="Shape 6"/>
          <p:cNvSpPr/>
          <p:nvPr/>
        </p:nvSpPr>
        <p:spPr>
          <a:xfrm>
            <a:off x="3513909" y="1783080"/>
            <a:ext cx="274320" cy="914"/>
          </a:xfrm>
          <a:prstGeom prst="line">
            <a:avLst/>
          </a:prstGeom>
          <a:noFill/>
          <a:ln w="19050">
            <a:solidFill>
              <a:srgbClr val="7A8794"/>
            </a:solidFill>
            <a:prstDash val="solid"/>
            <a:tailEnd type="triangle"/>
          </a:ln>
        </p:spPr>
      </p:sp>
      <p:sp>
        <p:nvSpPr>
          <p:cNvPr id="9" name="Shape 7"/>
          <p:cNvSpPr/>
          <p:nvPr/>
        </p:nvSpPr>
        <p:spPr>
          <a:xfrm>
            <a:off x="3788229" y="1371600"/>
            <a:ext cx="1345474" cy="822960"/>
          </a:xfrm>
          <a:prstGeom prst="roundRect">
            <a:avLst>
              <a:gd name="adj" fmla="val 8889"/>
            </a:avLst>
          </a:prstGeom>
          <a:solidFill>
            <a:srgbClr val="F2F4F6"/>
          </a:solidFill>
          <a:ln w="12700">
            <a:solidFill>
              <a:srgbClr val="1F6F9F"/>
            </a:solidFill>
            <a:prstDash val="solid"/>
          </a:ln>
        </p:spPr>
      </p:sp>
      <p:sp>
        <p:nvSpPr>
          <p:cNvPr id="10" name="Text 8"/>
          <p:cNvSpPr txBox="1"/>
          <p:nvPr/>
        </p:nvSpPr>
        <p:spPr>
          <a:xfrm>
            <a:off x="3788229"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Recuperación</a:t>
            </a:r>
            <a:endParaRPr lang="en-US" sz="1300" dirty="0"/>
          </a:p>
          <a:p>
            <a:pPr algn="ctr" indent="0" marL="0">
              <a:buNone/>
            </a:pPr>
            <a:r>
              <a:rPr lang="en-US" sz="1300" dirty="0">
                <a:solidFill>
                  <a:srgbClr val="1B1F24"/>
                </a:solidFill>
              </a:rPr>
              <a:t>RAG</a:t>
            </a:r>
            <a:endParaRPr lang="en-US" sz="1300" dirty="0"/>
          </a:p>
        </p:txBody>
      </p:sp>
      <p:sp>
        <p:nvSpPr>
          <p:cNvPr id="11" name="Shape 9"/>
          <p:cNvSpPr/>
          <p:nvPr/>
        </p:nvSpPr>
        <p:spPr>
          <a:xfrm>
            <a:off x="5133703" y="1783080"/>
            <a:ext cx="274320" cy="914"/>
          </a:xfrm>
          <a:prstGeom prst="line">
            <a:avLst/>
          </a:prstGeom>
          <a:noFill/>
          <a:ln w="19050">
            <a:solidFill>
              <a:srgbClr val="7A8794"/>
            </a:solidFill>
            <a:prstDash val="solid"/>
            <a:tailEnd type="triangle"/>
          </a:ln>
        </p:spPr>
      </p:sp>
      <p:sp>
        <p:nvSpPr>
          <p:cNvPr id="12" name="Shape 10"/>
          <p:cNvSpPr/>
          <p:nvPr/>
        </p:nvSpPr>
        <p:spPr>
          <a:xfrm>
            <a:off x="5408023" y="1371600"/>
            <a:ext cx="1345474" cy="822960"/>
          </a:xfrm>
          <a:prstGeom prst="roundRect">
            <a:avLst>
              <a:gd name="adj" fmla="val 8889"/>
            </a:avLst>
          </a:prstGeom>
          <a:solidFill>
            <a:srgbClr val="F2F4F6"/>
          </a:solidFill>
          <a:ln w="12700">
            <a:solidFill>
              <a:srgbClr val="1F6F9F"/>
            </a:solidFill>
            <a:prstDash val="solid"/>
          </a:ln>
        </p:spPr>
      </p:sp>
      <p:sp>
        <p:nvSpPr>
          <p:cNvPr id="13" name="Text 11"/>
          <p:cNvSpPr txBox="1"/>
          <p:nvPr/>
        </p:nvSpPr>
        <p:spPr>
          <a:xfrm>
            <a:off x="5408023"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Cola</a:t>
            </a:r>
            <a:endParaRPr lang="en-US" sz="1300" dirty="0"/>
          </a:p>
        </p:txBody>
      </p:sp>
      <p:sp>
        <p:nvSpPr>
          <p:cNvPr id="14" name="Shape 12"/>
          <p:cNvSpPr/>
          <p:nvPr/>
        </p:nvSpPr>
        <p:spPr>
          <a:xfrm>
            <a:off x="6753497" y="1783080"/>
            <a:ext cx="274320" cy="914"/>
          </a:xfrm>
          <a:prstGeom prst="line">
            <a:avLst/>
          </a:prstGeom>
          <a:noFill/>
          <a:ln w="19050">
            <a:solidFill>
              <a:srgbClr val="7A8794"/>
            </a:solidFill>
            <a:prstDash val="solid"/>
            <a:tailEnd type="triangle"/>
          </a:ln>
        </p:spPr>
      </p:sp>
      <p:sp>
        <p:nvSpPr>
          <p:cNvPr id="15" name="Shape 13"/>
          <p:cNvSpPr/>
          <p:nvPr/>
        </p:nvSpPr>
        <p:spPr>
          <a:xfrm>
            <a:off x="7027817" y="1371600"/>
            <a:ext cx="1345474" cy="822960"/>
          </a:xfrm>
          <a:prstGeom prst="roundRect">
            <a:avLst>
              <a:gd name="adj" fmla="val 8889"/>
            </a:avLst>
          </a:prstGeom>
          <a:solidFill>
            <a:srgbClr val="F2F4F6"/>
          </a:solidFill>
          <a:ln w="12700">
            <a:solidFill>
              <a:srgbClr val="1F6F9F"/>
            </a:solidFill>
            <a:prstDash val="solid"/>
          </a:ln>
        </p:spPr>
      </p:sp>
      <p:sp>
        <p:nvSpPr>
          <p:cNvPr id="16" name="Text 14"/>
          <p:cNvSpPr txBox="1"/>
          <p:nvPr/>
        </p:nvSpPr>
        <p:spPr>
          <a:xfrm>
            <a:off x="7027817"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Prefill</a:t>
            </a:r>
            <a:endParaRPr lang="en-US" sz="1300" dirty="0"/>
          </a:p>
        </p:txBody>
      </p:sp>
      <p:sp>
        <p:nvSpPr>
          <p:cNvPr id="17" name="Shape 15"/>
          <p:cNvSpPr/>
          <p:nvPr/>
        </p:nvSpPr>
        <p:spPr>
          <a:xfrm>
            <a:off x="8373291" y="1783080"/>
            <a:ext cx="274320" cy="914"/>
          </a:xfrm>
          <a:prstGeom prst="line">
            <a:avLst/>
          </a:prstGeom>
          <a:noFill/>
          <a:ln w="19050">
            <a:solidFill>
              <a:srgbClr val="7A8794"/>
            </a:solidFill>
            <a:prstDash val="solid"/>
            <a:tailEnd type="triangle"/>
          </a:ln>
        </p:spPr>
      </p:sp>
      <p:sp>
        <p:nvSpPr>
          <p:cNvPr id="18" name="Shape 16"/>
          <p:cNvSpPr/>
          <p:nvPr/>
        </p:nvSpPr>
        <p:spPr>
          <a:xfrm>
            <a:off x="8647611" y="1371600"/>
            <a:ext cx="1345474" cy="822960"/>
          </a:xfrm>
          <a:prstGeom prst="roundRect">
            <a:avLst>
              <a:gd name="adj" fmla="val 8889"/>
            </a:avLst>
          </a:prstGeom>
          <a:solidFill>
            <a:srgbClr val="F2F4F6"/>
          </a:solidFill>
          <a:ln w="12700">
            <a:solidFill>
              <a:srgbClr val="1F6F9F"/>
            </a:solidFill>
            <a:prstDash val="solid"/>
          </a:ln>
        </p:spPr>
      </p:sp>
      <p:sp>
        <p:nvSpPr>
          <p:cNvPr id="19" name="Text 17"/>
          <p:cNvSpPr txBox="1"/>
          <p:nvPr/>
        </p:nvSpPr>
        <p:spPr>
          <a:xfrm>
            <a:off x="8647611"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Decode</a:t>
            </a:r>
            <a:endParaRPr lang="en-US" sz="1300" dirty="0"/>
          </a:p>
        </p:txBody>
      </p:sp>
      <p:sp>
        <p:nvSpPr>
          <p:cNvPr id="20" name="Shape 18"/>
          <p:cNvSpPr/>
          <p:nvPr/>
        </p:nvSpPr>
        <p:spPr>
          <a:xfrm>
            <a:off x="9993086" y="1783080"/>
            <a:ext cx="274320" cy="914"/>
          </a:xfrm>
          <a:prstGeom prst="line">
            <a:avLst/>
          </a:prstGeom>
          <a:noFill/>
          <a:ln w="19050">
            <a:solidFill>
              <a:srgbClr val="7A8794"/>
            </a:solidFill>
            <a:prstDash val="solid"/>
            <a:tailEnd type="triangle"/>
          </a:ln>
        </p:spPr>
      </p:sp>
      <p:sp>
        <p:nvSpPr>
          <p:cNvPr id="21" name="Shape 19"/>
          <p:cNvSpPr/>
          <p:nvPr/>
        </p:nvSpPr>
        <p:spPr>
          <a:xfrm>
            <a:off x="10267406" y="1371600"/>
            <a:ext cx="1345474" cy="822960"/>
          </a:xfrm>
          <a:prstGeom prst="roundRect">
            <a:avLst>
              <a:gd name="adj" fmla="val 8889"/>
            </a:avLst>
          </a:prstGeom>
          <a:solidFill>
            <a:srgbClr val="F2F4F6"/>
          </a:solidFill>
          <a:ln w="12700">
            <a:solidFill>
              <a:srgbClr val="1F6F9F"/>
            </a:solidFill>
            <a:prstDash val="solid"/>
          </a:ln>
        </p:spPr>
      </p:sp>
      <p:sp>
        <p:nvSpPr>
          <p:cNvPr id="22" name="Text 20"/>
          <p:cNvSpPr txBox="1"/>
          <p:nvPr/>
        </p:nvSpPr>
        <p:spPr>
          <a:xfrm>
            <a:off x="10267406" y="1371600"/>
            <a:ext cx="1345474" cy="822960"/>
          </a:xfrm>
          <a:prstGeom prst="rect">
            <a:avLst/>
          </a:prstGeom>
          <a:noFill/>
          <a:ln/>
        </p:spPr>
        <p:txBody>
          <a:bodyPr wrap="square" lIns="635" tIns="635" rIns="635" bIns="635" rtlCol="0" anchor="ctr"/>
          <a:lstStyle/>
          <a:p>
            <a:pPr algn="ctr" indent="0" marL="0">
              <a:buNone/>
            </a:pPr>
            <a:r>
              <a:rPr lang="en-US" sz="1300" dirty="0">
                <a:solidFill>
                  <a:srgbClr val="1B1F24"/>
                </a:solidFill>
              </a:rPr>
              <a:t>Posproceso</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11064240" cy="914400"/>
        </p:xfrm>
        <a:graphic>
          <a:graphicData uri="http://schemas.openxmlformats.org/drawingml/2006/table">
            <a:tbl>
              <a:tblPr/>
              <a:tblGrid>
                <a:gridCol w="1828800"/>
                <a:gridCol w="5303520"/>
                <a:gridCol w="3931920"/>
              </a:tblGrid>
              <a:tr h="0">
                <a:tc>
                  <a:txBody>
                    <a:bodyPr/>
                    <a:lstStyle/>
                    <a:p>
                      <a:pPr indent="0" marL="0">
                        <a:buNone/>
                      </a:pPr>
                      <a:r>
                        <a:rPr lang="en-US" sz="1500" b="1" dirty="0">
                          <a:solidFill>
                            <a:srgbClr val="FFFFFF"/>
                          </a:solidFill>
                        </a:rPr>
                        <a:t>Métrica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Definición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Lo que percibe el usuario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TTFT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Tiempo hasta el primer token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Tarda en empezar a responder</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TPOT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(Latencia total − TTFT) / (tokens de salida − 1)</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Velocidad del texto en pantalla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Throughput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Tokens o solicitudes por segundo del sistema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No lo percibe; determina el costo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4" name="Shape 21"/>
          <p:cNvSpPr/>
          <p:nvPr/>
        </p:nvSpPr>
        <p:spPr>
          <a:xfrm>
            <a:off x="548640" y="4937760"/>
            <a:ext cx="11064240" cy="548640"/>
          </a:xfrm>
          <a:prstGeom prst="rect">
            <a:avLst/>
          </a:prstGeom>
          <a:solidFill>
            <a:srgbClr val="2E9C8A"/>
          </a:solidFill>
          <a:ln w="12700">
            <a:solidFill>
              <a:srgbClr val="2E9C8A"/>
            </a:solidFill>
            <a:prstDash val="solid"/>
          </a:ln>
        </p:spPr>
      </p:sp>
      <p:sp>
        <p:nvSpPr>
          <p:cNvPr id="25" name="Text 22"/>
          <p:cNvSpPr txBox="1"/>
          <p:nvPr/>
        </p:nvSpPr>
        <p:spPr>
          <a:xfrm>
            <a:off x="685800" y="493776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Reportar percentiles (p50, p95, p99), nunca solo promedios.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Concurrencia, colas y saturación</a:t>
            </a:r>
            <a:endParaRPr lang="en-US" sz="2800" dirty="0"/>
          </a:p>
        </p:txBody>
      </p:sp>
      <p:sp>
        <p:nvSpPr>
          <p:cNvPr id="3" name="Text 1"/>
          <p:cNvSpPr txBox="1"/>
          <p:nvPr/>
        </p:nvSpPr>
        <p:spPr>
          <a:xfrm>
            <a:off x="548640" y="1188720"/>
            <a:ext cx="11064240" cy="548640"/>
          </a:xfrm>
          <a:prstGeom prst="rect">
            <a:avLst/>
          </a:prstGeom>
          <a:noFill/>
          <a:ln/>
        </p:spPr>
        <p:txBody>
          <a:bodyPr wrap="square" rtlCol="0" anchor="ctr"/>
          <a:lstStyle/>
          <a:p>
            <a:pPr algn="ctr" indent="0" marL="0">
              <a:buNone/>
            </a:pPr>
            <a:r>
              <a:rPr lang="en-US" sz="2200" b="1" dirty="0">
                <a:solidFill>
                  <a:schemeClr val="accent1"/>
                </a:solidFill>
              </a:rPr>
              <a:t>Ley de Little:  L = λ × W</a:t>
            </a:r>
            <a:endParaRPr lang="en-US" sz="2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657600"/>
                <a:gridCol w="3657600"/>
                <a:gridCol w="3749040"/>
              </a:tblGrid>
              <a:tr h="0">
                <a:tc>
                  <a:txBody>
                    <a:bodyPr/>
                    <a:lstStyle/>
                    <a:p>
                      <a:pPr indent="0" marL="0">
                        <a:buNone/>
                      </a:pPr>
                      <a:r>
                        <a:rPr lang="en-US" sz="1500" b="1" dirty="0">
                          <a:solidFill>
                            <a:srgbClr val="FFFFFF"/>
                          </a:solidFill>
                        </a:rPr>
                        <a:t>Magnitud del caso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Cálculo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Resultado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Tasa de llegada λ</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100 usuarios / 60 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 1,7 solicitudes/s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Solicitudes en curso 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1,7 × 10 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 17 (coherente con S = 25)</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Tokens de entrada por minuto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100 × 3.000</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300.000</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Tokens de salida por minuto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100 × 300</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30.000</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Demanda en hora pico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 330.000 tokens/min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5" name="Shape 2"/>
          <p:cNvSpPr/>
          <p:nvPr/>
        </p:nvSpPr>
        <p:spPr>
          <a:xfrm>
            <a:off x="548640" y="5029200"/>
            <a:ext cx="11064240" cy="548640"/>
          </a:xfrm>
          <a:prstGeom prst="rect">
            <a:avLst/>
          </a:prstGeom>
          <a:solidFill>
            <a:srgbClr val="2E9C8A"/>
          </a:solidFill>
          <a:ln w="12700">
            <a:solidFill>
              <a:srgbClr val="2E9C8A"/>
            </a:solidFill>
            <a:prstDash val="solid"/>
          </a:ln>
        </p:spPr>
      </p:sp>
      <p:sp>
        <p:nvSpPr>
          <p:cNvPr id="6" name="Text 3"/>
          <p:cNvSpPr txBox="1"/>
          <p:nvPr/>
        </p:nvSpPr>
        <p:spPr>
          <a:xfrm>
            <a:off x="685800" y="502920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El 90 % de los tokens son de entrada: recortar el contexto RAG ahorra más que acortar respuestas.</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SLI, SLO y SLA</a:t>
            </a:r>
            <a:endParaRPr lang="en-US" sz="28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3931920"/>
                <a:gridCol w="5486400"/>
              </a:tblGrid>
              <a:tr h="0">
                <a:tc>
                  <a:txBody>
                    <a:bodyPr/>
                    <a:lstStyle/>
                    <a:p>
                      <a:pPr indent="0" marL="0">
                        <a:buNone/>
                      </a:pPr>
                      <a:r>
                        <a:rPr lang="en-US" sz="1600" b="1" dirty="0">
                          <a:solidFill>
                            <a:srgbClr val="FFFFFF"/>
                          </a:solidFill>
                        </a:rPr>
                        <a:t>Concepto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Definición</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600" b="1" dirty="0">
                          <a:solidFill>
                            <a:srgbClr val="FFFFFF"/>
                          </a:solidFill>
                        </a:rPr>
                        <a:t>Ejemplo para el asistente</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600" dirty="0">
                          <a:solidFill>
                            <a:srgbClr val="1B1F24"/>
                          </a:solidFill>
                        </a:rPr>
                        <a:t>SLI</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Indicador medido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Proporción de solicitudes exitosas; TTFT p95</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600" dirty="0">
                          <a:solidFill>
                            <a:srgbClr val="1B1F24"/>
                          </a:solidFill>
                        </a:rPr>
                        <a:t>SLO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Objetivo interno</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600" dirty="0">
                          <a:solidFill>
                            <a:srgbClr val="1B1F24"/>
                          </a:solidFill>
                        </a:rPr>
                        <a:t>99,9 % mensual; TTFT p95 ≤ 2 s (propuesta a validar)</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B1F24"/>
                          </a:solidFill>
                        </a:rPr>
                        <a:t>SLA</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Acuerdo contractual con consecuencias</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600" dirty="0">
                          <a:solidFill>
                            <a:srgbClr val="1B1F24"/>
                          </a:solidFill>
                        </a:rPr>
                        <a:t>Lo que el proveedor garantiza a la universidad</a:t>
                      </a:r>
                      <a:endParaRPr lang="en-US" sz="16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4" name="Shape 1"/>
          <p:cNvSpPr/>
          <p:nvPr/>
        </p:nvSpPr>
        <p:spPr>
          <a:xfrm>
            <a:off x="548640" y="3657600"/>
            <a:ext cx="11064240" cy="548640"/>
          </a:xfrm>
          <a:prstGeom prst="rect">
            <a:avLst/>
          </a:prstGeom>
          <a:solidFill>
            <a:srgbClr val="2E9C8A"/>
          </a:solidFill>
          <a:ln w="12700">
            <a:solidFill>
              <a:srgbClr val="2E9C8A"/>
            </a:solidFill>
            <a:prstDash val="solid"/>
          </a:ln>
        </p:spPr>
      </p:sp>
      <p:sp>
        <p:nvSpPr>
          <p:cNvPr id="5" name="Text 2"/>
          <p:cNvSpPr txBox="1"/>
          <p:nvPr/>
        </p:nvSpPr>
        <p:spPr>
          <a:xfrm>
            <a:off x="685800" y="365760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Presupuesto de error: 0,1 % × 43.200 min ≈ 43 min al mes.</a:t>
            </a:r>
            <a:endParaRPr lang="en-US" sz="1500" dirty="0"/>
          </a:p>
        </p:txBody>
      </p:sp>
      <p:sp>
        <p:nvSpPr>
          <p:cNvPr id="6" name="Text 3"/>
          <p:cNvSpPr txBox="1"/>
          <p:nvPr/>
        </p:nvSpPr>
        <p:spPr>
          <a:xfrm>
            <a:off x="548640" y="4480560"/>
            <a:ext cx="11064240" cy="9144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Si el SLA del proveedor de modelos es menor que el SLO del asistente, el objetivo es inalcanzable sin redundancia</a:t>
            </a:r>
            <a:endParaRPr lang="en-US" sz="16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Costo por token frente a costo de infraestructura</a:t>
            </a:r>
            <a:endParaRPr lang="en-US" sz="28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4480560"/>
                <a:gridCol w="4389120"/>
              </a:tblGrid>
              <a:tr h="0">
                <a:tc>
                  <a:txBody>
                    <a:bodyPr/>
                    <a:lstStyle/>
                    <a:p>
                      <a:pPr indent="0" marL="0">
                        <a:buNone/>
                      </a:pP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API gestionada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Self-hosting</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Fórmula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Σ (tokens entrada × precio + tokens salida × precio)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réplicas × horas × precio GPU-hora + operación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Naturaleza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Variable, proporcional al uso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Fija por réplica y hora, se use o no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Caso (sin precios)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50.000 solicitudes/mes ≈ 165 M tokens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2 réplicas × 720 h = 1.440 GPU-horas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graphicFrame>
        <p:nvGraphicFramePr>
          <p:cNvPr id="4" name="Chart 0" descr=""/>
          <p:cNvGraphicFramePr/>
          <p:nvPr/>
        </p:nvGraphicFramePr>
        <p:xfrm>
          <a:off x="548640" y="3291840"/>
          <a:ext cx="5852160" cy="29260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675120" y="3383280"/>
            <a:ext cx="4937760" cy="274320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chemeClr val="tx1"/>
                </a:solidFill>
              </a:rPr>
              <a:t>El punto de cruce depende de precios reales: calcularlo con tarifas oficiales fechadas (MC-01)</a:t>
            </a:r>
            <a:endParaRPr lang="en-US" sz="1400" dirty="0"/>
          </a:p>
          <a:p>
            <a:pPr marL="342900" indent="-342900">
              <a:spcAft>
                <a:spcPts val="800"/>
              </a:spcAft>
              <a:buSzPct val="100000"/>
              <a:buChar char="•"/>
            </a:pPr>
            <a:r>
              <a:rPr lang="en-US" sz="1400" dirty="0">
                <a:solidFill>
                  <a:schemeClr val="tx1"/>
                </a:solidFill>
              </a:rPr>
              <a:t>FinOps: etiquetas · presupuestos y alertas · límites de tokens por usuario</a:t>
            </a:r>
            <a:endParaRPr lang="en-US" sz="1400" dirty="0"/>
          </a:p>
          <a:p>
            <a:pPr marL="342900" indent="-342900">
              <a:spcAft>
                <a:spcPts val="800"/>
              </a:spcAft>
              <a:buSzPct val="100000"/>
              <a:buChar char="•"/>
            </a:pPr>
            <a:r>
              <a:rPr lang="en-US" sz="1400" dirty="0">
                <a:solidFill>
                  <a:schemeClr val="tx1"/>
                </a:solidFill>
              </a:rPr>
              <a:t>Optimizar: recortar contexto RAG · modelo pequeño para preguntas simples · caché</a:t>
            </a:r>
            <a:endParaRPr lang="en-US" sz="14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Demo 4 · Concurrencia frente a latencia</a:t>
            </a:r>
            <a:endParaRPr lang="en-US" sz="2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03520" cy="914400"/>
        </p:xfrm>
        <a:graphic>
          <a:graphicData uri="http://schemas.openxmlformats.org/drawingml/2006/table">
            <a:tbl>
              <a:tblPr/>
              <a:tblGrid>
                <a:gridCol w="914400"/>
                <a:gridCol w="1554480"/>
                <a:gridCol w="1554480"/>
                <a:gridCol w="1280160"/>
              </a:tblGrid>
              <a:tr h="0">
                <a:tc>
                  <a:txBody>
                    <a:bodyPr/>
                    <a:lstStyle/>
                    <a:p>
                      <a:pPr indent="0" marL="0">
                        <a:buNone/>
                      </a:pPr>
                      <a:r>
                        <a:rPr lang="en-US" sz="1400" b="1" dirty="0">
                          <a:solidFill>
                            <a:srgbClr val="FFFFFF"/>
                          </a:solidFill>
                        </a:rPr>
                        <a:t>Conc.</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TTFT p95 (ms)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E2E p95 (ms)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400" b="1" dirty="0">
                          <a:solidFill>
                            <a:srgbClr val="FFFFFF"/>
                          </a:solidFill>
                        </a:rPr>
                        <a:t>Sol./s</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400" dirty="0">
                          <a:solidFill>
                            <a:srgbClr val="1B1F24"/>
                          </a:solidFill>
                        </a:rPr>
                        <a:t>1</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132,0</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1.110,8</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0,91</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2</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118,7</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1.095,7</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1,83</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1F24"/>
                          </a:solidFill>
                        </a:rPr>
                        <a:t>4</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1.212,8</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2.187,8</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400" dirty="0">
                          <a:solidFill>
                            <a:srgbClr val="1B1F24"/>
                          </a:solidFill>
                        </a:rPr>
                        <a:t>1,83</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400" dirty="0">
                          <a:solidFill>
                            <a:srgbClr val="1B1F24"/>
                          </a:solidFill>
                        </a:rPr>
                        <a:t>8</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3.394,2</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4.372,0</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400" dirty="0">
                          <a:solidFill>
                            <a:srgbClr val="1B1F24"/>
                          </a:solidFill>
                        </a:rPr>
                        <a:t>1,83</a:t>
                      </a:r>
                      <a:endParaRPr lang="en-US" sz="14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6217920" y="1188720"/>
          <a:ext cx="5394960" cy="402336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48640" y="5486400"/>
            <a:ext cx="11064240" cy="548640"/>
          </a:xfrm>
          <a:prstGeom prst="rect">
            <a:avLst/>
          </a:prstGeom>
          <a:solidFill>
            <a:srgbClr val="D98E2B"/>
          </a:solidFill>
          <a:ln w="12700">
            <a:solidFill>
              <a:srgbClr val="D98E2B"/>
            </a:solidFill>
            <a:prstDash val="solid"/>
          </a:ln>
        </p:spPr>
      </p:sp>
      <p:sp>
        <p:nvSpPr>
          <p:cNvPr id="6" name="Text 2"/>
          <p:cNvSpPr txBox="1"/>
          <p:nvPr/>
        </p:nvSpPr>
        <p:spPr>
          <a:xfrm>
            <a:off x="685800" y="5486400"/>
            <a:ext cx="10789920" cy="548640"/>
          </a:xfrm>
          <a:prstGeom prst="rect">
            <a:avLst/>
          </a:prstGeom>
          <a:noFill/>
          <a:ln/>
        </p:spPr>
        <p:txBody>
          <a:bodyPr wrap="square" lIns="0" tIns="0" rIns="0" bIns="0" rtlCol="0" anchor="ctr"/>
          <a:lstStyle/>
          <a:p>
            <a:pPr indent="0" marL="0">
              <a:buNone/>
            </a:pPr>
            <a:r>
              <a:rPr lang="en-US" sz="1500" b="1" dirty="0">
                <a:solidFill>
                  <a:srgbClr val="FFFFFF"/>
                </a:solidFill>
              </a:rPr>
              <a:t>Cifras sintéticas del simulador (capacidad 2): el throughput se estanca y el exceso se convierte en cola.</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Taller · Topología base del asistente universitario</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Equipos de 3–4 personas · 14 minutos · plantilla D-28</a:t>
            </a:r>
            <a:endParaRPr lang="en-US" sz="2000" dirty="0"/>
          </a:p>
          <a:p>
            <a:pPr marL="342900" indent="-342900">
              <a:spcAft>
                <a:spcPts val="800"/>
              </a:spcAft>
              <a:buSzPct val="100000"/>
              <a:buChar char="•"/>
            </a:pPr>
            <a:r>
              <a:rPr lang="en-US" sz="2000" dirty="0">
                <a:solidFill>
                  <a:schemeClr val="tx1"/>
                </a:solidFill>
              </a:rPr>
              <a:t>Entregable:</a:t>
            </a:r>
            <a:endParaRPr lang="en-US" sz="2000" dirty="0"/>
          </a:p>
          <a:p>
            <a:pPr lvl="1" marL="457200" indent="-228600">
              <a:spcAft>
                <a:spcPts val="800"/>
              </a:spcAft>
              <a:buSzPct val="100000"/>
              <a:buChar char="•"/>
            </a:pPr>
            <a:r>
              <a:rPr lang="en-US" sz="1700" dirty="0">
                <a:solidFill>
                  <a:schemeClr val="accent6"/>
                </a:solidFill>
              </a:rPr>
              <a:t>Diagrama con al menos 8 componentes, límites de red y de confianza</a:t>
            </a:r>
            <a:endParaRPr lang="en-US" sz="2000" dirty="0"/>
          </a:p>
          <a:p>
            <a:pPr lvl="1" marL="457200" indent="-228600">
              <a:spcAft>
                <a:spcPts val="800"/>
              </a:spcAft>
              <a:buSzPct val="100000"/>
              <a:buChar char="•"/>
            </a:pPr>
            <a:r>
              <a:rPr lang="en-US" sz="1700" dirty="0">
                <a:solidFill>
                  <a:schemeClr val="accent6"/>
                </a:solidFill>
              </a:rPr>
              <a:t>Decisión gestionado vs. autogestionado con 3 criterios (formato ADR)</a:t>
            </a:r>
            <a:endParaRPr lang="en-US" sz="2000" dirty="0"/>
          </a:p>
          <a:p>
            <a:pPr lvl="1" marL="457200" indent="-228600">
              <a:spcAft>
                <a:spcPts val="800"/>
              </a:spcAft>
              <a:buSzPct val="100000"/>
              <a:buChar char="•"/>
            </a:pPr>
            <a:r>
              <a:rPr lang="en-US" sz="1700" dirty="0">
                <a:solidFill>
                  <a:schemeClr val="accent6"/>
                </a:solidFill>
              </a:rPr>
              <a:t>Un SLO, una estimación de memoria o de tokens/min y 5 riesgos OWASP con su control</a:t>
            </a:r>
            <a:endParaRPr lang="en-US" sz="2000" dirty="0"/>
          </a:p>
          <a:p>
            <a:pPr marL="342900" indent="-342900">
              <a:spcAft>
                <a:spcPts val="800"/>
              </a:spcAft>
              <a:buSzPct val="100000"/>
              <a:buChar char="•"/>
            </a:pPr>
            <a:r>
              <a:rPr lang="en-US" sz="2000" dirty="0">
                <a:solidFill>
                  <a:schemeClr val="tx1"/>
                </a:solidFill>
              </a:rPr>
              <a:t>Dos equipos exponen 3 minutos cada uno</a:t>
            </a:r>
            <a:endParaRPr lang="en-US" sz="2000" dirty="0"/>
          </a:p>
          <a:p>
            <a:pPr marL="342900" indent="-342900">
              <a:spcAft>
                <a:spcPts val="800"/>
              </a:spcAft>
              <a:buSzPct val="100000"/>
              <a:buChar char="•"/>
            </a:pPr>
            <a:r>
              <a:rPr lang="en-US" sz="2000" dirty="0">
                <a:solidFill>
                  <a:schemeClr val="tx1"/>
                </a:solidFill>
              </a:rPr>
              <a:t>Rúbrica: componentes · justificación · seguridad · rendimiento y costo · comunicación</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Síntesis: siete decisiones de una topología base</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48640"/>
                <a:gridCol w="4206240"/>
                <a:gridCol w="6309360"/>
              </a:tblGrid>
              <a:tr h="0">
                <a:tc>
                  <a:txBody>
                    <a:bodyPr/>
                    <a:lstStyle/>
                    <a:p>
                      <a:pPr indent="0" marL="0">
                        <a:buNone/>
                      </a:pPr>
                      <a:r>
                        <a:rPr lang="en-US" sz="1500" b="1" dirty="0">
                          <a:solidFill>
                            <a:srgbClr val="FFFFFF"/>
                          </a:solidFill>
                        </a:rPr>
                        <a:t>#</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Decisión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c>
                  <a:txBody>
                    <a:bodyPr/>
                    <a:lstStyle/>
                    <a:p>
                      <a:pPr indent="0" marL="0">
                        <a:buNone/>
                      </a:pPr>
                      <a:r>
                        <a:rPr lang="en-US" sz="1500" b="1" dirty="0">
                          <a:solidFill>
                            <a:srgbClr val="FFFFFF"/>
                          </a:solidFill>
                        </a:rPr>
                        <a:t>Criterio principal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13324B"/>
                    </a:solidFill>
                  </a:tcPr>
                </a:tc>
              </a:tr>
              <a:tr h="0">
                <a:tc>
                  <a:txBody>
                    <a:bodyPr/>
                    <a:lstStyle/>
                    <a:p>
                      <a:pPr indent="0" marL="0">
                        <a:buNone/>
                      </a:pPr>
                      <a:r>
                        <a:rPr lang="en-US" sz="1500" dirty="0">
                          <a:solidFill>
                            <a:srgbClr val="1B1F24"/>
                          </a:solidFill>
                        </a:rPr>
                        <a:t>1</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Comprar o producir inferencia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Volumen, control de datos, capacidad del equipo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2</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Patrón de integración</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Streaming para conversación; colas para tareas largas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3</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Dimensionamiento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Pesos + KV cache + concurrencia + réplicas para HA</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4</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Topología de red</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Componentes privados; endpoints privados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5</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Identidad</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OIDC para usuarios; sin secretos estáticos para cargas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r h="0">
                <a:tc>
                  <a:txBody>
                    <a:bodyPr/>
                    <a:lstStyle/>
                    <a:p>
                      <a:pPr indent="0" marL="0">
                        <a:buNone/>
                      </a:pPr>
                      <a:r>
                        <a:rPr lang="en-US" sz="1500" dirty="0">
                          <a:solidFill>
                            <a:srgbClr val="1B1F24"/>
                          </a:solidFill>
                        </a:rPr>
                        <a:t>6</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Datos y RAG</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c>
                  <a:txBody>
                    <a:bodyPr/>
                    <a:lstStyle/>
                    <a:p>
                      <a:pPr indent="0" marL="0">
                        <a:buNone/>
                      </a:pPr>
                      <a:r>
                        <a:rPr lang="en-US" sz="1500" dirty="0">
                          <a:solidFill>
                            <a:srgbClr val="1B1F24"/>
                          </a:solidFill>
                        </a:rPr>
                        <a:t>Filtrado por permisos del usuario final</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1F24"/>
                          </a:solidFill>
                        </a:rPr>
                        <a:t>7</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SLO y costos</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c>
                  <a:txBody>
                    <a:bodyPr/>
                    <a:lstStyle/>
                    <a:p>
                      <a:pPr indent="0" marL="0">
                        <a:buNone/>
                      </a:pPr>
                      <a:r>
                        <a:rPr lang="en-US" sz="1500" dirty="0">
                          <a:solidFill>
                            <a:srgbClr val="1B1F24"/>
                          </a:solidFill>
                        </a:rPr>
                        <a:t>Percentiles, presupuesto de error, tokens por minuto</a:t>
                      </a:r>
                      <a:endParaRPr lang="en-US" sz="1500" dirty="0"/>
                    </a:p>
                  </a:txBody>
                  <a:tcPr marL="54864" marR="54864" marT="54864" marB="54864" anchor="ctr">
                    <a:lnL w="6350" cap="flat" cmpd="sng" algn="ctr">
                      <a:solidFill>
                        <a:srgbClr val="C9D1D9"/>
                      </a:solidFill>
                      <a:prstDash val="solid"/>
                      <a:round/>
                      <a:headEnd type="none" w="med" len="med"/>
                      <a:tailEnd type="none" w="med" len="med"/>
                    </a:lnL>
                    <a:lnR w="6350" cap="flat" cmpd="sng" algn="ctr">
                      <a:solidFill>
                        <a:srgbClr val="C9D1D9"/>
                      </a:solidFill>
                      <a:prstDash val="solid"/>
                      <a:round/>
                      <a:headEnd type="none" w="med" len="med"/>
                      <a:tailEnd type="none" w="med" len="med"/>
                    </a:lnR>
                    <a:lnT w="6350" cap="flat" cmpd="sng" algn="ctr">
                      <a:solidFill>
                        <a:srgbClr val="C9D1D9"/>
                      </a:solidFill>
                      <a:prstDash val="solid"/>
                      <a:round/>
                      <a:headEnd type="none" w="med" len="med"/>
                      <a:tailEnd type="none" w="med" len="med"/>
                    </a:lnT>
                    <a:lnB w="6350" cap="flat" cmpd="sng" algn="ctr">
                      <a:solidFill>
                        <a:srgbClr val="C9D1D9"/>
                      </a:solidFill>
                      <a:prstDash val="solid"/>
                      <a:round/>
                      <a:headEnd type="none" w="med" len="med"/>
                      <a:tailEnd type="none" w="med" len="med"/>
                    </a:lnB>
                    <a:solidFill>
                      <a:srgbClr val="F2F4F6"/>
                    </a:solidFill>
                  </a:tcPr>
                </a:tc>
              </a:tr>
            </a:tbl>
          </a:graphicData>
        </a:graphic>
      </p:graphicFrame>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Próxima sesión y laboratorios</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2000" dirty="0">
                <a:solidFill>
                  <a:schemeClr val="tx1"/>
                </a:solidFill>
              </a:rPr>
              <a:t>Repositorio: llm-infra-escalable (GitHub)</a:t>
            </a:r>
            <a:endParaRPr lang="en-US" sz="2000" dirty="0"/>
          </a:p>
          <a:p>
            <a:pPr lvl="1" marL="457200" indent="-228600">
              <a:spcAft>
                <a:spcPts val="800"/>
              </a:spcAft>
              <a:buSzPct val="100000"/>
              <a:buChar char="•"/>
            </a:pPr>
            <a:r>
              <a:rPr lang="en-US" sz="1700" dirty="0">
                <a:solidFill>
                  <a:schemeClr val="accent6"/>
                </a:solidFill>
              </a:rPr>
              <a:t>LOC-01 · Ollama + FastAPI + React + prueba de carga</a:t>
            </a:r>
            <a:endParaRPr lang="en-US" sz="2000" dirty="0"/>
          </a:p>
          <a:p>
            <a:pPr lvl="1" marL="457200" indent="-228600">
              <a:spcAft>
                <a:spcPts val="800"/>
              </a:spcAft>
              <a:buSzPct val="100000"/>
              <a:buChar char="•"/>
            </a:pPr>
            <a:r>
              <a:rPr lang="en-US" sz="1700" dirty="0">
                <a:solidFill>
                  <a:schemeClr val="accent6"/>
                </a:solidFill>
              </a:rPr>
              <a:t>GCP-A/B/C · Azure AZ-A a AZ-F · AWS-A a AWS-D · MC-01 comparativo</a:t>
            </a:r>
            <a:endParaRPr lang="en-US" sz="2000" dirty="0"/>
          </a:p>
          <a:p>
            <a:pPr marL="342900" indent="-342900">
              <a:spcAft>
                <a:spcPts val="800"/>
              </a:spcAft>
              <a:buSzPct val="100000"/>
              <a:buChar char="•"/>
            </a:pPr>
            <a:r>
              <a:rPr lang="en-US" sz="2000" dirty="0">
                <a:solidFill>
                  <a:schemeClr val="tx1"/>
                </a:solidFill>
              </a:rPr>
              <a:t>Cuentas trial: crear la de cada nube la semana de su bloque; configurar presupuesto y limpiar recursos</a:t>
            </a:r>
            <a:endParaRPr lang="en-US" sz="2000" dirty="0"/>
          </a:p>
          <a:p>
            <a:pPr marL="342900" indent="-342900">
              <a:spcAft>
                <a:spcPts val="800"/>
              </a:spcAft>
              <a:buSzPct val="100000"/>
              <a:buChar char="•"/>
            </a:pPr>
            <a:r>
              <a:rPr lang="en-US" sz="2000" dirty="0">
                <a:solidFill>
                  <a:schemeClr val="tx1"/>
                </a:solidFill>
              </a:rPr>
              <a:t>Tarea: completar el ADR del taller y la tabla de mapeo multicloud</a:t>
            </a:r>
            <a:endParaRPr lang="en-US" sz="2000" dirty="0"/>
          </a:p>
          <a:p>
            <a:pPr marL="342900" indent="-342900">
              <a:spcAft>
                <a:spcPts val="800"/>
              </a:spcAft>
              <a:buSzPct val="100000"/>
              <a:buChar char="•"/>
            </a:pPr>
            <a:r>
              <a:rPr lang="en-US" sz="2000" dirty="0">
                <a:solidFill>
                  <a:schemeClr val="tx1"/>
                </a:solidFill>
              </a:rPr>
              <a:t>Sesión 2: continuidad sobre model serving, escalado y rendimiento</a:t>
            </a:r>
            <a:endParaRPr lang="en-US" sz="20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Referencias (1/2) · Documentación oficial y estándares</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Microsoft. Microsoft Agent Framework 1.0 (3-abr-2026). devblogs.microsoft.com/agent-framework</a:t>
            </a:r>
            <a:endParaRPr lang="en-US" sz="1500" dirty="0"/>
          </a:p>
          <a:p>
            <a:pPr marL="342900" indent="-342900">
              <a:spcAft>
                <a:spcPts val="800"/>
              </a:spcAft>
              <a:buSzPct val="100000"/>
              <a:buChar char="•"/>
            </a:pPr>
            <a:r>
              <a:rPr lang="en-US" sz="1500" dirty="0">
                <a:solidFill>
                  <a:schemeClr val="tx1"/>
                </a:solidFill>
              </a:rPr>
              <a:t>Microsoft Learn. Foundry Agent Service overview; Azure OpenAI in Foundry Models quotas and limits (ago-2026)</a:t>
            </a:r>
            <a:endParaRPr lang="en-US" sz="1500" dirty="0"/>
          </a:p>
          <a:p>
            <a:pPr marL="342900" indent="-342900">
              <a:spcAft>
                <a:spcPts val="800"/>
              </a:spcAft>
              <a:buSzPct val="100000"/>
              <a:buChar char="•"/>
            </a:pPr>
            <a:r>
              <a:rPr lang="en-US" sz="1500" dirty="0">
                <a:solidFill>
                  <a:schemeClr val="tx1"/>
                </a:solidFill>
              </a:rPr>
              <a:t>Google Cloud. Agent Development Kit overview; GPU support for Cloud Run services</a:t>
            </a:r>
            <a:endParaRPr lang="en-US" sz="1500" dirty="0"/>
          </a:p>
          <a:p>
            <a:pPr marL="342900" indent="-342900">
              <a:spcAft>
                <a:spcPts val="800"/>
              </a:spcAft>
              <a:buSzPct val="100000"/>
              <a:buChar char="•"/>
            </a:pPr>
            <a:r>
              <a:rPr lang="en-US" sz="1500" dirty="0">
                <a:solidFill>
                  <a:schemeClr val="tx1"/>
                </a:solidFill>
              </a:rPr>
              <a:t>AWS. Amazon Bedrock AgentCore documentation; Bedrock Agents Classic maintenance mode; S3 Vectors GA (dic-2025)</a:t>
            </a:r>
            <a:endParaRPr lang="en-US" sz="1500" dirty="0"/>
          </a:p>
          <a:p>
            <a:pPr marL="342900" indent="-342900">
              <a:spcAft>
                <a:spcPts val="800"/>
              </a:spcAft>
              <a:buSzPct val="100000"/>
              <a:buChar char="•"/>
            </a:pPr>
            <a:r>
              <a:rPr lang="en-US" sz="1500" dirty="0">
                <a:solidFill>
                  <a:schemeClr val="tx1"/>
                </a:solidFill>
              </a:rPr>
              <a:t>Strands Agents. Python Quickstart. strandsagents.com</a:t>
            </a:r>
            <a:endParaRPr lang="en-US" sz="1500" dirty="0"/>
          </a:p>
          <a:p>
            <a:pPr marL="342900" indent="-342900">
              <a:spcAft>
                <a:spcPts val="800"/>
              </a:spcAft>
              <a:buSzPct val="100000"/>
              <a:buChar char="•"/>
            </a:pPr>
            <a:r>
              <a:rPr lang="en-US" sz="1500" dirty="0">
                <a:solidFill>
                  <a:schemeClr val="tx1"/>
                </a:solidFill>
              </a:rPr>
              <a:t>OWASP. Top 10 for LLM Applications 2025 (v2.0); Top 10 for Agentic Applications for 2026</a:t>
            </a:r>
            <a:endParaRPr lang="en-US" sz="1500" dirty="0"/>
          </a:p>
          <a:p>
            <a:pPr marL="342900" indent="-342900">
              <a:spcAft>
                <a:spcPts val="800"/>
              </a:spcAft>
              <a:buSzPct val="100000"/>
              <a:buChar char="•"/>
            </a:pPr>
            <a:r>
              <a:rPr lang="en-US" sz="1500" dirty="0">
                <a:solidFill>
                  <a:schemeClr val="tx1"/>
                </a:solidFill>
              </a:rPr>
              <a:t>NIST AI 100-1 (AI RMF 1.0, ene-2023) y AI 600-1 (jul-2024) · NIST SP 800-207 (2020) · ISO/IEC 42001:2023 · Ley 1581 de 2012</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822960"/>
          </a:xfrm>
          <a:prstGeom prst="rect">
            <a:avLst/>
          </a:prstGeom>
          <a:noFill/>
          <a:ln/>
        </p:spPr>
        <p:txBody>
          <a:bodyPr wrap="square" rtlCol="0" anchor="ctr"/>
          <a:lstStyle/>
          <a:p>
            <a:pPr algn="l" indent="0" marL="0">
              <a:buNone/>
            </a:pPr>
            <a:r>
              <a:rPr lang="en-US" sz="2800" b="1" dirty="0">
                <a:solidFill>
                  <a:schemeClr val="tx2"/>
                </a:solidFill>
              </a:rPr>
              <a:t>Referencias (2/2) · Literatura académica</a:t>
            </a:r>
            <a:endParaRPr lang="en-US" sz="2800" dirty="0"/>
          </a:p>
        </p:txBody>
      </p:sp>
      <p:sp>
        <p:nvSpPr>
          <p:cNvPr id="3" name="Text 1"/>
          <p:cNvSpPr txBox="1"/>
          <p:nvPr/>
        </p:nvSpPr>
        <p:spPr>
          <a:xfrm>
            <a:off x="548640" y="1280160"/>
            <a:ext cx="11064240" cy="48463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Vaswani et al. (2017). Attention Is All You Need. NeurIPS.</a:t>
            </a:r>
            <a:endParaRPr lang="en-US" sz="1500" dirty="0"/>
          </a:p>
          <a:p>
            <a:pPr marL="342900" indent="-342900">
              <a:spcAft>
                <a:spcPts val="800"/>
              </a:spcAft>
              <a:buSzPct val="100000"/>
              <a:buChar char="•"/>
            </a:pPr>
            <a:r>
              <a:rPr lang="en-US" sz="1500" dirty="0">
                <a:solidFill>
                  <a:schemeClr val="tx1"/>
                </a:solidFill>
              </a:rPr>
              <a:t>Yu et al. (2022). Orca: A Distributed Serving System for Transformer-Based Generative Models. OSDI.</a:t>
            </a:r>
            <a:endParaRPr lang="en-US" sz="1500" dirty="0"/>
          </a:p>
          <a:p>
            <a:pPr marL="342900" indent="-342900">
              <a:spcAft>
                <a:spcPts val="800"/>
              </a:spcAft>
              <a:buSzPct val="100000"/>
              <a:buChar char="•"/>
            </a:pPr>
            <a:r>
              <a:rPr lang="en-US" sz="1500" dirty="0">
                <a:solidFill>
                  <a:schemeClr val="tx1"/>
                </a:solidFill>
              </a:rPr>
              <a:t>Pope et al. (2023). Efficiently Scaling Transformer Inference. MLSys.</a:t>
            </a:r>
            <a:endParaRPr lang="en-US" sz="1500" dirty="0"/>
          </a:p>
          <a:p>
            <a:pPr marL="342900" indent="-342900">
              <a:spcAft>
                <a:spcPts val="800"/>
              </a:spcAft>
              <a:buSzPct val="100000"/>
              <a:buChar char="•"/>
            </a:pPr>
            <a:r>
              <a:rPr lang="en-US" sz="1500" dirty="0">
                <a:solidFill>
                  <a:schemeClr val="tx1"/>
                </a:solidFill>
              </a:rPr>
              <a:t>Kwon et al. (2023). Efficient Memory Management for LLM Serving with PagedAttention. SOSP.</a:t>
            </a:r>
            <a:endParaRPr lang="en-US" sz="1500" dirty="0"/>
          </a:p>
          <a:p>
            <a:pPr marL="342900" indent="-342900">
              <a:spcAft>
                <a:spcPts val="800"/>
              </a:spcAft>
              <a:buSzPct val="100000"/>
              <a:buChar char="•"/>
            </a:pPr>
            <a:r>
              <a:rPr lang="en-US" sz="1500" dirty="0">
                <a:solidFill>
                  <a:schemeClr val="tx1"/>
                </a:solidFill>
              </a:rPr>
              <a:t>Frantar et al. (2023). GPTQ. ICLR.</a:t>
            </a:r>
            <a:endParaRPr lang="en-US" sz="1500" dirty="0"/>
          </a:p>
          <a:p>
            <a:pPr marL="342900" indent="-342900">
              <a:spcAft>
                <a:spcPts val="800"/>
              </a:spcAft>
              <a:buSzPct val="100000"/>
              <a:buChar char="•"/>
            </a:pPr>
            <a:r>
              <a:rPr lang="en-US" sz="1500" dirty="0">
                <a:solidFill>
                  <a:schemeClr val="tx1"/>
                </a:solidFill>
              </a:rPr>
              <a:t>Lewis et al. (2020). Retrieval-Augmented Generation for Knowledge-Intensive NLP Tasks. NeurIPS.</a:t>
            </a:r>
            <a:endParaRPr lang="en-US" sz="1500" dirty="0"/>
          </a:p>
          <a:p>
            <a:pPr marL="342900" indent="-342900">
              <a:spcAft>
                <a:spcPts val="800"/>
              </a:spcAft>
              <a:buSzPct val="100000"/>
              <a:buChar char="•"/>
            </a:pPr>
            <a:r>
              <a:rPr lang="en-US" sz="1500" dirty="0">
                <a:solidFill>
                  <a:schemeClr val="tx1"/>
                </a:solidFill>
              </a:rPr>
              <a:t>Yao et al. (2023). ReAct. ICLR · Greshake et al. (2023). Indirect Prompt Injection. AISec.</a:t>
            </a:r>
            <a:endParaRPr lang="en-US" sz="1500" dirty="0"/>
          </a:p>
        </p:txBody>
      </p:sp>
      <p:sp>
        <p:nvSpPr>
          <p:cNvPr id="25" name="Slide Number Placeholder 0"/>
          <p:cNvSpPr>
            <a:spLocks noGrp="1"/>
          </p:cNvSpPr>
          <p:nvPr>
            <p:ph type="sldNum" sz="quarter" idx="4294967295"/>
          </p:nvPr>
        </p:nvSpPr>
        <p:spPr>
          <a:xfrm>
            <a:off x="11338560" y="6355080"/>
            <a:ext cx="64008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61</a:t>
            </a:fld>
            <a:endParaRPr lang="en-US"/>
          </a:p>
        </p:txBody>
      </p:sp>
    </p:spTree>
  </p:cSld>
  <p:clrMapOvr>
    <a:masterClrMapping/>
  </p:clrMapOvr>
</p:sld>
</file>

<file path=ppt/theme/theme1.xml><?xml version="1.0" encoding="utf-8"?>
<a:theme xmlns:a="http://schemas.openxmlformats.org/drawingml/2006/main" name="Curso LLM Infra">
  <a:themeElements>
    <a:clrScheme name="Curso LLM Infra">
      <a:dk1>
        <a:srgbClr val="1B1F24"/>
      </a:dk1>
      <a:lt1>
        <a:srgbClr val="FFFFFF"/>
      </a:lt1>
      <a:dk2>
        <a:srgbClr val="13324B"/>
      </a:dk2>
      <a:lt2>
        <a:srgbClr val="F2F4F6"/>
      </a:lt2>
      <a:accent1>
        <a:srgbClr val="1F6F9F"/>
      </a:accent1>
      <a:accent2>
        <a:srgbClr val="2E9C8A"/>
      </a:accent2>
      <a:accent3>
        <a:srgbClr val="D98E2B"/>
      </a:accent3>
      <a:accent4>
        <a:srgbClr val="B5443A"/>
      </a:accent4>
      <a:accent5>
        <a:srgbClr val="6B5B95"/>
      </a:accent5>
      <a:accent6>
        <a:srgbClr val="7A8794"/>
      </a:accent6>
      <a:hlink>
        <a:srgbClr val="1F6F9F"/>
      </a:hlink>
      <a:folHlink>
        <a:srgbClr val="6B5B95"/>
      </a:folHlink>
    </a:clrScheme>
    <a:fontScheme name="Curso LLM Inf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 · Arquitecturas Base para LLMs en la Nube</dc:title>
  <dc:subject>Diseño de Infraestructura Escalable para LLMs</dc:subject>
  <dc:creator>Curso Diseño de Infraestructura Escalable para LLMs</dc:creator>
  <cp:lastModifiedBy>Curso Diseño de Infraestructura Escalable para LLMs</cp:lastModifiedBy>
  <cp:revision>1</cp:revision>
  <dcterms:created xsi:type="dcterms:W3CDTF">2026-10-13T21:39:29Z</dcterms:created>
  <dcterms:modified xsi:type="dcterms:W3CDTF">2026-10-13T21:39:29Z</dcterms:modified>
</cp:coreProperties>
</file>