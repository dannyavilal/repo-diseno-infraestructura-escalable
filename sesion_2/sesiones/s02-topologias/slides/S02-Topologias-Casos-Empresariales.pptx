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3.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charts/chart4.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charts/chart5.xml" ContentType="application/vnd.openxmlformats-officedocument.drawingml.chart+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c674e272-70c2-2d68-c5e3-29350c62d963}">
          <p14:sldIdLst>
            <p14:sldId id="256"/>
            <p14:sldId id="257"/>
            <p14:sldId id="258"/>
            <p14:sldId id="259"/>
          </p14:sldIdLst>
        </p14:section>
        <p14:section name="A · Online vs. por lotes" id="{fbee564f-ea02-7485-f1dd-8b8893bfdaf9}">
          <p14:sldIdLst>
            <p14:sldId id="260"/>
            <p14:sldId id="261"/>
            <p14:sldId id="262"/>
            <p14:sldId id="263"/>
            <p14:sldId id="264"/>
            <p14:sldId id="265"/>
            <p14:sldId id="266"/>
            <p14:sldId id="267"/>
            <p14:sldId id="268"/>
            <p14:sldId id="269"/>
            <p14:sldId id="270"/>
          </p14:sldIdLst>
        </p14:section>
        <p14:section name="B · Topologías redundantes y multi-región" id="{1bcf571f-fc5f-f005-8b37-eeb782abc733}">
          <p14:sldIdLst>
            <p14:sldId id="271"/>
            <p14:sldId id="272"/>
            <p14:sldId id="273"/>
            <p14:sldId id="274"/>
            <p14:sldId id="275"/>
            <p14:sldId id="276"/>
            <p14:sldId id="277"/>
            <p14:sldId id="278"/>
            <p14:sldId id="279"/>
            <p14:sldId id="280"/>
            <p14:sldId id="281"/>
            <p14:sldId id="282"/>
            <p14:sldId id="283"/>
            <p14:sldId id="284"/>
            <p14:sldId id="285"/>
            <p14:sldId id="286"/>
          </p14:sldIdLst>
        </p14:section>
        <p14:section name="C · Selección de servicios gestionados" id="{a723c8ac-f9ca-c681-8c1d-c718c84eb865}">
          <p14:sldIdLst>
            <p14:sldId id="287"/>
            <p14:sldId id="288"/>
            <p14:sldId id="289"/>
            <p14:sldId id="290"/>
            <p14:sldId id="291"/>
            <p14:sldId id="292"/>
            <p14:sldId id="293"/>
            <p14:sldId id="294"/>
            <p14:sldId id="295"/>
            <p14:sldId id="296"/>
          </p14:sldIdLst>
        </p14:section>
        <p14:section name="D · Seguridad, residencia y costo" id="{79782aef-d649-bd01-0447-684914e6e9e1}">
          <p14:sldIdLst>
            <p14:sldId id="297"/>
            <p14:sldId id="298"/>
            <p14:sldId id="299"/>
            <p14:sldId id="300"/>
            <p14:sldId id="301"/>
          </p14:sldIdLst>
        </p14:section>
        <p14:section name="E · Taller de diseño preliminar" id="{b3fb438a-2564-415e-64dc-39622ab97867}">
          <p14:sldIdLst>
            <p14:sldId id="302"/>
            <p14:sldId id="303"/>
            <p14:sldId id="304"/>
            <p14:sldId id="305"/>
            <p14:sldId id="306"/>
          </p14:sldIdLst>
        </p14:section>
        <p14:section name="Cierre" id="{7846bf87-f45d-5790-941b-d23c9b17ff5f}">
          <p14:sldIdLst>
            <p14:sldId id="307"/>
            <p14:sldId id="308"/>
            <p14:sldId id="309"/>
            <p14:sldId id="310"/>
            <p14:sldId id="31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24"/>
                </a:solidFill>
                <a:latin typeface="+mn-lt"/>
              </a:defRPr>
            </a:pPr>
            <a:r>
              <a:rPr sz="1200" b="0" i="0" u="none" strike="noStrike">
                <a:solidFill>
                  <a:srgbClr val="1B1F24"/>
                </a:solidFill>
                <a:latin typeface="+mn-lt"/>
              </a:rPr>
              <a:t>Modelo M/M/1: R/S = 1 / (1 − ρ)</a:t>
            </a:r>
          </a:p>
        </c:rich>
      </c:tx>
      <c:layout/>
      <c:overlay val="0"/>
    </c:title>
    <c:autoTitleDeleted val="0"/>
    <c:plotArea>
      <c:layout/>
      <c:lineChart>
        <c:varyColors val="0"/>
        <c:ser>
          <c:idx val="0"/>
          <c:order val="0"/>
          <c:tx>
            <c:strRef>
              <c:f>Sheet1!$B$1</c:f>
              <c:strCache>
                <c:ptCount val="1"/>
                <c:pt idx="0">
                  <c:v>Tiempo de respuesta / tiempo de servicio</c:v>
                </c:pt>
              </c:strCache>
            </c:strRef>
          </c:tx>
          <c:spPr>
            <a:solidFill>
              <a:srgbClr val="1F6F9F"/>
            </a:solidFill>
            <a:ln w="25400" cap="flat">
              <a:solidFill>
                <a:srgbClr val="1F6F9F"/>
              </a:solidFill>
              <a:prstDash val="solid"/>
              <a:round/>
            </a:ln>
            <a:effectLst/>
          </c:spPr>
          <c:invertIfNegative val="0"/>
          <c:dLbls>
            <c:numFmt formatCode="#,##0" sourceLinked="0"/>
            <c:txPr>
              <a:bodyPr/>
              <a:lstStyle/>
              <a:p>
                <a:pPr>
                  <a:defRPr b="0" i="0" strike="noStrike" sz="1000" u="none">
                    <a:solidFill>
                      <a:srgbClr val="1B1F24"/>
                    </a:solidFill>
                    <a:latin typeface="+mn-lt"/>
                  </a:defRPr>
                </a:pPr>
              </a:p>
            </c:txPr>
            <c:dLblPos val="t"/>
            <c:showLegendKey val="0"/>
            <c:showVal val="1"/>
            <c:showCatName val="0"/>
            <c:showSerName val="0"/>
            <c:showPercent val="0"/>
            <c:showBubbleSize val="0"/>
            <c:showLeaderLines val="0"/>
          </c:dLbls>
          <c:marker>
            <c:symbol val="circle"/>
            <c:size val="6"/>
            <c:spPr>
              <a:solidFill>
                <a:srgbClr val="1F6F9F"/>
              </a:solidFill>
              <a:ln w="9525" cap="flat">
                <a:solidFill>
                  <a:srgbClr val="1F6F9F"/>
                </a:solidFill>
                <a:prstDash val="solid"/>
                <a:round/>
              </a:ln>
              <a:effectLst/>
            </c:spPr>
          </c:marker>
          <c:cat>
            <c:multiLvlStrRef>
              <c:f>Sheet1!$A$2:$A$11</c:f>
              <c:multiLvlStrCache>
                <c:ptCount val="10"/>
                <c:lvl>
                  <c:pt idx="0">
                    <c:v>10</c:v>
                  </c:pt>
                  <c:pt idx="1">
                    <c:v>20</c:v>
                  </c:pt>
                  <c:pt idx="2">
                    <c:v>30</c:v>
                  </c:pt>
                  <c:pt idx="3">
                    <c:v>40</c:v>
                  </c:pt>
                  <c:pt idx="4">
                    <c:v>50</c:v>
                  </c:pt>
                  <c:pt idx="5">
                    <c:v>60</c:v>
                  </c:pt>
                  <c:pt idx="6">
                    <c:v>70</c:v>
                  </c:pt>
                  <c:pt idx="7">
                    <c:v>80</c:v>
                  </c:pt>
                  <c:pt idx="8">
                    <c:v>90</c:v>
                  </c:pt>
                  <c:pt idx="9">
                    <c:v>95</c:v>
                  </c:pt>
                </c:lvl>
              </c:multiLvlStrCache>
            </c:multiLvlStrRef>
          </c:cat>
          <c:val>
            <c:numRef>
              <c:f>Sheet1!$B$2:$B$11</c:f>
              <c:numCache>
                <c:formatCode>General</c:formatCode>
                <c:ptCount val="10"/>
                <c:pt idx="0">
                  <c:v>1.11</c:v>
                </c:pt>
                <c:pt idx="1">
                  <c:v>1.25</c:v>
                </c:pt>
                <c:pt idx="2">
                  <c:v>1.43</c:v>
                </c:pt>
                <c:pt idx="3">
                  <c:v>1.67</c:v>
                </c:pt>
                <c:pt idx="4">
                  <c:v>2</c:v>
                </c:pt>
                <c:pt idx="5">
                  <c:v>2.5</c:v>
                </c:pt>
                <c:pt idx="6">
                  <c:v>3.33</c:v>
                </c:pt>
                <c:pt idx="7">
                  <c:v>5</c:v>
                </c:pt>
                <c:pt idx="8">
                  <c:v>10</c:v>
                </c:pt>
                <c:pt idx="9">
                  <c:v>20</c:v>
                </c:pt>
              </c:numCache>
            </c:numRef>
          </c:val>
          <c:smooth val="0"/>
        </c:ser>
        <c:dLbls>
          <c:numFmt formatCode="#,##0" sourceLinked="0"/>
          <c:txPr>
            <a:bodyPr/>
            <a:lstStyle/>
            <a:p>
              <a:pPr>
                <a:defRPr b="0" i="0" strike="noStrike" sz="1000" u="none">
                  <a:solidFill>
                    <a:srgbClr val="1B1F24"/>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7A8794"/>
                    </a:solidFill>
                    <a:latin typeface="+mn-lt"/>
                  </a:defRPr>
                </a:pPr>
                <a:r>
                  <a:rPr sz="1000" b="0" i="0" u="none" strike="noStrike">
                    <a:solidFill>
                      <a:srgbClr val="7A8794"/>
                    </a:solidFill>
                    <a:latin typeface="+mn-lt"/>
                  </a:rPr>
                  <a:t>Utilización ρ (%)</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A8794"/>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8EB"/>
              </a:solidFill>
              <a:prstDash val="solid"/>
              <a:round/>
            </a:ln>
          </c:spPr>
        </c:majorGridlines>
        <c:title>
          <c:tx>
            <c:rich>
              <a:bodyPr/>
              <a:lstStyle/>
              <a:p>
                <a:pPr>
                  <a:defRPr sz="1000" b="0" i="0" u="none" strike="noStrike">
                    <a:solidFill>
                      <a:srgbClr val="7A8794"/>
                    </a:solidFill>
                    <a:latin typeface="+mn-lt"/>
                  </a:defRPr>
                </a:pPr>
                <a:r>
                  <a:rPr sz="1000" b="0" i="0" u="none" strike="noStrike">
                    <a:solidFill>
                      <a:srgbClr val="7A8794"/>
                    </a:solidFill>
                    <a:latin typeface="+mn-lt"/>
                  </a:rPr>
                  <a:t>Veces el tiempo de servicio</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A879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24"/>
                </a:solidFill>
                <a:latin typeface="+mn-lt"/>
              </a:defRPr>
            </a:pPr>
            <a:r>
              <a:rPr sz="1200" b="0" i="0" u="none" strike="noStrike">
                <a:solidFill>
                  <a:srgbClr val="1B1F24"/>
                </a:solidFill>
                <a:latin typeface="+mn-lt"/>
              </a:rPr>
              <a:t>Minutos de indisponibilidad al mes (30 días)</a:t>
            </a:r>
          </a:p>
        </c:rich>
      </c:tx>
      <c:layout/>
      <c:overlay val="0"/>
    </c:title>
    <c:autoTitleDeleted val="0"/>
    <c:plotArea>
      <c:layout/>
      <c:barChart>
        <c:barDir val="col"/>
        <c:grouping val="clustered"/>
        <c:varyColors val="0"/>
        <c:ser>
          <c:idx val="0"/>
          <c:order val="0"/>
          <c:tx>
            <c:strRef>
              <c:f>Sheet1!$B$1</c:f>
              <c:strCache>
                <c:ptCount val="1"/>
                <c:pt idx="0">
                  <c:v>Indisponibilidad (min/mes)</c:v>
                </c:pt>
              </c:strCache>
            </c:strRef>
          </c:tx>
          <c:spPr>
            <a:solidFill>
              <a:srgbClr val="1F6F9F"/>
            </a:solidFill>
            <a:effectLst/>
          </c:spPr>
          <c:invertIfNegative val="0"/>
          <c:dLbls>
            <c:numFmt formatCode="#,##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cat>
            <c:multiLvlStrRef>
              <c:f>Sheet1!$A$2:$A$5</c:f>
              <c:multiLvlStrCache>
                <c:ptCount val="4"/>
                <c:lvl>
                  <c:pt idx="0">
                    <c:v>Modelo solo</c:v>
                  </c:pt>
                  <c:pt idx="1">
                    <c:v>Una región</c:v>
                  </c:pt>
                  <c:pt idx="2">
                    <c:v>2 regiones</c:v>
                  </c:pt>
                  <c:pt idx="3">
                    <c:v>2 regiones + global</c:v>
                  </c:pt>
                </c:lvl>
              </c:multiLvlStrCache>
            </c:multiLvlStrRef>
          </c:cat>
          <c:val>
            <c:numRef>
              <c:f>Sheet1!$B$2:$B$5</c:f>
              <c:numCache>
                <c:formatCode>General</c:formatCode>
                <c:ptCount val="4"/>
                <c:pt idx="0">
                  <c:v>43.2</c:v>
                </c:pt>
                <c:pt idx="1">
                  <c:v>86.3</c:v>
                </c:pt>
                <c:pt idx="2">
                  <c:v>0.2</c:v>
                </c:pt>
                <c:pt idx="3">
                  <c:v>4.5</c:v>
                </c:pt>
              </c:numCache>
            </c:numRef>
          </c:val>
        </c:ser>
        <c:dLbls>
          <c:numFmt formatCode="#,##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A8794"/>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5E8EB"/>
              </a:solidFill>
              <a:prstDash val="solid"/>
              <a:round/>
            </a:ln>
          </c:spPr>
        </c:majorGridlines>
        <c:title>
          <c:tx>
            <c:rich>
              <a:bodyPr/>
              <a:lstStyle/>
              <a:p>
                <a:pPr>
                  <a:defRPr sz="1000" b="0" i="0" u="none" strike="noStrike">
                    <a:solidFill>
                      <a:srgbClr val="7A8794"/>
                    </a:solidFill>
                    <a:latin typeface="+mn-lt"/>
                  </a:defRPr>
                </a:pPr>
                <a:r>
                  <a:rPr sz="1000" b="0" i="0" u="none" strike="noStrike">
                    <a:solidFill>
                      <a:srgbClr val="7A8794"/>
                    </a:solidFill>
                    <a:latin typeface="+mn-lt"/>
                  </a:rPr>
                  <a:t>min/mes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A879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24"/>
                </a:solidFill>
                <a:latin typeface="+mn-lt"/>
              </a:defRPr>
            </a:pPr>
            <a:r>
              <a:rPr sz="1200" b="0" i="0" u="none" strike="noStrike">
                <a:solidFill>
                  <a:srgbClr val="1B1F24"/>
                </a:solidFill>
                <a:latin typeface="+mn-lt"/>
              </a:rPr>
              <a:t>Peor caso con 3 intentos por capa (1 + 2 reintentos)</a:t>
            </a:r>
          </a:p>
        </c:rich>
      </c:tx>
      <c:layout/>
      <c:overlay val="0"/>
    </c:title>
    <c:autoTitleDeleted val="0"/>
    <c:plotArea>
      <c:layout/>
      <c:barChart>
        <c:barDir val="col"/>
        <c:grouping val="clustered"/>
        <c:varyColors val="0"/>
        <c:ser>
          <c:idx val="0"/>
          <c:order val="0"/>
          <c:tx>
            <c:strRef>
              <c:f>Sheet1!$B$1</c:f>
              <c:strCache>
                <c:ptCount val="1"/>
                <c:pt idx="0">
                  <c:v>Solicitudes al modelo por cada solicitud del usuario</c:v>
                </c:pt>
              </c:strCache>
            </c:strRef>
          </c:tx>
          <c:spPr>
            <a:solidFill>
              <a:srgbClr val="B5443A"/>
            </a:solidFill>
            <a:effectLst/>
          </c:spPr>
          <c:invertIfNegative val="0"/>
          <c:dLbls>
            <c:numFmt formatCode="#,##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cat>
            <c:multiLvlStrRef>
              <c:f>Sheet1!$A$2:$A$5</c:f>
              <c:multiLvlStrCache>
                <c:ptCount val="4"/>
                <c:lvl>
                  <c:pt idx="0">
                    <c:v>1 capa</c:v>
                  </c:pt>
                  <c:pt idx="1">
                    <c:v>2 capas</c:v>
                  </c:pt>
                  <c:pt idx="2">
                    <c:v>3 capas</c:v>
                  </c:pt>
                  <c:pt idx="3">
                    <c:v>4 capas</c:v>
                  </c:pt>
                </c:lvl>
              </c:multiLvlStrCache>
            </c:multiLvlStrRef>
          </c:cat>
          <c:val>
            <c:numRef>
              <c:f>Sheet1!$B$2:$B$5</c:f>
              <c:numCache>
                <c:formatCode>General</c:formatCode>
                <c:ptCount val="4"/>
                <c:pt idx="0">
                  <c:v>3</c:v>
                </c:pt>
                <c:pt idx="1">
                  <c:v>9</c:v>
                </c:pt>
                <c:pt idx="2">
                  <c:v>27</c:v>
                </c:pt>
                <c:pt idx="3">
                  <c:v>81</c:v>
                </c:pt>
              </c:numCache>
            </c:numRef>
          </c:val>
        </c:ser>
        <c:dLbls>
          <c:numFmt formatCode="#,##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7A8794"/>
                    </a:solidFill>
                    <a:latin typeface="+mn-lt"/>
                  </a:defRPr>
                </a:pPr>
                <a:r>
                  <a:rPr sz="1000" b="0" i="0" u="none" strike="noStrike">
                    <a:solidFill>
                      <a:srgbClr val="7A8794"/>
                    </a:solidFill>
                    <a:latin typeface="+mn-lt"/>
                  </a:rPr>
                  <a:t>Capas que reintentan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A8794"/>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5E8EB"/>
              </a:solidFill>
              <a:prstDash val="solid"/>
              <a:round/>
            </a:ln>
          </c:spPr>
        </c:majorGridlines>
        <c:title>
          <c:tx>
            <c:rich>
              <a:bodyPr/>
              <a:lstStyle/>
              <a:p>
                <a:pPr>
                  <a:defRPr sz="1000" b="0" i="0" u="none" strike="noStrike">
                    <a:solidFill>
                      <a:srgbClr val="7A8794"/>
                    </a:solidFill>
                    <a:latin typeface="+mn-lt"/>
                  </a:defRPr>
                </a:pPr>
                <a:r>
                  <a:rPr sz="1000" b="0" i="0" u="none" strike="noStrike">
                    <a:solidFill>
                      <a:srgbClr val="7A8794"/>
                    </a:solidFill>
                    <a:latin typeface="+mn-lt"/>
                  </a:rPr>
                  <a:t>Solicitudes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A879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24"/>
                </a:solidFill>
                <a:latin typeface="+mn-lt"/>
              </a:defRPr>
            </a:pPr>
            <a:r>
              <a:rPr sz="1200" b="0" i="0" u="none" strike="noStrike">
                <a:solidFill>
                  <a:srgbClr val="1B1F24"/>
                </a:solidFill>
                <a:latin typeface="+mn-lt"/>
              </a:rPr>
              <a:t>Solicitudes atendidas por región (cifras sintéticas, 20-oct-2026)</a:t>
            </a:r>
          </a:p>
        </c:rich>
      </c:tx>
      <c:layout/>
      <c:overlay val="0"/>
    </c:title>
    <c:autoTitleDeleted val="0"/>
    <c:plotArea>
      <c:layout/>
      <c:barChart>
        <c:barDir val="col"/>
        <c:grouping val="stacked"/>
        <c:varyColors val="0"/>
        <c:ser>
          <c:idx val="0"/>
          <c:order val="0"/>
          <c:tx>
            <c:strRef>
              <c:f>Sheet1!$B$1</c:f>
              <c:strCache>
                <c:ptCount val="1"/>
                <c:pt idx="0">
                  <c:v>region-a</c:v>
                </c:pt>
              </c:strCache>
            </c:strRef>
          </c:tx>
          <c:spPr>
            <a:solidFill>
              <a:srgbClr val="1F6F9F"/>
            </a:solidFill>
            <a:effectLst/>
          </c:spPr>
          <c:invertIfNegative val="0"/>
          <c:dLbls>
            <c:numFmt formatCode="#,##0" sourceLinked="0"/>
            <c:txPr>
              <a:bodyPr/>
              <a:lstStyle/>
              <a:p>
                <a:pPr>
                  <a:defRPr b="0" i="0" strike="noStrike" sz="1000" u="none">
                    <a:solidFill>
                      <a:srgbClr val="1B1F24"/>
                    </a:solidFill>
                    <a:latin typeface="+mn-lt"/>
                  </a:defRPr>
                </a:pPr>
              </a:p>
            </c:txPr>
            <c:showLegendKey val="0"/>
            <c:showVal val="0"/>
            <c:showCatName val="0"/>
            <c:showSerName val="0"/>
            <c:showPercent val="0"/>
            <c:showBubbleSize val="0"/>
            <c:showLeaderLines val="0"/>
          </c:dLbls>
          <c:cat>
            <c:multiLvlStrRef>
              <c:f>Sheet1!$A$2:$A$16</c:f>
              <c:multiLvlStrCache>
                <c:ptCount val="15"/>
                <c:lvl>
                  <c:pt idx="0">
                    <c:v>0–2</c:v>
                  </c:pt>
                  <c:pt idx="1">
                    <c:v>2–4</c:v>
                  </c:pt>
                  <c:pt idx="2">
                    <c:v>4–6</c:v>
                  </c:pt>
                  <c:pt idx="3">
                    <c:v>6–8</c:v>
                  </c:pt>
                  <c:pt idx="4">
                    <c:v>8–10</c:v>
                  </c:pt>
                  <c:pt idx="5">
                    <c:v>10–12</c:v>
                  </c:pt>
                  <c:pt idx="6">
                    <c:v>12–14</c:v>
                  </c:pt>
                  <c:pt idx="7">
                    <c:v>14–16</c:v>
                  </c:pt>
                  <c:pt idx="8">
                    <c:v>16–18</c:v>
                  </c:pt>
                  <c:pt idx="9">
                    <c:v>18–20</c:v>
                  </c:pt>
                  <c:pt idx="10">
                    <c:v>20–22</c:v>
                  </c:pt>
                  <c:pt idx="11">
                    <c:v>22–24</c:v>
                  </c:pt>
                  <c:pt idx="12">
                    <c:v>24–26</c:v>
                  </c:pt>
                  <c:pt idx="13">
                    <c:v>26–28</c:v>
                  </c:pt>
                  <c:pt idx="14">
                    <c:v>28–30</c:v>
                  </c:pt>
                </c:lvl>
              </c:multiLvlStrCache>
            </c:multiLvlStrRef>
          </c:cat>
          <c:val>
            <c:numRef>
              <c:f>Sheet1!$B$2:$B$16</c:f>
              <c:numCache>
                <c:formatCode>General</c:formatCode>
                <c:ptCount val="15"/>
                <c:pt idx="0">
                  <c:v>8</c:v>
                </c:pt>
                <c:pt idx="1">
                  <c:v>8</c:v>
                </c:pt>
                <c:pt idx="2">
                  <c:v>8</c:v>
                </c:pt>
                <c:pt idx="3">
                  <c:v>8</c:v>
                </c:pt>
                <c:pt idx="4">
                  <c:v>0</c:v>
                </c:pt>
                <c:pt idx="5">
                  <c:v>0</c:v>
                </c:pt>
                <c:pt idx="6">
                  <c:v>0</c:v>
                </c:pt>
                <c:pt idx="7">
                  <c:v>0</c:v>
                </c:pt>
                <c:pt idx="8">
                  <c:v>0</c:v>
                </c:pt>
                <c:pt idx="9">
                  <c:v>0</c:v>
                </c:pt>
                <c:pt idx="10">
                  <c:v>0</c:v>
                </c:pt>
                <c:pt idx="11">
                  <c:v>1</c:v>
                </c:pt>
                <c:pt idx="12">
                  <c:v>8</c:v>
                </c:pt>
                <c:pt idx="13">
                  <c:v>8</c:v>
                </c:pt>
                <c:pt idx="14">
                  <c:v>8</c:v>
                </c:pt>
              </c:numCache>
            </c:numRef>
          </c:val>
        </c:ser>
        <c:ser>
          <c:idx val="1"/>
          <c:order val="1"/>
          <c:tx>
            <c:strRef>
              <c:f>Sheet1!$C$1</c:f>
              <c:strCache>
                <c:ptCount val="1"/>
                <c:pt idx="0">
                  <c:v>region-b</c:v>
                </c:pt>
              </c:strCache>
            </c:strRef>
          </c:tx>
          <c:spPr>
            <a:solidFill>
              <a:srgbClr val="D98E2B"/>
            </a:solidFill>
            <a:effectLst/>
          </c:spPr>
          <c:invertIfNegative val="0"/>
          <c:dLbls>
            <c:numFmt formatCode="#,##0" sourceLinked="0"/>
            <c:txPr>
              <a:bodyPr/>
              <a:lstStyle/>
              <a:p>
                <a:pPr>
                  <a:defRPr b="0" i="0" strike="noStrike" sz="1000" u="none">
                    <a:solidFill>
                      <a:srgbClr val="1B1F24"/>
                    </a:solidFill>
                    <a:latin typeface="+mn-lt"/>
                  </a:defRPr>
                </a:pPr>
              </a:p>
            </c:txPr>
            <c:showLegendKey val="0"/>
            <c:showVal val="0"/>
            <c:showCatName val="0"/>
            <c:showSerName val="0"/>
            <c:showPercent val="0"/>
            <c:showBubbleSize val="0"/>
            <c:showLeaderLines val="0"/>
          </c:dLbls>
          <c:cat>
            <c:multiLvlStrRef>
              <c:f>Sheet1!$A$2:$A$16</c:f>
              <c:multiLvlStrCache>
                <c:ptCount val="15"/>
                <c:lvl>
                  <c:pt idx="0">
                    <c:v>0–2</c:v>
                  </c:pt>
                  <c:pt idx="1">
                    <c:v>2–4</c:v>
                  </c:pt>
                  <c:pt idx="2">
                    <c:v>4–6</c:v>
                  </c:pt>
                  <c:pt idx="3">
                    <c:v>6–8</c:v>
                  </c:pt>
                  <c:pt idx="4">
                    <c:v>8–10</c:v>
                  </c:pt>
                  <c:pt idx="5">
                    <c:v>10–12</c:v>
                  </c:pt>
                  <c:pt idx="6">
                    <c:v>12–14</c:v>
                  </c:pt>
                  <c:pt idx="7">
                    <c:v>14–16</c:v>
                  </c:pt>
                  <c:pt idx="8">
                    <c:v>16–18</c:v>
                  </c:pt>
                  <c:pt idx="9">
                    <c:v>18–20</c:v>
                  </c:pt>
                  <c:pt idx="10">
                    <c:v>20–22</c:v>
                  </c:pt>
                  <c:pt idx="11">
                    <c:v>22–24</c:v>
                  </c:pt>
                  <c:pt idx="12">
                    <c:v>24–26</c:v>
                  </c:pt>
                  <c:pt idx="13">
                    <c:v>26–28</c:v>
                  </c:pt>
                  <c:pt idx="14">
                    <c:v>28–30</c:v>
                  </c:pt>
                </c:lvl>
              </c:multiLvlStrCache>
            </c:multiLvlStrRef>
          </c:cat>
          <c:val>
            <c:numRef>
              <c:f>Sheet1!$C$2:$C$16</c:f>
              <c:numCache>
                <c:formatCode>General</c:formatCode>
                <c:ptCount val="15"/>
                <c:pt idx="0">
                  <c:v>0</c:v>
                </c:pt>
                <c:pt idx="1">
                  <c:v>0</c:v>
                </c:pt>
                <c:pt idx="2">
                  <c:v>0</c:v>
                </c:pt>
                <c:pt idx="3">
                  <c:v>0</c:v>
                </c:pt>
                <c:pt idx="4">
                  <c:v>8</c:v>
                </c:pt>
                <c:pt idx="5">
                  <c:v>8</c:v>
                </c:pt>
                <c:pt idx="6">
                  <c:v>8</c:v>
                </c:pt>
                <c:pt idx="7">
                  <c:v>8</c:v>
                </c:pt>
                <c:pt idx="8">
                  <c:v>8</c:v>
                </c:pt>
                <c:pt idx="9">
                  <c:v>8</c:v>
                </c:pt>
                <c:pt idx="10">
                  <c:v>8</c:v>
                </c:pt>
                <c:pt idx="11">
                  <c:v>7</c:v>
                </c:pt>
                <c:pt idx="12">
                  <c:v>0</c:v>
                </c:pt>
                <c:pt idx="13">
                  <c:v>0</c:v>
                </c:pt>
                <c:pt idx="14">
                  <c:v>0</c:v>
                </c:pt>
              </c:numCache>
            </c:numRef>
          </c:val>
        </c:ser>
        <c:dLbls>
          <c:numFmt formatCode="#,##0" sourceLinked="0"/>
          <c:txPr>
            <a:bodyPr/>
            <a:lstStyle/>
            <a:p>
              <a:pPr>
                <a:defRPr b="0" i="0" strike="noStrike" sz="1000" u="none">
                  <a:solidFill>
                    <a:srgbClr val="1B1F24"/>
                  </a:solidFill>
                  <a:latin typeface="+mn-lt"/>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title>
          <c:tx>
            <c:rich>
              <a:bodyPr/>
              <a:lstStyle/>
              <a:p>
                <a:pPr>
                  <a:defRPr sz="1000" b="0" i="0" u="none" strike="noStrike">
                    <a:solidFill>
                      <a:srgbClr val="7A8794"/>
                    </a:solidFill>
                    <a:latin typeface="+mn-lt"/>
                  </a:defRPr>
                </a:pPr>
                <a:r>
                  <a:rPr sz="1000" b="0" i="0" u="none" strike="noStrike">
                    <a:solidFill>
                      <a:srgbClr val="7A8794"/>
                    </a:solidFill>
                    <a:latin typeface="+mn-lt"/>
                  </a:rPr>
                  <a:t>Ventana (s) · caída a los 8 s, recuperación a los 18 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A8794"/>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8EB"/>
              </a:solidFill>
              <a:prstDash val="solid"/>
              <a:round/>
            </a:ln>
          </c:spPr>
        </c:majorGridlines>
        <c:title>
          <c:tx>
            <c:rich>
              <a:bodyPr/>
              <a:lstStyle/>
              <a:p>
                <a:pPr>
                  <a:defRPr sz="1000" b="0" i="0" u="none" strike="noStrike">
                    <a:solidFill>
                      <a:srgbClr val="7A8794"/>
                    </a:solidFill>
                    <a:latin typeface="+mn-lt"/>
                  </a:defRPr>
                </a:pPr>
                <a:r>
                  <a:rPr sz="1000" b="0" i="0" u="none" strike="noStrike">
                    <a:solidFill>
                      <a:srgbClr val="7A8794"/>
                    </a:solidFill>
                    <a:latin typeface="+mn-lt"/>
                  </a:rPr>
                  <a:t>Solicitudes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A879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24"/>
                </a:solidFill>
                <a:latin typeface="+mn-lt"/>
              </a:defRPr>
            </a:pPr>
            <a:r>
              <a:rPr sz="1200" b="0" i="0" u="none" strike="noStrike">
                <a:solidFill>
                  <a:srgbClr val="1B1F24"/>
                </a:solidFill>
                <a:latin typeface="+mn-lt"/>
              </a:rPr>
              <a:t>Lote de PQRS: costo mensual estimado (US$)</a:t>
            </a:r>
          </a:p>
        </c:rich>
      </c:tx>
      <c:layout/>
      <c:overlay val="0"/>
    </c:title>
    <c:autoTitleDeleted val="0"/>
    <c:plotArea>
      <c:layout/>
      <c:barChart>
        <c:barDir val="col"/>
        <c:grouping val="clustered"/>
        <c:varyColors val="0"/>
        <c:ser>
          <c:idx val="0"/>
          <c:order val="0"/>
          <c:tx>
            <c:strRef>
              <c:f>Sheet1!$B$1</c:f>
              <c:strCache>
                <c:ptCount val="1"/>
                <c:pt idx="0">
                  <c:v>US$ al mes</c:v>
                </c:pt>
              </c:strCache>
            </c:strRef>
          </c:tx>
          <c:spPr>
            <a:solidFill>
              <a:srgbClr val="1F6F9F"/>
            </a:solidFill>
            <a:effectLst/>
          </c:spPr>
          <c:invertIfNegative val="0"/>
          <c:dLbls>
            <c:numFmt formatCode="$#,##0.0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cat>
            <c:multiLvlStrRef>
              <c:f>Sheet1!$A$2:$A$4</c:f>
              <c:multiLvlStrCache>
                <c:ptCount val="3"/>
                <c:lvl>
                  <c:pt idx="0">
                    <c:v>Online estándar</c:v>
                  </c:pt>
                  <c:pt idx="1">
                    <c:v>Batch (−50 %)</c:v>
                  </c:pt>
                  <c:pt idx="2">
                    <c:v>GPU L4 1 h por noche*</c:v>
                  </c:pt>
                </c:lvl>
              </c:multiLvlStrCache>
            </c:multiLvlStrRef>
          </c:cat>
          <c:val>
            <c:numRef>
              <c:f>Sheet1!$B$2:$B$4</c:f>
              <c:numCache>
                <c:formatCode>General</c:formatCode>
                <c:ptCount val="3"/>
                <c:pt idx="0">
                  <c:v>5.1</c:v>
                </c:pt>
                <c:pt idx="1">
                  <c:v>2.55</c:v>
                </c:pt>
                <c:pt idx="2">
                  <c:v>31.41</c:v>
                </c:pt>
              </c:numCache>
            </c:numRef>
          </c:val>
        </c:ser>
        <c:dLbls>
          <c:numFmt formatCode="$#,##0.0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A8794"/>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5E8EB"/>
              </a:solidFill>
              <a:prstDash val="solid"/>
              <a:round/>
            </a:ln>
          </c:spPr>
        </c:majorGridlines>
        <c:title>
          <c:tx>
            <c:rich>
              <a:bodyPr/>
              <a:lstStyle/>
              <a:p>
                <a:pPr>
                  <a:defRPr sz="1000" b="0" i="0" u="none" strike="noStrike">
                    <a:solidFill>
                      <a:srgbClr val="7A8794"/>
                    </a:solidFill>
                    <a:latin typeface="+mn-lt"/>
                  </a:defRPr>
                </a:pPr>
                <a:r>
                  <a:rPr sz="1000" b="0" i="0" u="none" strike="noStrike">
                    <a:solidFill>
                      <a:srgbClr val="7A8794"/>
                    </a:solidFill>
                    <a:latin typeface="+mn-lt"/>
                  </a:rPr>
                  <a:t>US$ al mes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A879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La Sesión 1 respondió qué hay entre el usuario y el modelo. Hoy respondemos dónde vive cada pieza, cuántas copias necesita y qué servicio la implementa. Igual que en la Sesión 1, la presentación es teórica; el código está en el repositorio (LOC-02, AZ-G, GCP-D, AWS-E). Al final, los equipos harán un diseño preliminar para un caso empresarial.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caso ampliado. Pregunta a la clase (2 minutos): ¿pondrían las tres cargas en el mismo endpoint, con la misma cuota y el mismo SLO? Anotar respuestas. Al final de la Unidad A volveremos a ellas. Insistir en que 20.000 PQRS al mes y la temporada de matrículas son supuestos académicos.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los resultados. Explicar el ajuste de la distribución 65/25/10 del curso: el tema incluye explícitamente un ejercicio práctico de diseño preliminar, por eso el taller pesa más. Laboratorios del repositorio: LOC-02 (local), AZ-G (Azure), GCP-D (Google Cloud), AWS-E (AWS).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Conectar con la síntesis de la Sesión 1 (siete decisiones). Hoy profundizamos en tres de ellas: patrón de integración (online vs. batch), topología (zonas y regiones) y selección de servicios. Definir topología: no es solo el diagrama de cajas, sino dónde está cada componente, cuántas réplicas tiene, por dónde fluye el tráfico y qué pasa cuando algo falla.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de la unidad. Respuesta que construiremos: cambia el SLO (de latencia a plazo), y con él cambian el patrón de integración, la forma de usar la capacidad, el precio y los riesgos operativos.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Definir con cuidado: la diferencia entre online y batch no es la tecnología sino quién espera y cuánto. El asíncrono queda en el medio: la conexión se libera, pero alguien espera el resultado. Ejemplos del caso: chat de estudiantes (streaming), resumen de un acta larga que llega por correo (asíncrono), clasificación nocturna de PQRS (batch). Diagrama D-29 en el repositorio.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la tabla fila por fila. Énfasis en el SLI: en batch no tiene sentido medir TTFT; se mide el tiempo hasta completar y la proporción de ítems exitosos. El orden no garantizado es un hecho documentado en Azure OpenAI Batch y en Bedrock batch: los resultados se emparejan por custom_id o recordId. La pregunta del recuadro introduce la siguiente diapositiva: relajar el plazo libera capacidad y por eso los proveedores cobran menos.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Teoría de colas mínima. Con un servidor y llegadas aleatorias, el tiempo de respuesta normalizado es 1/(1−ρ): al 50 % de utilización se espera el doble del tiempo de servicio; al 90 %, diez veces. Para garantizar latencia hay que dejar capacidad libre. El batch no tiene ese problema: puede esperar. Hechos documentados (20-oct-2026): Azure Batch cuesta 50 % menos que Global Standard; Google indica que los modelos Gemini están disponibles en modo batch con 50 % de descuento; la guía de costos de Bedrock indica 50 % de ahorro frente a on-demand. Advertir que el modelo M/M/1 es una idealización; no sirve para dimensionar un servidor LLM real.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patrones. El batch gestionado es lo más simple y lo más barato por token, pero impone la ventana de 24 h y formatos concretos. La cola con workers propios da control (por ejemplo, procesar primero las PQRS de prioridad alta) a costa de operar la cola, los reintentos y la idempotencia. El micro-batching es útil cuando los ítems llegan continuamente y se quiere una latencia de segundos. En LOC-02 el gateway implementa el segundo patrón a escala de laboratorio y reproduce el ciclo de vida del primero.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proveedores comparten el mismo ciclo, con nombres distintos (nombres verificados en la documentación de Azure y en los enumerados de los SDK google-genai 2.31.0 y boto3 1.43.116). Ideas clave: 1) la validación ocurre antes de procesar: un archivo con BOM o un identificador duplicado falla el trabajo completo; 2) completed no significa que todos los ítems salieron bien: hay un archivo de errores; 3) expired y cancelled conservan resultados parciales y se factura lo procesado. Diagrama D-30.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Azure 'Getting started with batch deployments' (actualizada 5-jun-2026) y 'Quotas and limits' (20-ago-2026); Google 'Pricing' y 'Batch inference with Gemini'; AWS 'Capacity, limits and cost optimization', 'Format and upload your batch inference data' y cuotas de Bedrock. Hecho importante para el curso: las suscripciones free trial y Azure for Students tienen cuota Global Batch N/A; por eso la parte batch de AZ-G es demostración del docente y los estudiantes ejecutan el mismo lote en LOC-02, GCP-D o AWS-E. Los límites cambian: verificar el día del laboratorio.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Hechos documentados: Azure 'Priority processing' (22-sep-2026) indica que se activa por despliegue o por solicitud, que usa la misma cuota que el procesamiento estándar y que puede degradarse a estándar si el tráfico sube más de 50 % en menos de 15 minutos. Bedrock 'Service tiers' lista Reserved, Priority, Standard y Flex, con el parámetro service_tier, y que priority, default y flex comparten la cuota on-demand. Google lista Standard, Priority y Flex PayGo y Provisioned Throughput. Pregunta: ¿qué clase usaría para el lote de PQRS si necesita resultados antes de 2 horas? Respuesta esperada: Flex o una cola propia, porque la ventana del batch es de 24 h.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riesgo clásico: un lote grande lanzado a las 10 a. m. agota la cuota o satura la GPU y los estudiantes ven 429 o latencias altas. Defensas: cuotas separadas (Azure lo hace por diseño para Global Batch), despliegues separados, control de admisión con prioridad (lo implementa el gateway de LOC-02: el procesador batch se detiene mientras haya solicitudes online en curso) y programación en horas valle. Diagrama D-31 y ADR-0006 en el repositorio.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riesgos no existen o son menores en el camino online. El lote PQRS del repositorio incluye un 2 % de mensajes con instrucciones incrustadas para practicar LLM01. La medición de calidad es obligatoria: en LOC-02 el simulador clasifica bien el área (100 %) pero se equivoca en el tipo en 10,5 % de los casos; sin la evaluación contra etiquetas, nadie lo habría notado. Las referencias OWASP corresponden al Top 10 for LLM Applications 2025.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Duración: 7 minutos. Pasos en labs/01-local-gateway/README.md (secciones 6.4 y 6.5). Pedir la predicción antes de ejecutar. Resultado esperado: la latencia online se mantiene porque el procesador batch cede capacidad (APP_BATCH_YIELD_ONLINE_INFLIGHT). Mostrar luego evaluar_lote.py: 200 JSON válidos, exactitud de área 100 % y de tipo 89,5 % con el simulador. Si algo falla, usar la tabla del README.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de la unidad. Respuesta que construiremos: depende del objetivo de disponibilidad, de RTO y RPO, de qué componentes tienen estado y de qué parte de la redundancia ya ofrece el proveedor.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Definir cada término con un ejemplo del caso. Dominio de falla: en LLM gestionados aparece uno nuevo, la cuota de la suscripción o del proyecto: si se agota, fallan todas las regiones que la comparten. RTO: si cae la región, ¿en cuánto tiempo debe volver el asistente? RPO: ¿cuántas conversaciones podemos perder? Para un asistente sin estado crítico el RPO puede ser alto; para PQRS radicadas debe ser casi cero.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Cálculo en vivo. Las cifras son hipótesis didácticas, no SLA publicados. Una región con tres componentes en serie queda en 99,80 % (peor que el modelo solo). Dos regiones en paralelo suben a 99,9996 % suponiendo fallas independientes. Pero el componente que enruta entre regiones (DNS, balanceador global o gateway) queda en serie: con 99,99 % el total cae a 99,99 %. Lecciones: 1) la redundancia solo sirve si las fallas son independientes; una cuota compartida, una versión de modelo defectuosa o un plano de control común las correlacionan; 2) el componente global debe ser el más confiable del diseño. Diagrama D-33.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de izquierda a derecha. Cada paso cubre un dominio de falla mayor y cuesta más (en dinero y en complejidad operativa). Para el caso: 99,9 % con una sola región multizona puede ser suficiente si el proveedor del modelo ya ofrece enrutamiento global; el requisito nuevo («seguir operando si cae una región») nos empuja a multi-región. Diagrama D-32.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AWS Architecture Blog (Eliot, 2021) para las cuatro estrategias; guía de alta disponibilidad de Microsoft Foundry (actualizada 22-sep-2026) para hot/hot, hot/warm y hot/cold con sus rangos aproximados. Los RTO y RPO de la tabla son órdenes de magnitud cualitativos; Microsoft insiste en validarlos con pruebas propias. Idea central: la economía de la redundancia cambia radicalmente entre gestionado (paga por uso) y autogestionado (paga por hora de GPU). Diagrama D-34.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no se replica no se recupera. En LLM aparecen dos elementos nuevos: la configuración del comportamiento (prompt de sistema, guardrails, versión del modelo), que debe ser idéntica en todas las regiones para que el usuario no note diferencias, y el índice vectorial, que puede reconstruirse a partir de los documentos (RPO de horas aceptable) o replicarse. Microsoft documenta que Foundry no replica proyectos, despliegues ni cuota entre regiones: el cliente los crea en cada región.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Seis diferencias con un sistema web clásico. Subrayar la 2: en Azure, un segundo despliegue Global Standard en otra región NO duplica la cuota (hecho documentado en 'Quotas and limits', 20-ago-2026); protege contra la falla del endpoint regional, no contra el 429 por cuota. La guía de gateways de Azure dice que el balanceo entre instancias de una misma suscripción no agrega capacidad. Fuentes en docs/referencias.md.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idea más importante de la unidad. Fuentes: Microsoft 'Deployment types' (12-ago-2026) y guía de alta disponibilidad de Foundry (22-sep-2026); Google 'Where your data lives and is processed'; AWS Machine Learning Blog 'Securing Amazon Bedrock cross-Region inference' (13-ene-2026). Error frecuente: creer que usar Global Standard o un perfil global ya hace al sistema multi-región. Si cae la región del endpoint, del backend o de la base de datos, el usuario no recibe respuesta. Diagrama D-35.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problemas distintos: llevar al usuario a una región sana (DNS o anycast) y llevar cada solicitud a un endpoint de modelo sano (gateway). La guía de gateways de Azure recomienda desplegar el gateway en la misma región que los modelos y no usar un gateway de una sola región frente a backends de varias regiones para cargas críticas, porque vuelve a crear un punto único de falla. Mencionar el TTL de DNS: un TTL de 60 s no garantiza conmutación en 60 s por cachés intermedias.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Patrones clásicos de sistemas distribuidos aplicados a la inferencia. Los cuatro primeros detectan y contienen la falla; los cuatro últimos limitan su impacto. En LOC-02 están implementados: timeout de primer byte, conmutación entre regiones, presupuesto de intentos (APP_MAX_ATTEMPTS), circuit breaker que respeta Retry-After, bulkhead entre online y batch, reintentos con backoff y jitter en el lote, e idempotencia por custom_id.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la máquina de estados con LOC-02 (circuit_breaker.py). Parámetros: umbral de fallas, ventana, tiempo de apertura y tope. La guía de gateways de Azure recomienda usar los códigos de respuesta (429, 500, 503) para enrutar y no intentar predecir el throttling, y respetar Retry-After, que en Azure OpenAI puede ser largo. API Management implementa la misma idea como regla de circuit breaker por backend (no disponible en el nivel Consumption). Diagrama D-36.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Cálculo: si cada capa hace hasta 3 intentos, el peor caso es 3 elevado al número de capas. Con 4 capas, una pregunta puede producir 81 llamadas al modelo. Ejemplo real del repositorio: el SDK de OpenAI reintenta 2 veces por defecto, google-genai 5 intentos por defecto según su documentación del tipo HttpRetryOptions, y botocore también tiene reintentos; los laboratorios los limitan a un intento porque la conmutación ocurre en otra capa. El presupuesto de reintentos (retry budget) proviene de la práctica de SRE de Google.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de secuencia (D-37). La regla de LOC-02 y de la Sesión 1: reintentar solo antes del primer byte. Discusión: ¿qué haría para continuar una respuesta cortada? Opciones: regenerar completa en B (el usuario ve que se reinicia), o pedir a B que continúe a partir del texto recibido (cambia la respuesta y cuesta más tokens). En ambos casos el historial de la conversación debe estar replicado o en un almacén accesible desde B.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 principal: Azure Architecture Center, 'Use a gateway in front of multiple Azure OpenAI deployments' (actualizada 21-sep-2026). Recomendaciones citadas: desplegar el gateway en la misma región que el modelo, no usar un gateway de una región para cargas críticas, no implementar un gateway unificado solo para aumentar cuota (usar Global Standard), y un gateway aislado por geografía cuando aplica residencia. Discusión: ¿gateway propio (LOC-02) o gestionado (APIM, Apigee)? ADR-0008.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Ingeniería del caos aplicada con prudencia. La guía de alta disponibilidad de Foundry recomienda revisiones de preparación periódicas. Una región secundaria nunca usada suele fallar por detalles: el despliegue tiene otro nombre, falta un rol, la cuota es cero o el modelo se retiró. La Demo 2 hace exactamente este ejercicio a escala de laboratorio.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Duración: 10 minutos. Comando: python load-tests/failover_test.py --duracion 40 --falla-en 10 --recupera-en 25 (labs/01-local-gateway). La gráfica muestra el resultado obtenido en el entorno de preparación con --duracion 30 --falla-en 8 --recupera-en 18: cifras sintéticas del simulador. Discutir la demora en volver a la primaria: es deliberada para evitar oscilaciones (flapping). Variante: modo slow, en el que las solicitudes esperan el timeout de primer byte (15 s) antes de conmutar; muestra por qué el timeout es parte del RTO.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Pausa de 10 minutos antes de esta unidad. Pregunta: elegir un servicio es elegir región, residencia, modelo de precio, SLA y forma de operar al mismo tiempo. Construiremos un procedimiento y lo aplicaremos a las tres nubes.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Ocho familias de criterios. Ningún criterio decide solo. Error frecuente: elegir por el modelo de moda sin verificar región, cuota y residencia. En la Sesión 1 vimos la madurez de los frameworks (por ejemplo, Bedrock Agents Classic no admite clientes nuevos desde el 30-jul-2026); el mismo análisis aplica a los modelos: Google anunció el retiro de Gemini 2.5 en la plataforma, y una arquitectura que fija un modelo sin plan de migración acumula riesgo.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el árbol con las tres cargas del caso: asistente (alguien espera; en temporada de matrículas la carga es predecible pero estacional: estándar con prioridad en picos, o reservada solo si el volumen lo justifica); PQRS (nadie espera; plazo mayor que 24 h: batch); reindexación (batch). El umbral del 40 % es una heurística de la guía de AWS 'Capacity, limits and cost optimization'; no es un valor universal. Diagrama D-38.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Mapa de categorías, no recomendación de producto. Los nombres de servicios y modalidades se verificaron en la documentación oficial el 20-oct-2026 (excepto los servicios genéricos de enrutamiento y colas, conocidos y estables). Recordar el cambio de nombre: Vertex AI se presenta como Gemini Enterprise Agent Platform desde el 22-abr-2026. Antes de usar el mapa, verifique disponibilidad regional y estado GA del modelo concreto.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 Microsoft Learn 'Deployment types for Microsoft Foundry Models' (actualizada 12-ago-2026) y 'Priority processing' (22-sep-2026). Pregunta: si la política de la universidad exige que la inferencia ocurra en EE. UU., ¿qué tipo elegiría? Respuesta: Data Zone Standard US o Standard en una región de EE. UU.; no Global. Demo 3 usa Global Standard porque es el que tiene cuota en cuentas trial; documentar la diferencia.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'Where your data lives and is processed', 'Supported capabilities by endpoint', 'Priority PayGo' y 'Flex PayGo' de la documentación de Gemini Enterprise Agent Platform; notas de versión (Gemini 3.8 Flash GA el 2-sep-2026; Priority PayGo añadió endpoints us y eu el 9-sep-2026). Advertencia honesta: varias páginas de Google no permitieron extraer las tablas de soporte por endpoint; verificar en la consola qué modalidades admite el modelo elegido en cada ubicación.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AWS 'Service tiers for optimizing performance and cost', 'Securing Amazon Bedrock cross-Region inference: Geographic and global' (AWS ML Blog, 13-ene-2026), cuotas de Bedrock, y 'Supported AWS services for Sign up for AWS (new)', que indica que las funciones multirregión o entre regiones no se admiten en el plan Free. Nota: CRIS no cambia dónde se almacenan los datos; los logs y configuraciones permanecen en la región de origen.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Retomar las cifras de la Sesión 1 (precios oficiales consultados el 13-oct-2026): Cloud Run con GPU L4 ≈ US$1,047 por hora por instancia (2 × 720 h ≈ US$1.507 al mes) frente a ≈ US$67,50 al mes del asistente con gpt-5-mini Global. En multi-región autogestionado, un warm standby con GPU duplica el costo fijo; un pilot light lo evita pero alarga el RTO por la carga de pesos. Por eso, para el caso, la recomendación de partida es gestionado multi-región, y autogestionado solo si un requisito (modelo propio, residencia estricta, volumen muy alto) lo justifica.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portabilidad tiene un costo (una capa más) y un beneficio (negociación, continuidad, multi-nube por regulación). La recomendación del curso es portabilidad en el contrato y en la telemetría, no en todo. Ejemplo concreto del repositorio: el mismo archivo JSONL de lote sirve en LOC-02 y en Azure OpenAI Batch; Gemini y Bedrock requieren otro formato, generado desde la misma fuente.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Duración: 10 minutos. Preparar los dos recursos y el rol antes de la clase. Resultado esperado: primera solicitud con 2 intentos desde swedencentral, las siguientes con 1 intento mientras la primaria está en pausa (30 s). Recordar que la parte batch no está disponible en cuentas trial (cuota N/A). Si la cuenta trial no tiene cuota para gpt-5-mini, usar la grabación y la ruta alternativa con Ollama de la Sesión 1.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Unidad corta pero obligatoria: cada copia del sistema es una copia de su superficie de ataque y de su factura.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Distinguir datos en uso (lo que viaja para la inferencia) de datos en reposo (lo que se almacena). Fuentes: Microsoft 'Deployment types'; Google 'Where your data lives and is processed'; AWS ML Blog sobre CRIS. Sobre la Ley 1581 de 2012: no dar asesoría legal; señalar que la transferencia y el tratamiento por encargados en otros países tienen reglas propias y que la decisión es de la oficina jurídica. Los decretos reglamentarios vigentes deben revisarse con ella.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frecuente: la región secundaria se crea deprisa, con acceso público o con claves, porque «solo es respaldo». En un incidente se convierte en la región principal. AWS documenta que las políticas IAM y SCP deben permitir todas las regiones de destino de un perfil CRIS: una política demasiado estricta rompe la conmutación; una demasiado amplia abre regiones no deseadas. En los laboratorios: AZ-G usa Entra ID y el rol Cognitive Services OpenAI User; AWS-E usa un rol de servicio con aws:SourceAccount y aws:SourceArn y acceso solo al prefijo pqrs/.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Cálculo en vivo: 20.000 × 350 = 7,0 M tokens de entrada; 20.000 × 60 = 1,2 M de salida. Estándar: 7,0 × 0,30 + 1,2 × 2,50 = 2,10 + 3,00 = US$5,10. Batch: la mitad, US$2,55. GPU programada 1 h por noche: 1,047 × 30 = US$31,41, sin contar almacenamiento, operación ni el riesgo de que el lote no quepa en una hora. Advertencias: 1) Gemini 2.5 tiene retiro anunciado; se usa porque su tabla de precios estándar y batch está publicada; repita el cálculo con el modelo vigente; 2) el número de tokens por PQRS es una hipótesis: mídalo con el tokenizador real.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Tabla para el taller. La regla FinOps de la sesión: pague latencia solo donde hay una persona esperando. Cada fila es un parámetro que los equipos deben estimar en su diseño. Los precios de transferencia entre regiones y de los gateways varían por nube y región: consúltelos en las páginas oficiales; el curso no fija cifras que puedan quedar desactualizadas.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minutos: 5 de explicación, 18 de trabajo en equipos de 3 o 4 personas y 7 de exposición de dos equipos. Plantilla y rúbrica en sesiones/s02-topologias/taller.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el método. El paso 2 es el que más se omite: diseñar una sola topología para cargas con SLO distintos. El paso 8 cierra con un ADR (formato de la Sesión 1: contexto, decisión, alternativas, consecuencias). Diagrama D-44 con la plantilla.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casos obligan a decisiones distintas: A combina online, batch y multi-región; B prioriza latencia, picos y costo en varios países; C prioriza residencia, auditoría y un RTO/RPO exigente con una carga asíncrona (10 minutos: ni online ni batch de 24 h). Soluciones de referencia en el repositorio privado del docente. Asignar casos para que al menos dos equipos tengan casos distintos.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plantilla está en sesiones/s02-topologias/taller/plantilla-diseno.md. Pedir que el diagrama sea a mano o en Mermaid. Para el costo, no es necesario consultar precios en clase: usar las cifras de la Unidad D o variables.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Circular entre los equipos con estas preguntas. Seleccionar para exponer dos equipos con casos distintos. La rúbrica detallada por niveles está en sesiones/s02-topologias/taller/rubrica.md.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Retomar la pregunta inicial: ¿la misma topología sirve para todo? No: el asistente, el lote de PQRS y la reindexación tienen SLO, modalidades y estrategias de continuidad distintas, aunque compartan componentes.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Respuestas: 1) batch gestionado (o flex si el plazo fuera menor que 24 h): nadie espera, 50 % de descuento; 2) ≈ 99,99 % (el DNS en serie es el techo; 99,9896 % con las cifras de la Unidad B); 3) desde el 7-may-2026 la cuota de Global Standard es por suscripción y se comparte entre regiones; 4) hasta 27 llamadas por solicitud: tormenta de reintentos; 5) Azure: Data Zone Standard US o Standard en región de EE. UU.; Google: endpoint multirregional us o regional en EE. UU.; AWS: modelo en una región de EE. UU. o perfil geográfico us.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Recordar la limpieza de recursos de cada laboratorio y revisar el panel de costos 24 horas después. La próxima sesión continúa el eje del curso: sistemas distribuidos y contenedorización; el gateway de LOC-02 será uno de los servicios que se empaquetará y desplegará.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Enlaces completos y estado de verificación en docs/referencias.md, sección Sesión 2.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Lecturas recomendadas para la semana: capítulos 21 y 22 del libro de SRE (sobrecarga y fallas en cascada) y el capítulo de estabilidad de Release It! (circuit breaker, bulkhead, timeouts).
Fuentes: documentación oficial citada en docs/referencias.md (estado al 20-oct-2026)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13324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5544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566160"/>
            <a:ext cx="10698480" cy="146304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CION">
    <p:bg>
      <p:bgPr>
        <a:solidFill>
          <a:srgbClr val="1F6F9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3716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731520" y="3474720"/>
            <a:ext cx="10698480" cy="13716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548640" y="6355080"/>
            <a:ext cx="7315200" cy="320040"/>
          </a:xfrm>
          <a:prstGeom prst="rect">
            <a:avLst/>
          </a:prstGeom>
          <a:noFill/>
          <a:ln/>
        </p:spPr>
        <p:txBody>
          <a:bodyPr wrap="square" rtlCol="0" anchor="ctr"/>
          <a:lstStyle/>
          <a:p>
            <a:pPr indent="0" marL="0">
              <a:buNone/>
            </a:pPr>
            <a:r>
              <a:rPr lang="en-US" sz="1000" dirty="0">
                <a:solidFill>
                  <a:schemeClr val="accent6"/>
                </a:solidFill>
              </a:rPr>
              <a:t>Diseño de Infraestructura Escalable para LLMs · Sesión 2</a:t>
            </a:r>
            <a:endParaRPr lang="en-US" sz="10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554480"/>
          </a:xfrm>
          <a:prstGeom prst="rect">
            <a:avLst/>
          </a:prstGeom>
          <a:noFill/>
          <a:ln/>
        </p:spPr>
        <p:txBody>
          <a:bodyPr wrap="square" rtlCol="0"/>
          <a:lstStyle/>
          <a:p>
            <a:pPr algn="l" indent="0" marL="0">
              <a:buNone/>
            </a:pPr>
            <a:r>
              <a:rPr lang="en-US" sz="4000" b="1" dirty="0">
                <a:solidFill>
                  <a:schemeClr val="bg1"/>
                </a:solidFill>
              </a:rPr>
              <a:t>Diseño de Topologías y Casos de Uso Empresariales</a:t>
            </a:r>
            <a:endParaRPr lang="en-US" sz="4000" dirty="0"/>
          </a:p>
        </p:txBody>
      </p:sp>
      <p:sp>
        <p:nvSpPr>
          <p:cNvPr id="3" name="Text 0"/>
          <p:cNvSpPr/>
          <p:nvPr>
            <p:ph idx="101" type="body" hasCustomPrompt="1"/>
          </p:nvPr>
        </p:nvSpPr>
        <p:spPr>
          <a:xfrm>
            <a:off x="731520" y="3566160"/>
            <a:ext cx="10698480" cy="1463040"/>
          </a:xfrm>
          <a:prstGeom prst="rect">
            <a:avLst/>
          </a:prstGeom>
          <a:noFill/>
          <a:ln/>
        </p:spPr>
        <p:txBody>
          <a:bodyPr wrap="square" rtlCol="0"/>
          <a:lstStyle/>
          <a:p>
            <a:pPr indent="0" marL="0">
              <a:buNone/>
            </a:pPr>
            <a:r>
              <a:rPr lang="en-US" sz="2000" dirty="0">
                <a:solidFill>
                  <a:schemeClr val="bg2"/>
                </a:solidFill>
              </a:rPr>
              <a:t>Capítulo 1 · Fundamentos de Infraestructura para LLMs · Sesión 2 (180 min)</a:t>
            </a:r>
            <a:endParaRPr lang="en-US" sz="2000" dirty="0"/>
          </a:p>
          <a:p>
            <a:pPr indent="0" marL="0">
              <a:buNone/>
            </a:pPr>
            <a:r>
              <a:rPr lang="en-US" sz="2000" dirty="0">
                <a:solidFill>
                  <a:schemeClr val="bg2"/>
                </a:solidFill>
              </a:rPr>
              <a:t>Inferencia online y por lotes · Multi-región y redundancia · Selección de servicios · Diseño preliminar</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Pregunta guía: ¿la misma topología sirve para todo?</a:t>
            </a:r>
            <a:endParaRPr lang="en-US" sz="2800" dirty="0"/>
          </a:p>
        </p:txBody>
      </p:sp>
      <p:sp>
        <p:nvSpPr>
          <p:cNvPr id="3" name="Text 1"/>
          <p:cNvSpPr txBox="1"/>
          <p:nvPr/>
        </p:nvSpPr>
        <p:spPr>
          <a:xfrm>
            <a:off x="548640" y="1280160"/>
            <a:ext cx="6583680" cy="4846320"/>
          </a:xfrm>
          <a:prstGeom prst="rect">
            <a:avLst/>
          </a:prstGeom>
          <a:noFill/>
          <a:ln/>
        </p:spPr>
        <p:txBody>
          <a:bodyPr wrap="square" lIns="635" tIns="635" rIns="635" bIns="635" rtlCol="0" anchor="t"/>
          <a:lstStyle/>
          <a:p>
            <a:pPr marL="342900" indent="-342900">
              <a:spcAft>
                <a:spcPts val="600"/>
              </a:spcAft>
              <a:buSzPct val="100000"/>
              <a:buChar char="•"/>
            </a:pPr>
            <a:r>
              <a:rPr lang="en-US" sz="1800" dirty="0">
                <a:solidFill>
                  <a:schemeClr val="tx1"/>
                </a:solidFill>
              </a:rPr>
              <a:t>El asistente universitario de la Sesión 1 ahora tiene tres cargas de trabajo distintas:</a:t>
            </a:r>
            <a:endParaRPr lang="en-US" sz="1800" dirty="0"/>
          </a:p>
          <a:p>
            <a:pPr lvl="1" marL="457200" indent="-228600">
              <a:spcAft>
                <a:spcPts val="600"/>
              </a:spcAft>
              <a:buSzPct val="100000"/>
              <a:buChar char="•"/>
            </a:pPr>
            <a:r>
              <a:rPr lang="en-US" sz="1600" dirty="0">
                <a:solidFill>
                  <a:schemeClr val="accent6"/>
                </a:solidFill>
              </a:rPr>
              <a:t>Estudiantes conversando en temporada de matrículas: alguien espera cada respuesta</a:t>
            </a:r>
            <a:endParaRPr lang="en-US" sz="1800" dirty="0"/>
          </a:p>
          <a:p>
            <a:pPr lvl="1" marL="457200" indent="-228600">
              <a:spcAft>
                <a:spcPts val="600"/>
              </a:spcAft>
              <a:buSzPct val="100000"/>
              <a:buChar char="•"/>
            </a:pPr>
            <a:r>
              <a:rPr lang="en-US" sz="1600" dirty="0">
                <a:solidFill>
                  <a:schemeClr val="accent6"/>
                </a:solidFill>
              </a:rPr>
              <a:t>20.000 PQRS al mes que se clasifican cada noche: nadie espera, importa el plazo</a:t>
            </a:r>
            <a:endParaRPr lang="en-US" sz="1800" dirty="0"/>
          </a:p>
          <a:p>
            <a:pPr lvl="1" marL="457200" indent="-228600">
              <a:spcAft>
                <a:spcPts val="600"/>
              </a:spcAft>
              <a:buSzPct val="100000"/>
              <a:buChar char="•"/>
            </a:pPr>
            <a:r>
              <a:rPr lang="en-US" sz="1600" dirty="0">
                <a:solidFill>
                  <a:schemeClr val="accent6"/>
                </a:solidFill>
              </a:rPr>
              <a:t>Reindexación semanal de documentos para RAG: volumen alto, sin urgencia</a:t>
            </a:r>
            <a:endParaRPr lang="en-US" sz="1800" dirty="0"/>
          </a:p>
          <a:p>
            <a:pPr marL="342900" indent="-342900">
              <a:spcAft>
                <a:spcPts val="600"/>
              </a:spcAft>
              <a:buSzPct val="100000"/>
              <a:buChar char="•"/>
            </a:pPr>
            <a:r>
              <a:rPr lang="en-US" sz="1800" dirty="0">
                <a:solidFill>
                  <a:schemeClr val="tx1"/>
                </a:solidFill>
              </a:rPr>
              <a:t>Nuevo requisito institucional: el asistente debe seguir operando si cae una región de la nube</a:t>
            </a:r>
            <a:endParaRPr lang="en-US" sz="1800" dirty="0"/>
          </a:p>
          <a:p>
            <a:pPr marL="342900" indent="-342900">
              <a:spcAft>
                <a:spcPts val="600"/>
              </a:spcAft>
              <a:buSzPct val="100000"/>
              <a:buChar char="•"/>
            </a:pPr>
            <a:r>
              <a:rPr lang="en-US" sz="1800" dirty="0">
                <a:solidFill>
                  <a:schemeClr val="tx1"/>
                </a:solidFill>
              </a:rPr>
              <a:t>Las cifras son hipótesis de diseño, no mediciones</a:t>
            </a:r>
            <a:endParaRPr lang="en-US" sz="1800" dirty="0"/>
          </a:p>
        </p:txBody>
      </p:sp>
      <p:sp>
        <p:nvSpPr>
          <p:cNvPr id="4" name="Shape 2"/>
          <p:cNvSpPr/>
          <p:nvPr/>
        </p:nvSpPr>
        <p:spPr>
          <a:xfrm>
            <a:off x="7589520" y="1371600"/>
            <a:ext cx="4023360" cy="1005840"/>
          </a:xfrm>
          <a:prstGeom prst="roundRect">
            <a:avLst>
              <a:gd name="adj" fmla="val 7273"/>
            </a:avLst>
          </a:prstGeom>
          <a:solidFill>
            <a:srgbClr val="DCEAF4"/>
          </a:solidFill>
          <a:ln w="12700">
            <a:solidFill>
              <a:srgbClr val="1F6F9F"/>
            </a:solidFill>
            <a:prstDash val="solid"/>
          </a:ln>
        </p:spPr>
      </p:sp>
      <p:sp>
        <p:nvSpPr>
          <p:cNvPr id="5" name="Text 3"/>
          <p:cNvSpPr txBox="1"/>
          <p:nvPr/>
        </p:nvSpPr>
        <p:spPr>
          <a:xfrm>
            <a:off x="7589520" y="1371600"/>
            <a:ext cx="4023360" cy="1005840"/>
          </a:xfrm>
          <a:prstGeom prst="rect">
            <a:avLst/>
          </a:prstGeom>
          <a:noFill/>
          <a:ln/>
        </p:spPr>
        <p:txBody>
          <a:bodyPr wrap="square" lIns="635" tIns="635" rIns="635" bIns="635" rtlCol="0" anchor="ctr"/>
          <a:lstStyle/>
          <a:p>
            <a:pPr algn="ctr" indent="0" marL="0">
              <a:buNone/>
            </a:pPr>
            <a:r>
              <a:rPr lang="en-US" sz="1400" dirty="0">
                <a:solidFill>
                  <a:srgbClr val="1B1F24"/>
                </a:solidFill>
              </a:rPr>
              <a:t>Online · conversación</a:t>
            </a:r>
            <a:endParaRPr lang="en-US" sz="1400" dirty="0"/>
          </a:p>
          <a:p>
            <a:pPr algn="ctr" indent="0" marL="0">
              <a:buNone/>
            </a:pPr>
            <a:r>
              <a:rPr lang="en-US" sz="1400" dirty="0">
                <a:solidFill>
                  <a:srgbClr val="1B1F24"/>
                </a:solidFill>
              </a:rPr>
              <a:t>SLO de latencia</a:t>
            </a:r>
            <a:endParaRPr lang="en-US" sz="1400" dirty="0"/>
          </a:p>
        </p:txBody>
      </p:sp>
      <p:sp>
        <p:nvSpPr>
          <p:cNvPr id="6" name="Shape 4"/>
          <p:cNvSpPr/>
          <p:nvPr/>
        </p:nvSpPr>
        <p:spPr>
          <a:xfrm>
            <a:off x="7589520" y="2651760"/>
            <a:ext cx="4023360" cy="1005840"/>
          </a:xfrm>
          <a:prstGeom prst="roundRect">
            <a:avLst>
              <a:gd name="adj" fmla="val 7273"/>
            </a:avLst>
          </a:prstGeom>
          <a:solidFill>
            <a:srgbClr val="E3F2EF"/>
          </a:solidFill>
          <a:ln w="12700">
            <a:solidFill>
              <a:srgbClr val="1F6F9F"/>
            </a:solidFill>
            <a:prstDash val="solid"/>
          </a:ln>
        </p:spPr>
      </p:sp>
      <p:sp>
        <p:nvSpPr>
          <p:cNvPr id="7" name="Text 5"/>
          <p:cNvSpPr txBox="1"/>
          <p:nvPr/>
        </p:nvSpPr>
        <p:spPr>
          <a:xfrm>
            <a:off x="7589520" y="2651760"/>
            <a:ext cx="4023360" cy="1005840"/>
          </a:xfrm>
          <a:prstGeom prst="rect">
            <a:avLst/>
          </a:prstGeom>
          <a:noFill/>
          <a:ln/>
        </p:spPr>
        <p:txBody>
          <a:bodyPr wrap="square" lIns="635" tIns="635" rIns="635" bIns="635" rtlCol="0" anchor="ctr"/>
          <a:lstStyle/>
          <a:p>
            <a:pPr algn="ctr" indent="0" marL="0">
              <a:buNone/>
            </a:pPr>
            <a:r>
              <a:rPr lang="en-US" sz="1400" dirty="0">
                <a:solidFill>
                  <a:srgbClr val="1B1F24"/>
                </a:solidFill>
              </a:rPr>
              <a:t>Batch · PQRS nocturnas</a:t>
            </a:r>
            <a:endParaRPr lang="en-US" sz="1400" dirty="0"/>
          </a:p>
          <a:p>
            <a:pPr algn="ctr" indent="0" marL="0">
              <a:buNone/>
            </a:pPr>
            <a:r>
              <a:rPr lang="en-US" sz="1400" dirty="0">
                <a:solidFill>
                  <a:srgbClr val="1B1F24"/>
                </a:solidFill>
              </a:rPr>
              <a:t>SLO de plazo</a:t>
            </a:r>
            <a:endParaRPr lang="en-US" sz="1400" dirty="0"/>
          </a:p>
        </p:txBody>
      </p:sp>
      <p:sp>
        <p:nvSpPr>
          <p:cNvPr id="8" name="Shape 6"/>
          <p:cNvSpPr/>
          <p:nvPr/>
        </p:nvSpPr>
        <p:spPr>
          <a:xfrm>
            <a:off x="7589520" y="3931920"/>
            <a:ext cx="4023360" cy="1005840"/>
          </a:xfrm>
          <a:prstGeom prst="roundRect">
            <a:avLst>
              <a:gd name="adj" fmla="val 7273"/>
            </a:avLst>
          </a:prstGeom>
          <a:solidFill>
            <a:srgbClr val="FBEFD9"/>
          </a:solidFill>
          <a:ln w="12700">
            <a:solidFill>
              <a:srgbClr val="1F6F9F"/>
            </a:solidFill>
            <a:prstDash val="solid"/>
          </a:ln>
        </p:spPr>
      </p:sp>
      <p:sp>
        <p:nvSpPr>
          <p:cNvPr id="9" name="Text 7"/>
          <p:cNvSpPr txBox="1"/>
          <p:nvPr/>
        </p:nvSpPr>
        <p:spPr>
          <a:xfrm>
            <a:off x="7589520" y="3931920"/>
            <a:ext cx="4023360" cy="1005840"/>
          </a:xfrm>
          <a:prstGeom prst="rect">
            <a:avLst/>
          </a:prstGeom>
          <a:noFill/>
          <a:ln/>
        </p:spPr>
        <p:txBody>
          <a:bodyPr wrap="square" lIns="635" tIns="635" rIns="635" bIns="635" rtlCol="0" anchor="ctr"/>
          <a:lstStyle/>
          <a:p>
            <a:pPr algn="ctr" indent="0" marL="0">
              <a:buNone/>
            </a:pPr>
            <a:r>
              <a:rPr lang="en-US" sz="1400" dirty="0">
                <a:solidFill>
                  <a:srgbClr val="1B1F24"/>
                </a:solidFill>
              </a:rPr>
              <a:t>Batch · reindexación</a:t>
            </a:r>
            <a:endParaRPr lang="en-US" sz="1400" dirty="0"/>
          </a:p>
          <a:p>
            <a:pPr algn="ctr" indent="0" marL="0">
              <a:buNone/>
            </a:pPr>
            <a:r>
              <a:rPr lang="en-US" sz="1400" dirty="0">
                <a:solidFill>
                  <a:srgbClr val="1B1F24"/>
                </a:solidFill>
              </a:rPr>
              <a:t>SLO de plazo y costo</a:t>
            </a:r>
            <a:endParaRPr lang="en-US" sz="1400" dirty="0"/>
          </a:p>
        </p:txBody>
      </p:sp>
      <p:sp>
        <p:nvSpPr>
          <p:cNvPr id="10" name="Text 8"/>
          <p:cNvSpPr txBox="1"/>
          <p:nvPr/>
        </p:nvSpPr>
        <p:spPr>
          <a:xfrm>
            <a:off x="7589520" y="5074920"/>
            <a:ext cx="4023360" cy="457200"/>
          </a:xfrm>
          <a:prstGeom prst="rect">
            <a:avLst/>
          </a:prstGeom>
          <a:noFill/>
          <a:ln/>
        </p:spPr>
        <p:txBody>
          <a:bodyPr wrap="square" lIns="0" tIns="0" rIns="0" bIns="0" rtlCol="0" anchor="ctr"/>
          <a:lstStyle/>
          <a:p>
            <a:pPr algn="ctr" indent="0" marL="0">
              <a:buNone/>
            </a:pPr>
            <a:r>
              <a:rPr lang="en-US" sz="1500" b="1" dirty="0">
                <a:solidFill>
                  <a:srgbClr val="13324B"/>
                </a:solidFill>
              </a:rPr>
              <a:t>¿Una topología, dos o tres?</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Resultados de aprendizaje y agenda</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731520"/>
                <a:gridCol w="7863840"/>
                <a:gridCol w="2468880"/>
              </a:tblGrid>
              <a:tr h="0">
                <a:tc>
                  <a:txBody>
                    <a:bodyPr/>
                    <a:lstStyle/>
                    <a:p>
                      <a:pPr indent="0" marL="0">
                        <a:buNone/>
                      </a:pPr>
                      <a:r>
                        <a:rPr lang="en-US" sz="1400" b="1" dirty="0">
                          <a:solidFill>
                            <a:srgbClr val="FFFFFF"/>
                          </a:solidFill>
                        </a:rPr>
                        <a:t>RA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Al finalizar podrá…</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Bloque</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400" dirty="0">
                          <a:solidFill>
                            <a:srgbClr val="1B1F24"/>
                          </a:solidFill>
                        </a:rPr>
                        <a:t>RA1</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Distinguir inferencia online, asíncrona y por lotes por su SLO, costo y patrón de arquitectura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Unidad A · Demo 1</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400" dirty="0">
                          <a:solidFill>
                            <a:srgbClr val="1B1F24"/>
                          </a:solidFill>
                        </a:rPr>
                        <a:t>RA2</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Calcular la disponibilidad compuesta de una topología y relacionarla con RTO y RPO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Unidad B</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1F24"/>
                          </a:solidFill>
                        </a:rPr>
                        <a:t>RA3</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Diseñar topologías redundantes (multizona, activo-pasivo, activo-activo) con patrones de resiliencia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Unidad B · Demo 2</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400" dirty="0">
                          <a:solidFill>
                            <a:srgbClr val="1B1F24"/>
                          </a:solidFill>
                        </a:rPr>
                        <a:t>RA4</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Seleccionar servicios gestionados de Azure, Google Cloud y AWS según el caso de uso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Unidad C · Demo 3</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1F24"/>
                          </a:solidFill>
                        </a:rPr>
                        <a:t>RA5</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Evaluar residencia de datos, seguridad y costo de una topología multi-región</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Unidad D</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400" dirty="0">
                          <a:solidFill>
                            <a:srgbClr val="1B1F24"/>
                          </a:solidFill>
                        </a:rPr>
                        <a:t>RA6</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Elaborar y justificar un diseño preliminar con un ADR</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Taller</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4846320"/>
            <a:ext cx="11064240" cy="822960"/>
          </a:xfrm>
          <a:prstGeom prst="rect">
            <a:avLst/>
          </a:prstGeom>
          <a:noFill/>
          <a:ln/>
        </p:spPr>
        <p:txBody>
          <a:bodyPr wrap="square" lIns="0" tIns="0" rIns="0" bIns="0" rtlCol="0" anchor="ctr"/>
          <a:lstStyle/>
          <a:p>
            <a:pPr algn="l" indent="0" marL="0">
              <a:buNone/>
            </a:pPr>
            <a:r>
              <a:rPr lang="en-US" sz="1300" dirty="0">
                <a:solidFill>
                  <a:srgbClr val="7A8794"/>
                </a:solidFill>
              </a:rPr>
              <a:t>Agenda: apertura 8 min · A 27 min · B 40 min · pausa 10 min · C 40 min · D 15 min · taller 30 min · cierre 10 min.</a:t>
            </a:r>
            <a:endParaRPr lang="en-US" sz="1300" dirty="0"/>
          </a:p>
          <a:p>
            <a:pPr algn="l" indent="0" marL="0">
              <a:buNone/>
            </a:pPr>
            <a:r>
              <a:rPr lang="en-US" sz="1300" dirty="0">
                <a:solidFill>
                  <a:srgbClr val="7A8794"/>
                </a:solidFill>
              </a:rPr>
              <a:t>Distribución ajustada a 60 % teoría, 16 % demostraciones y 24 % taller y discusión, porque el tema incluye un ejercicio de diseño.</a:t>
            </a:r>
            <a:endParaRPr lang="en-US" sz="13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De la Sesión 1 a la Sesión 2: de componentes a topologías</a:t>
            </a:r>
            <a:endParaRPr lang="en-US" sz="2800" dirty="0"/>
          </a:p>
        </p:txBody>
      </p:sp>
      <p:sp>
        <p:nvSpPr>
          <p:cNvPr id="3" name="Shape 1"/>
          <p:cNvSpPr/>
          <p:nvPr/>
        </p:nvSpPr>
        <p:spPr>
          <a:xfrm>
            <a:off x="548640" y="1371600"/>
            <a:ext cx="5120640" cy="3931920"/>
          </a:xfrm>
          <a:prstGeom prst="roundRect">
            <a:avLst>
              <a:gd name="adj" fmla="val 1860"/>
            </a:avLst>
          </a:prstGeom>
          <a:solidFill>
            <a:srgbClr val="FFFFFF"/>
          </a:solidFill>
          <a:ln w="12700">
            <a:solidFill>
              <a:srgbClr val="C9D1D9"/>
            </a:solidFill>
            <a:prstDash val="solid"/>
          </a:ln>
        </p:spPr>
      </p:sp>
      <p:sp>
        <p:nvSpPr>
          <p:cNvPr id="4" name="Text 2"/>
          <p:cNvSpPr txBox="1"/>
          <p:nvPr/>
        </p:nvSpPr>
        <p:spPr>
          <a:xfrm>
            <a:off x="548640" y="1371600"/>
            <a:ext cx="5120640" cy="3931920"/>
          </a:xfrm>
          <a:prstGeom prst="rect">
            <a:avLst/>
          </a:prstGeom>
          <a:noFill/>
          <a:ln/>
        </p:spPr>
        <p:txBody>
          <a:bodyPr wrap="square" lIns="635" tIns="635" rIns="635" bIns="635" rtlCol="0" anchor="ctr"/>
          <a:lstStyle/>
          <a:p>
            <a:pPr algn="ctr" indent="0" marL="0">
              <a:buNone/>
            </a:pPr>
            <a:endParaRPr lang="en-US" sz="1300" dirty="0"/>
          </a:p>
        </p:txBody>
      </p:sp>
      <p:sp>
        <p:nvSpPr>
          <p:cNvPr id="5" name="Text 3"/>
          <p:cNvSpPr txBox="1"/>
          <p:nvPr/>
        </p:nvSpPr>
        <p:spPr>
          <a:xfrm>
            <a:off x="777240" y="1463040"/>
            <a:ext cx="4663440" cy="457200"/>
          </a:xfrm>
          <a:prstGeom prst="rect">
            <a:avLst/>
          </a:prstGeom>
          <a:noFill/>
          <a:ln/>
        </p:spPr>
        <p:txBody>
          <a:bodyPr wrap="square" lIns="0" tIns="0" rIns="0" bIns="0" rtlCol="0" anchor="ctr"/>
          <a:lstStyle/>
          <a:p>
            <a:pPr algn="l" indent="0" marL="0">
              <a:buNone/>
            </a:pPr>
            <a:r>
              <a:rPr lang="en-US" sz="1600" b="1" dirty="0">
                <a:solidFill>
                  <a:srgbClr val="13324B"/>
                </a:solidFill>
              </a:rPr>
              <a:t>Sesión 1 · qué componentes existen</a:t>
            </a:r>
            <a:endParaRPr lang="en-US" sz="1600" dirty="0"/>
          </a:p>
        </p:txBody>
      </p:sp>
      <p:sp>
        <p:nvSpPr>
          <p:cNvPr id="6" name="Text 4"/>
          <p:cNvSpPr txBox="1"/>
          <p:nvPr/>
        </p:nvSpPr>
        <p:spPr>
          <a:xfrm>
            <a:off x="777240" y="2011680"/>
            <a:ext cx="4663440" cy="310896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chemeClr val="tx1"/>
                </a:solidFill>
              </a:rPr>
              <a:t>Arquitectura de referencia (D-06)</a:t>
            </a:r>
            <a:endParaRPr lang="en-US" sz="1600" dirty="0"/>
          </a:p>
          <a:p>
            <a:pPr marL="342900" indent="-342900">
              <a:spcAft>
                <a:spcPts val="600"/>
              </a:spcAft>
              <a:buSzPct val="100000"/>
              <a:buChar char="•"/>
            </a:pPr>
            <a:r>
              <a:rPr lang="en-US" sz="1600" dirty="0">
                <a:solidFill>
                  <a:schemeClr val="tx1"/>
                </a:solidFill>
              </a:rPr>
              <a:t>Prefill, decode, KV cache, batching</a:t>
            </a:r>
            <a:endParaRPr lang="en-US" sz="1600" dirty="0"/>
          </a:p>
          <a:p>
            <a:pPr marL="342900" indent="-342900">
              <a:spcAft>
                <a:spcPts val="600"/>
              </a:spcAft>
              <a:buSzPct val="100000"/>
              <a:buChar char="•"/>
            </a:pPr>
            <a:r>
              <a:rPr lang="en-US" sz="1600" dirty="0">
                <a:solidFill>
                  <a:schemeClr val="tx1"/>
                </a:solidFill>
              </a:rPr>
              <a:t>Gestionado vs. autogestionado</a:t>
            </a:r>
            <a:endParaRPr lang="en-US" sz="1600" dirty="0"/>
          </a:p>
          <a:p>
            <a:pPr marL="342900" indent="-342900">
              <a:spcAft>
                <a:spcPts val="600"/>
              </a:spcAft>
              <a:buSzPct val="100000"/>
              <a:buChar char="•"/>
            </a:pPr>
            <a:r>
              <a:rPr lang="en-US" sz="1600" dirty="0">
                <a:solidFill>
                  <a:schemeClr val="tx1"/>
                </a:solidFill>
              </a:rPr>
              <a:t>Mapa de servicios en tres nubes</a:t>
            </a:r>
            <a:endParaRPr lang="en-US" sz="1600" dirty="0"/>
          </a:p>
          <a:p>
            <a:pPr marL="342900" indent="-342900">
              <a:spcAft>
                <a:spcPts val="600"/>
              </a:spcAft>
              <a:buSzPct val="100000"/>
              <a:buChar char="•"/>
            </a:pPr>
            <a:r>
              <a:rPr lang="en-US" sz="1600" dirty="0">
                <a:solidFill>
                  <a:schemeClr val="tx1"/>
                </a:solidFill>
              </a:rPr>
              <a:t>OWASP LLM 2025 por capa</a:t>
            </a:r>
            <a:endParaRPr lang="en-US" sz="1600" dirty="0"/>
          </a:p>
          <a:p>
            <a:pPr marL="342900" indent="-342900">
              <a:spcAft>
                <a:spcPts val="600"/>
              </a:spcAft>
              <a:buSzPct val="100000"/>
              <a:buChar char="•"/>
            </a:pPr>
            <a:r>
              <a:rPr lang="en-US" sz="1600" dirty="0">
                <a:solidFill>
                  <a:schemeClr val="tx1"/>
                </a:solidFill>
              </a:rPr>
              <a:t>TTFT, TPOT y costo por token</a:t>
            </a:r>
            <a:endParaRPr lang="en-US" sz="1600" dirty="0"/>
          </a:p>
        </p:txBody>
      </p:sp>
      <p:sp>
        <p:nvSpPr>
          <p:cNvPr id="7" name="Shape 5"/>
          <p:cNvSpPr/>
          <p:nvPr/>
        </p:nvSpPr>
        <p:spPr>
          <a:xfrm>
            <a:off x="5760720" y="3337560"/>
            <a:ext cx="640080" cy="914"/>
          </a:xfrm>
          <a:prstGeom prst="line">
            <a:avLst/>
          </a:prstGeom>
          <a:noFill/>
          <a:ln w="19050">
            <a:solidFill>
              <a:srgbClr val="1F6F9F"/>
            </a:solidFill>
            <a:prstDash val="solid"/>
            <a:tailEnd type="triangle"/>
          </a:ln>
        </p:spPr>
      </p:sp>
      <p:sp>
        <p:nvSpPr>
          <p:cNvPr id="8" name="Shape 6"/>
          <p:cNvSpPr/>
          <p:nvPr/>
        </p:nvSpPr>
        <p:spPr>
          <a:xfrm>
            <a:off x="6492240" y="1371600"/>
            <a:ext cx="5120640" cy="3931920"/>
          </a:xfrm>
          <a:prstGeom prst="roundRect">
            <a:avLst>
              <a:gd name="adj" fmla="val 1860"/>
            </a:avLst>
          </a:prstGeom>
          <a:solidFill>
            <a:srgbClr val="DCEAF4"/>
          </a:solidFill>
          <a:ln w="12700">
            <a:solidFill>
              <a:srgbClr val="1F6F9F"/>
            </a:solidFill>
            <a:prstDash val="solid"/>
          </a:ln>
        </p:spPr>
      </p:sp>
      <p:sp>
        <p:nvSpPr>
          <p:cNvPr id="9" name="Text 7"/>
          <p:cNvSpPr txBox="1"/>
          <p:nvPr/>
        </p:nvSpPr>
        <p:spPr>
          <a:xfrm>
            <a:off x="6492240" y="1371600"/>
            <a:ext cx="5120640" cy="3931920"/>
          </a:xfrm>
          <a:prstGeom prst="rect">
            <a:avLst/>
          </a:prstGeom>
          <a:noFill/>
          <a:ln/>
        </p:spPr>
        <p:txBody>
          <a:bodyPr wrap="square" lIns="635" tIns="635" rIns="635" bIns="635" rtlCol="0" anchor="ctr"/>
          <a:lstStyle/>
          <a:p>
            <a:pPr algn="ctr" indent="0" marL="0">
              <a:buNone/>
            </a:pPr>
            <a:endParaRPr lang="en-US" sz="1300" dirty="0"/>
          </a:p>
        </p:txBody>
      </p:sp>
      <p:sp>
        <p:nvSpPr>
          <p:cNvPr id="10" name="Text 8"/>
          <p:cNvSpPr txBox="1"/>
          <p:nvPr/>
        </p:nvSpPr>
        <p:spPr>
          <a:xfrm>
            <a:off x="6720840" y="1463040"/>
            <a:ext cx="4663440" cy="457200"/>
          </a:xfrm>
          <a:prstGeom prst="rect">
            <a:avLst/>
          </a:prstGeom>
          <a:noFill/>
          <a:ln/>
        </p:spPr>
        <p:txBody>
          <a:bodyPr wrap="square" lIns="0" tIns="0" rIns="0" bIns="0" rtlCol="0" anchor="ctr"/>
          <a:lstStyle/>
          <a:p>
            <a:pPr algn="l" indent="0" marL="0">
              <a:buNone/>
            </a:pPr>
            <a:r>
              <a:rPr lang="en-US" sz="1600" b="1" dirty="0">
                <a:solidFill>
                  <a:srgbClr val="13324B"/>
                </a:solidFill>
              </a:rPr>
              <a:t>Sesión 2 · dónde y cuántas copias</a:t>
            </a:r>
            <a:endParaRPr lang="en-US" sz="1600" dirty="0"/>
          </a:p>
        </p:txBody>
      </p:sp>
      <p:sp>
        <p:nvSpPr>
          <p:cNvPr id="11" name="Text 9"/>
          <p:cNvSpPr txBox="1"/>
          <p:nvPr/>
        </p:nvSpPr>
        <p:spPr>
          <a:xfrm>
            <a:off x="6720840" y="2011680"/>
            <a:ext cx="4663440" cy="310896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chemeClr val="tx1"/>
                </a:solidFill>
              </a:rPr>
              <a:t>Qué carga es online y cuál es batch</a:t>
            </a:r>
            <a:endParaRPr lang="en-US" sz="1600" dirty="0"/>
          </a:p>
          <a:p>
            <a:pPr marL="342900" indent="-342900">
              <a:spcAft>
                <a:spcPts val="600"/>
              </a:spcAft>
              <a:buSzPct val="100000"/>
              <a:buChar char="•"/>
            </a:pPr>
            <a:r>
              <a:rPr lang="en-US" sz="1600" dirty="0">
                <a:solidFill>
                  <a:schemeClr val="tx1"/>
                </a:solidFill>
              </a:rPr>
              <a:t>Cuántas zonas y regiones, y con qué estrategia</a:t>
            </a:r>
            <a:endParaRPr lang="en-US" sz="1600" dirty="0"/>
          </a:p>
          <a:p>
            <a:pPr marL="342900" indent="-342900">
              <a:spcAft>
                <a:spcPts val="600"/>
              </a:spcAft>
              <a:buSzPct val="100000"/>
              <a:buChar char="•"/>
            </a:pPr>
            <a:r>
              <a:rPr lang="en-US" sz="1600" dirty="0">
                <a:solidFill>
                  <a:schemeClr val="tx1"/>
                </a:solidFill>
              </a:rPr>
              <a:t>Quién conmuta: el proveedor, un gateway o el cliente</a:t>
            </a:r>
            <a:endParaRPr lang="en-US" sz="1600" dirty="0"/>
          </a:p>
          <a:p>
            <a:pPr marL="342900" indent="-342900">
              <a:spcAft>
                <a:spcPts val="600"/>
              </a:spcAft>
              <a:buSzPct val="100000"/>
              <a:buChar char="•"/>
            </a:pPr>
            <a:r>
              <a:rPr lang="en-US" sz="1600" dirty="0">
                <a:solidFill>
                  <a:schemeClr val="tx1"/>
                </a:solidFill>
              </a:rPr>
              <a:t>Qué servicio implementa cada carga</a:t>
            </a:r>
            <a:endParaRPr lang="en-US" sz="1600" dirty="0"/>
          </a:p>
          <a:p>
            <a:pPr marL="342900" indent="-342900">
              <a:spcAft>
                <a:spcPts val="600"/>
              </a:spcAft>
              <a:buSzPct val="100000"/>
              <a:buChar char="•"/>
            </a:pPr>
            <a:r>
              <a:rPr lang="en-US" sz="1600" dirty="0">
                <a:solidFill>
                  <a:schemeClr val="tx1"/>
                </a:solidFill>
              </a:rPr>
              <a:t>Qué cuesta la redundancia y dónde viajan los datos</a:t>
            </a:r>
            <a:endParaRPr lang="en-US" sz="1600" dirty="0"/>
          </a:p>
          <a:p>
            <a:pPr marL="342900" indent="-342900">
              <a:spcAft>
                <a:spcPts val="600"/>
              </a:spcAft>
              <a:buSzPct val="100000"/>
              <a:buChar char="•"/>
            </a:pPr>
            <a:r>
              <a:rPr lang="en-US" sz="1600" dirty="0">
                <a:solidFill>
                  <a:schemeClr val="tx1"/>
                </a:solidFill>
              </a:rPr>
              <a:t>Diseño preliminar con ADR</a:t>
            </a:r>
            <a:endParaRPr lang="en-US" sz="1600" dirty="0"/>
          </a:p>
        </p:txBody>
      </p:sp>
      <p:sp>
        <p:nvSpPr>
          <p:cNvPr id="12" name="Shape 10"/>
          <p:cNvSpPr/>
          <p:nvPr/>
        </p:nvSpPr>
        <p:spPr>
          <a:xfrm>
            <a:off x="548640" y="5623560"/>
            <a:ext cx="11064240" cy="566928"/>
          </a:xfrm>
          <a:prstGeom prst="roundRect">
            <a:avLst>
              <a:gd name="adj" fmla="val 12903"/>
            </a:avLst>
          </a:prstGeom>
          <a:solidFill>
            <a:srgbClr val="2E9C8A"/>
          </a:solidFill>
          <a:ln w="12700">
            <a:solidFill>
              <a:srgbClr val="2E9C8A"/>
            </a:solidFill>
            <a:prstDash val="solid"/>
          </a:ln>
        </p:spPr>
      </p:sp>
      <p:sp>
        <p:nvSpPr>
          <p:cNvPr id="13" name="Text 11"/>
          <p:cNvSpPr txBox="1"/>
          <p:nvPr/>
        </p:nvSpPr>
        <p:spPr>
          <a:xfrm>
            <a:off x="731520" y="5623560"/>
            <a:ext cx="10698480" cy="566928"/>
          </a:xfrm>
          <a:prstGeom prst="rect">
            <a:avLst/>
          </a:prstGeom>
          <a:noFill/>
          <a:ln/>
        </p:spPr>
        <p:txBody>
          <a:bodyPr wrap="square" lIns="0" tIns="0" rIns="0" bIns="0" rtlCol="0" anchor="ctr"/>
          <a:lstStyle/>
          <a:p>
            <a:pPr indent="0" marL="0">
              <a:buNone/>
            </a:pPr>
            <a:r>
              <a:rPr lang="en-US" sz="1500" b="1" dirty="0">
                <a:solidFill>
                  <a:srgbClr val="FFFFFF"/>
                </a:solidFill>
              </a:rPr>
              <a:t>Topología = componentes + ubicación + réplicas + rutas de tráfico + estrategia de falla</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371600"/>
          </a:xfrm>
          <a:prstGeom prst="rect">
            <a:avLst/>
          </a:prstGeom>
          <a:noFill/>
          <a:ln/>
        </p:spPr>
        <p:txBody>
          <a:bodyPr wrap="square" rtlCol="0"/>
          <a:lstStyle/>
          <a:p>
            <a:pPr algn="l" indent="0" marL="0">
              <a:buNone/>
            </a:pPr>
            <a:r>
              <a:rPr lang="en-US" sz="3800" b="1" dirty="0">
                <a:solidFill>
                  <a:schemeClr val="bg1"/>
                </a:solidFill>
              </a:rPr>
              <a:t>Unidad A · Inferencia online vs. por lotes</a:t>
            </a:r>
            <a:endParaRPr lang="en-US" sz="3800" dirty="0"/>
          </a:p>
        </p:txBody>
      </p:sp>
      <p:sp>
        <p:nvSpPr>
          <p:cNvPr id="3" name="Text 0"/>
          <p:cNvSpPr/>
          <p:nvPr>
            <p:ph idx="101" type="body" hasCustomPrompt="1"/>
          </p:nvPr>
        </p:nvSpPr>
        <p:spPr>
          <a:xfrm>
            <a:off x="731520" y="3474720"/>
            <a:ext cx="10698480" cy="1371600"/>
          </a:xfrm>
          <a:prstGeom prst="rect">
            <a:avLst/>
          </a:prstGeom>
          <a:noFill/>
          <a:ln/>
        </p:spPr>
        <p:txBody>
          <a:bodyPr wrap="square" rtlCol="0"/>
          <a:lstStyle/>
          <a:p>
            <a:pPr indent="0" marL="0">
              <a:buNone/>
            </a:pPr>
            <a:r>
              <a:rPr lang="en-US" sz="2000" dirty="0">
                <a:solidFill>
                  <a:schemeClr val="bg2"/>
                </a:solidFill>
              </a:rPr>
              <a:t>¿Qué cambia en la arquitectura cuando nadie está esperando la respuesta?</a:t>
            </a:r>
            <a:endParaRPr lang="en-US" sz="20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Un espectro de patrones de inferencia</a:t>
            </a:r>
            <a:endParaRPr lang="en-US" sz="2800" dirty="0"/>
          </a:p>
        </p:txBody>
      </p:sp>
      <p:sp>
        <p:nvSpPr>
          <p:cNvPr id="3" name="Shape 1"/>
          <p:cNvSpPr/>
          <p:nvPr/>
        </p:nvSpPr>
        <p:spPr>
          <a:xfrm>
            <a:off x="548640" y="1463040"/>
            <a:ext cx="2011680" cy="640080"/>
          </a:xfrm>
          <a:prstGeom prst="roundRect">
            <a:avLst>
              <a:gd name="adj" fmla="val 11429"/>
            </a:avLst>
          </a:prstGeom>
          <a:solidFill>
            <a:srgbClr val="DCEAF4"/>
          </a:solidFill>
          <a:ln w="12700">
            <a:solidFill>
              <a:srgbClr val="1F6F9F"/>
            </a:solidFill>
            <a:prstDash val="solid"/>
          </a:ln>
        </p:spPr>
      </p:sp>
      <p:sp>
        <p:nvSpPr>
          <p:cNvPr id="4" name="Text 2"/>
          <p:cNvSpPr txBox="1"/>
          <p:nvPr/>
        </p:nvSpPr>
        <p:spPr>
          <a:xfrm>
            <a:off x="548640" y="1463040"/>
            <a:ext cx="2011680" cy="640080"/>
          </a:xfrm>
          <a:prstGeom prst="rect">
            <a:avLst/>
          </a:prstGeom>
          <a:noFill/>
          <a:ln/>
        </p:spPr>
        <p:txBody>
          <a:bodyPr wrap="square" lIns="635" tIns="635" rIns="635" bIns="635" rtlCol="0" anchor="ctr"/>
          <a:lstStyle/>
          <a:p>
            <a:pPr algn="ctr" indent="0" marL="0">
              <a:buNone/>
            </a:pPr>
            <a:r>
              <a:rPr lang="en-US" sz="1600" b="1" dirty="0">
                <a:solidFill>
                  <a:srgbClr val="1B1F24"/>
                </a:solidFill>
              </a:rPr>
              <a:t>Síncrono</a:t>
            </a:r>
            <a:endParaRPr lang="en-US" sz="1600" dirty="0"/>
          </a:p>
        </p:txBody>
      </p:sp>
      <p:sp>
        <p:nvSpPr>
          <p:cNvPr id="5" name="Text 3"/>
          <p:cNvSpPr txBox="1"/>
          <p:nvPr/>
        </p:nvSpPr>
        <p:spPr>
          <a:xfrm>
            <a:off x="548640" y="2194560"/>
            <a:ext cx="2011680" cy="914400"/>
          </a:xfrm>
          <a:prstGeom prst="rect">
            <a:avLst/>
          </a:prstGeom>
          <a:noFill/>
          <a:ln/>
        </p:spPr>
        <p:txBody>
          <a:bodyPr wrap="square" lIns="0" tIns="0" rIns="0" bIns="0" rtlCol="0" anchor="t"/>
          <a:lstStyle/>
          <a:p>
            <a:pPr algn="ctr" indent="0" marL="0">
              <a:buNone/>
            </a:pPr>
            <a:r>
              <a:rPr lang="en-US" sz="1200" dirty="0">
                <a:solidFill>
                  <a:srgbClr val="1B1F24"/>
                </a:solidFill>
              </a:rPr>
              <a:t>Solicitud → respuesta completa</a:t>
            </a:r>
            <a:endParaRPr lang="en-US" sz="1200" dirty="0"/>
          </a:p>
          <a:p>
            <a:pPr algn="ctr" indent="0" marL="0">
              <a:buNone/>
            </a:pPr>
            <a:r>
              <a:rPr lang="en-US" sz="1200" dirty="0">
                <a:solidFill>
                  <a:srgbClr val="1B1F24"/>
                </a:solidFill>
              </a:rPr>
              <a:t>HTTP request/response</a:t>
            </a:r>
            <a:endParaRPr lang="en-US" sz="1200" dirty="0"/>
          </a:p>
        </p:txBody>
      </p:sp>
      <p:sp>
        <p:nvSpPr>
          <p:cNvPr id="6" name="Shape 4"/>
          <p:cNvSpPr/>
          <p:nvPr/>
        </p:nvSpPr>
        <p:spPr>
          <a:xfrm>
            <a:off x="2816352" y="1463040"/>
            <a:ext cx="2011680" cy="640080"/>
          </a:xfrm>
          <a:prstGeom prst="roundRect">
            <a:avLst>
              <a:gd name="adj" fmla="val 11429"/>
            </a:avLst>
          </a:prstGeom>
          <a:solidFill>
            <a:srgbClr val="DCEAF4"/>
          </a:solidFill>
          <a:ln w="12700">
            <a:solidFill>
              <a:srgbClr val="1F6F9F"/>
            </a:solidFill>
            <a:prstDash val="solid"/>
          </a:ln>
        </p:spPr>
      </p:sp>
      <p:sp>
        <p:nvSpPr>
          <p:cNvPr id="7" name="Text 5"/>
          <p:cNvSpPr txBox="1"/>
          <p:nvPr/>
        </p:nvSpPr>
        <p:spPr>
          <a:xfrm>
            <a:off x="2816352" y="1463040"/>
            <a:ext cx="2011680" cy="640080"/>
          </a:xfrm>
          <a:prstGeom prst="rect">
            <a:avLst/>
          </a:prstGeom>
          <a:noFill/>
          <a:ln/>
        </p:spPr>
        <p:txBody>
          <a:bodyPr wrap="square" lIns="635" tIns="635" rIns="635" bIns="635" rtlCol="0" anchor="ctr"/>
          <a:lstStyle/>
          <a:p>
            <a:pPr algn="ctr" indent="0" marL="0">
              <a:buNone/>
            </a:pPr>
            <a:r>
              <a:rPr lang="en-US" sz="1600" b="1" dirty="0">
                <a:solidFill>
                  <a:srgbClr val="1B1F24"/>
                </a:solidFill>
              </a:rPr>
              <a:t>Streaming</a:t>
            </a:r>
            <a:endParaRPr lang="en-US" sz="1600" dirty="0"/>
          </a:p>
        </p:txBody>
      </p:sp>
      <p:sp>
        <p:nvSpPr>
          <p:cNvPr id="8" name="Text 6"/>
          <p:cNvSpPr txBox="1"/>
          <p:nvPr/>
        </p:nvSpPr>
        <p:spPr>
          <a:xfrm>
            <a:off x="2816352" y="2194560"/>
            <a:ext cx="2011680" cy="914400"/>
          </a:xfrm>
          <a:prstGeom prst="rect">
            <a:avLst/>
          </a:prstGeom>
          <a:noFill/>
          <a:ln/>
        </p:spPr>
        <p:txBody>
          <a:bodyPr wrap="square" lIns="0" tIns="0" rIns="0" bIns="0" rtlCol="0" anchor="t"/>
          <a:lstStyle/>
          <a:p>
            <a:pPr algn="ctr" indent="0" marL="0">
              <a:buNone/>
            </a:pPr>
            <a:r>
              <a:rPr lang="en-US" sz="1200" dirty="0">
                <a:solidFill>
                  <a:srgbClr val="1B1F24"/>
                </a:solidFill>
              </a:rPr>
              <a:t>Tokens a medida que se generan</a:t>
            </a:r>
            <a:endParaRPr lang="en-US" sz="1200" dirty="0"/>
          </a:p>
          <a:p>
            <a:pPr algn="ctr" indent="0" marL="0">
              <a:buNone/>
            </a:pPr>
            <a:r>
              <a:rPr lang="en-US" sz="1200" dirty="0">
                <a:solidFill>
                  <a:srgbClr val="1B1F24"/>
                </a:solidFill>
              </a:rPr>
              <a:t>SSE o WebSocket</a:t>
            </a:r>
            <a:endParaRPr lang="en-US" sz="1200" dirty="0"/>
          </a:p>
        </p:txBody>
      </p:sp>
      <p:sp>
        <p:nvSpPr>
          <p:cNvPr id="9" name="Shape 7"/>
          <p:cNvSpPr/>
          <p:nvPr/>
        </p:nvSpPr>
        <p:spPr>
          <a:xfrm>
            <a:off x="5084064" y="1463040"/>
            <a:ext cx="2011680" cy="640080"/>
          </a:xfrm>
          <a:prstGeom prst="roundRect">
            <a:avLst>
              <a:gd name="adj" fmla="val 11429"/>
            </a:avLst>
          </a:prstGeom>
          <a:solidFill>
            <a:srgbClr val="E3F2EF"/>
          </a:solidFill>
          <a:ln w="12700">
            <a:solidFill>
              <a:srgbClr val="1F6F9F"/>
            </a:solidFill>
            <a:prstDash val="solid"/>
          </a:ln>
        </p:spPr>
      </p:sp>
      <p:sp>
        <p:nvSpPr>
          <p:cNvPr id="10" name="Text 8"/>
          <p:cNvSpPr txBox="1"/>
          <p:nvPr/>
        </p:nvSpPr>
        <p:spPr>
          <a:xfrm>
            <a:off x="5084064" y="1463040"/>
            <a:ext cx="2011680" cy="640080"/>
          </a:xfrm>
          <a:prstGeom prst="rect">
            <a:avLst/>
          </a:prstGeom>
          <a:noFill/>
          <a:ln/>
        </p:spPr>
        <p:txBody>
          <a:bodyPr wrap="square" lIns="635" tIns="635" rIns="635" bIns="635" rtlCol="0" anchor="ctr"/>
          <a:lstStyle/>
          <a:p>
            <a:pPr algn="ctr" indent="0" marL="0">
              <a:buNone/>
            </a:pPr>
            <a:r>
              <a:rPr lang="en-US" sz="1600" b="1" dirty="0">
                <a:solidFill>
                  <a:srgbClr val="1B1F24"/>
                </a:solidFill>
              </a:rPr>
              <a:t>Asíncrono</a:t>
            </a:r>
            <a:endParaRPr lang="en-US" sz="1600" dirty="0"/>
          </a:p>
        </p:txBody>
      </p:sp>
      <p:sp>
        <p:nvSpPr>
          <p:cNvPr id="11" name="Text 9"/>
          <p:cNvSpPr txBox="1"/>
          <p:nvPr/>
        </p:nvSpPr>
        <p:spPr>
          <a:xfrm>
            <a:off x="5084064" y="2194560"/>
            <a:ext cx="2011680" cy="914400"/>
          </a:xfrm>
          <a:prstGeom prst="rect">
            <a:avLst/>
          </a:prstGeom>
          <a:noFill/>
          <a:ln/>
        </p:spPr>
        <p:txBody>
          <a:bodyPr wrap="square" lIns="0" tIns="0" rIns="0" bIns="0" rtlCol="0" anchor="t"/>
          <a:lstStyle/>
          <a:p>
            <a:pPr algn="ctr" indent="0" marL="0">
              <a:buNone/>
            </a:pPr>
            <a:r>
              <a:rPr lang="en-US" sz="1200" dirty="0">
                <a:solidFill>
                  <a:srgbClr val="1B1F24"/>
                </a:solidFill>
              </a:rPr>
              <a:t>Encolar → procesar → notificar</a:t>
            </a:r>
            <a:endParaRPr lang="en-US" sz="1200" dirty="0"/>
          </a:p>
          <a:p>
            <a:pPr algn="ctr" indent="0" marL="0">
              <a:buNone/>
            </a:pPr>
            <a:r>
              <a:rPr lang="en-US" sz="1200" dirty="0">
                <a:solidFill>
                  <a:srgbClr val="1B1F24"/>
                </a:solidFill>
              </a:rPr>
              <a:t>cola + workers</a:t>
            </a:r>
            <a:endParaRPr lang="en-US" sz="1200" dirty="0"/>
          </a:p>
        </p:txBody>
      </p:sp>
      <p:sp>
        <p:nvSpPr>
          <p:cNvPr id="12" name="Shape 10"/>
          <p:cNvSpPr/>
          <p:nvPr/>
        </p:nvSpPr>
        <p:spPr>
          <a:xfrm>
            <a:off x="7351776" y="1463040"/>
            <a:ext cx="2011680" cy="640080"/>
          </a:xfrm>
          <a:prstGeom prst="roundRect">
            <a:avLst>
              <a:gd name="adj" fmla="val 11429"/>
            </a:avLst>
          </a:prstGeom>
          <a:solidFill>
            <a:srgbClr val="E3F2EF"/>
          </a:solidFill>
          <a:ln w="12700">
            <a:solidFill>
              <a:srgbClr val="1F6F9F"/>
            </a:solidFill>
            <a:prstDash val="solid"/>
          </a:ln>
        </p:spPr>
      </p:sp>
      <p:sp>
        <p:nvSpPr>
          <p:cNvPr id="13" name="Text 11"/>
          <p:cNvSpPr txBox="1"/>
          <p:nvPr/>
        </p:nvSpPr>
        <p:spPr>
          <a:xfrm>
            <a:off x="7351776" y="1463040"/>
            <a:ext cx="2011680" cy="640080"/>
          </a:xfrm>
          <a:prstGeom prst="rect">
            <a:avLst/>
          </a:prstGeom>
          <a:noFill/>
          <a:ln/>
        </p:spPr>
        <p:txBody>
          <a:bodyPr wrap="square" lIns="635" tIns="635" rIns="635" bIns="635" rtlCol="0" anchor="ctr"/>
          <a:lstStyle/>
          <a:p>
            <a:pPr algn="ctr" indent="0" marL="0">
              <a:buNone/>
            </a:pPr>
            <a:r>
              <a:rPr lang="en-US" sz="1600" b="1" dirty="0">
                <a:solidFill>
                  <a:srgbClr val="1B1F24"/>
                </a:solidFill>
              </a:rPr>
              <a:t>Micro-batch</a:t>
            </a:r>
            <a:endParaRPr lang="en-US" sz="1600" dirty="0"/>
          </a:p>
        </p:txBody>
      </p:sp>
      <p:sp>
        <p:nvSpPr>
          <p:cNvPr id="14" name="Text 12"/>
          <p:cNvSpPr txBox="1"/>
          <p:nvPr/>
        </p:nvSpPr>
        <p:spPr>
          <a:xfrm>
            <a:off x="7351776" y="2194560"/>
            <a:ext cx="2011680" cy="914400"/>
          </a:xfrm>
          <a:prstGeom prst="rect">
            <a:avLst/>
          </a:prstGeom>
          <a:noFill/>
          <a:ln/>
        </p:spPr>
        <p:txBody>
          <a:bodyPr wrap="square" lIns="0" tIns="0" rIns="0" bIns="0" rtlCol="0" anchor="t"/>
          <a:lstStyle/>
          <a:p>
            <a:pPr algn="ctr" indent="0" marL="0">
              <a:buNone/>
            </a:pPr>
            <a:r>
              <a:rPr lang="en-US" sz="1200" dirty="0">
                <a:solidFill>
                  <a:srgbClr val="1B1F24"/>
                </a:solidFill>
              </a:rPr>
              <a:t>Agrupar cada N s o N ítems</a:t>
            </a:r>
            <a:endParaRPr lang="en-US" sz="1200" dirty="0"/>
          </a:p>
          <a:p>
            <a:pPr algn="ctr" indent="0" marL="0">
              <a:buNone/>
            </a:pPr>
            <a:r>
              <a:rPr lang="en-US" sz="1200" dirty="0">
                <a:solidFill>
                  <a:srgbClr val="1B1F24"/>
                </a:solidFill>
              </a:rPr>
              <a:t>flujos casi en tiempo real</a:t>
            </a:r>
            <a:endParaRPr lang="en-US" sz="1200" dirty="0"/>
          </a:p>
        </p:txBody>
      </p:sp>
      <p:sp>
        <p:nvSpPr>
          <p:cNvPr id="15" name="Shape 13"/>
          <p:cNvSpPr/>
          <p:nvPr/>
        </p:nvSpPr>
        <p:spPr>
          <a:xfrm>
            <a:off x="9619488" y="1463040"/>
            <a:ext cx="2011680" cy="640080"/>
          </a:xfrm>
          <a:prstGeom prst="roundRect">
            <a:avLst>
              <a:gd name="adj" fmla="val 11429"/>
            </a:avLst>
          </a:prstGeom>
          <a:solidFill>
            <a:srgbClr val="FBEFD9"/>
          </a:solidFill>
          <a:ln w="12700">
            <a:solidFill>
              <a:srgbClr val="1F6F9F"/>
            </a:solidFill>
            <a:prstDash val="solid"/>
          </a:ln>
        </p:spPr>
      </p:sp>
      <p:sp>
        <p:nvSpPr>
          <p:cNvPr id="16" name="Text 14"/>
          <p:cNvSpPr txBox="1"/>
          <p:nvPr/>
        </p:nvSpPr>
        <p:spPr>
          <a:xfrm>
            <a:off x="9619488" y="1463040"/>
            <a:ext cx="2011680" cy="640080"/>
          </a:xfrm>
          <a:prstGeom prst="rect">
            <a:avLst/>
          </a:prstGeom>
          <a:noFill/>
          <a:ln/>
        </p:spPr>
        <p:txBody>
          <a:bodyPr wrap="square" lIns="635" tIns="635" rIns="635" bIns="635" rtlCol="0" anchor="ctr"/>
          <a:lstStyle/>
          <a:p>
            <a:pPr algn="ctr" indent="0" marL="0">
              <a:buNone/>
            </a:pPr>
            <a:r>
              <a:rPr lang="en-US" sz="1600" b="1" dirty="0">
                <a:solidFill>
                  <a:srgbClr val="1B1F24"/>
                </a:solidFill>
              </a:rPr>
              <a:t>Batch</a:t>
            </a:r>
            <a:endParaRPr lang="en-US" sz="1600" dirty="0"/>
          </a:p>
        </p:txBody>
      </p:sp>
      <p:sp>
        <p:nvSpPr>
          <p:cNvPr id="17" name="Text 15"/>
          <p:cNvSpPr txBox="1"/>
          <p:nvPr/>
        </p:nvSpPr>
        <p:spPr>
          <a:xfrm>
            <a:off x="9619488" y="2194560"/>
            <a:ext cx="2011680" cy="914400"/>
          </a:xfrm>
          <a:prstGeom prst="rect">
            <a:avLst/>
          </a:prstGeom>
          <a:noFill/>
          <a:ln/>
        </p:spPr>
        <p:txBody>
          <a:bodyPr wrap="square" lIns="0" tIns="0" rIns="0" bIns="0" rtlCol="0" anchor="t"/>
          <a:lstStyle/>
          <a:p>
            <a:pPr algn="ctr" indent="0" marL="0">
              <a:buNone/>
            </a:pPr>
            <a:r>
              <a:rPr lang="en-US" sz="1200" dirty="0">
                <a:solidFill>
                  <a:srgbClr val="1B1F24"/>
                </a:solidFill>
              </a:rPr>
              <a:t>Archivo de miles de solicitudes</a:t>
            </a:r>
            <a:endParaRPr lang="en-US" sz="1200" dirty="0"/>
          </a:p>
          <a:p>
            <a:pPr algn="ctr" indent="0" marL="0">
              <a:buNone/>
            </a:pPr>
            <a:r>
              <a:rPr lang="en-US" sz="1200" dirty="0">
                <a:solidFill>
                  <a:srgbClr val="1B1F24"/>
                </a:solidFill>
              </a:rPr>
              <a:t>ventana de horas</a:t>
            </a:r>
            <a:endParaRPr lang="en-US" sz="1200" dirty="0"/>
          </a:p>
        </p:txBody>
      </p:sp>
      <p:sp>
        <p:nvSpPr>
          <p:cNvPr id="18" name="Shape 16"/>
          <p:cNvSpPr/>
          <p:nvPr/>
        </p:nvSpPr>
        <p:spPr>
          <a:xfrm>
            <a:off x="548640" y="3383280"/>
            <a:ext cx="11064240" cy="914"/>
          </a:xfrm>
          <a:prstGeom prst="line">
            <a:avLst/>
          </a:prstGeom>
          <a:noFill/>
          <a:ln w="19050">
            <a:solidFill>
              <a:srgbClr val="1F6F9F"/>
            </a:solidFill>
            <a:prstDash val="solid"/>
            <a:tailEnd type="triangle"/>
          </a:ln>
        </p:spPr>
      </p:sp>
      <p:sp>
        <p:nvSpPr>
          <p:cNvPr id="19" name="Text 17"/>
          <p:cNvSpPr txBox="1"/>
          <p:nvPr/>
        </p:nvSpPr>
        <p:spPr>
          <a:xfrm>
            <a:off x="548640" y="3474720"/>
            <a:ext cx="5486400" cy="365760"/>
          </a:xfrm>
          <a:prstGeom prst="rect">
            <a:avLst/>
          </a:prstGeom>
          <a:noFill/>
          <a:ln/>
        </p:spPr>
        <p:txBody>
          <a:bodyPr wrap="square" lIns="0" tIns="0" rIns="0" bIns="0" rtlCol="0" anchor="ctr"/>
          <a:lstStyle/>
          <a:p>
            <a:pPr algn="l" indent="0" marL="0">
              <a:buNone/>
            </a:pPr>
            <a:r>
              <a:rPr lang="en-US" sz="1300" b="1" dirty="0">
                <a:solidFill>
                  <a:srgbClr val="1F6F9F"/>
                </a:solidFill>
              </a:rPr>
              <a:t>Usuario esperando · SLO de latencia (TTFT, p95)</a:t>
            </a:r>
            <a:endParaRPr lang="en-US" sz="1300" dirty="0"/>
          </a:p>
        </p:txBody>
      </p:sp>
      <p:sp>
        <p:nvSpPr>
          <p:cNvPr id="20" name="Text 18"/>
          <p:cNvSpPr txBox="1"/>
          <p:nvPr/>
        </p:nvSpPr>
        <p:spPr>
          <a:xfrm>
            <a:off x="6126480" y="3474720"/>
            <a:ext cx="5486400" cy="365760"/>
          </a:xfrm>
          <a:prstGeom prst="rect">
            <a:avLst/>
          </a:prstGeom>
          <a:noFill/>
          <a:ln/>
        </p:spPr>
        <p:txBody>
          <a:bodyPr wrap="square" lIns="0" tIns="0" rIns="0" bIns="0" rtlCol="0" anchor="ctr"/>
          <a:lstStyle/>
          <a:p>
            <a:pPr algn="r" indent="0" marL="0">
              <a:buNone/>
            </a:pPr>
            <a:r>
              <a:rPr lang="en-US" sz="1300" b="1" dirty="0">
                <a:solidFill>
                  <a:srgbClr val="D98E2B"/>
                </a:solidFill>
              </a:rPr>
              <a:t>Nadie esperando · SLO de plazo y costo por ítem</a:t>
            </a:r>
            <a:endParaRPr lang="en-US" sz="1300" dirty="0"/>
          </a:p>
        </p:txBody>
      </p:sp>
      <p:sp>
        <p:nvSpPr>
          <p:cNvPr id="21" name="Text 19"/>
          <p:cNvSpPr txBox="1"/>
          <p:nvPr/>
        </p:nvSpPr>
        <p:spPr>
          <a:xfrm>
            <a:off x="548640" y="4023360"/>
            <a:ext cx="11064240" cy="164592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chemeClr val="tx1"/>
                </a:solidFill>
              </a:rPr>
              <a:t>Online (síncrono y streaming): el usuario está en la línea; cada segundo de espera se percibe</a:t>
            </a:r>
            <a:endParaRPr lang="en-US" sz="1600" dirty="0"/>
          </a:p>
          <a:p>
            <a:pPr marL="342900" indent="-342900">
              <a:spcAft>
                <a:spcPts val="600"/>
              </a:spcAft>
              <a:buSzPct val="100000"/>
              <a:buChar char="•"/>
            </a:pPr>
            <a:r>
              <a:rPr lang="en-US" sz="1600" dirty="0">
                <a:solidFill>
                  <a:schemeClr val="tx1"/>
                </a:solidFill>
              </a:rPr>
              <a:t>Asíncrono: el usuario no espera en la conexión, pero sí espera el resultado (minutos)</a:t>
            </a:r>
            <a:endParaRPr lang="en-US" sz="1600" dirty="0"/>
          </a:p>
          <a:p>
            <a:pPr marL="342900" indent="-342900">
              <a:spcAft>
                <a:spcPts val="600"/>
              </a:spcAft>
              <a:buSzPct val="100000"/>
              <a:buChar char="•"/>
            </a:pPr>
            <a:r>
              <a:rPr lang="en-US" sz="1600" dirty="0">
                <a:solidFill>
                  <a:schemeClr val="tx1"/>
                </a:solidFill>
              </a:rPr>
              <a:t>Batch: el resultado se consume después, en bloque (horas); el plazo es parte del contrato del servicio</a:t>
            </a:r>
            <a:endParaRPr lang="en-US" sz="16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El SLO define la carga de trabajo</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194560"/>
                <a:gridCol w="4434840"/>
                <a:gridCol w="4434840"/>
              </a:tblGrid>
              <a:tr h="0">
                <a:tc>
                  <a:txBody>
                    <a:bodyPr/>
                    <a:lstStyle/>
                    <a:p>
                      <a:pPr indent="0" marL="0">
                        <a:buNone/>
                      </a:pPr>
                      <a:r>
                        <a:rPr lang="en-US" sz="1400" b="1" dirty="0">
                          <a:solidFill>
                            <a:srgbClr val="FFFFFF"/>
                          </a:solidFill>
                        </a:rPr>
                        <a:t>Dimensión</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Online (síncrono / streaming)</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Por lotes (batch)</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400" dirty="0">
                          <a:solidFill>
                            <a:srgbClr val="1B1F24"/>
                          </a:solidFill>
                        </a:rPr>
                        <a:t>Quién espera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Una persona, en la conexión</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Un proceso o un equipo, mañana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400" dirty="0">
                          <a:solidFill>
                            <a:srgbClr val="1B1F24"/>
                          </a:solidFill>
                        </a:rPr>
                        <a:t>SLI principal</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TTFT y latencia p95; tasa de errores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Tiempo hasta completar el lote; % de ítems exitosos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1F24"/>
                          </a:solidFill>
                        </a:rPr>
                        <a:t>Unidad de costo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Costo por conversación o por 1.000 tokens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Costo por 1.000 ítems procesados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400" dirty="0">
                          <a:solidFill>
                            <a:srgbClr val="1B1F24"/>
                          </a:solidFill>
                        </a:rPr>
                        <a:t>Capacidad</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Holgura para picos; utilización moderada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Utilización alta; la cola es aceptable</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1F24"/>
                          </a:solidFill>
                        </a:rPr>
                        <a:t>Falla de un ítem</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Error visible de inmediato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Se reintenta; el lote puede terminar parcial</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400" dirty="0">
                          <a:solidFill>
                            <a:srgbClr val="1B1F24"/>
                          </a:solidFill>
                        </a:rPr>
                        <a:t>Orden de resultados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Uno a uno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No garantizado: se empareja por identificador</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1F24"/>
                          </a:solidFill>
                        </a:rPr>
                        <a:t>Ejemplo del caso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Asistente de estudiantes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Clasificación nocturna de PQRS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4" name="Shape 1"/>
          <p:cNvSpPr/>
          <p:nvPr/>
        </p:nvSpPr>
        <p:spPr>
          <a:xfrm>
            <a:off x="548640" y="5623560"/>
            <a:ext cx="11064240" cy="566928"/>
          </a:xfrm>
          <a:prstGeom prst="roundRect">
            <a:avLst>
              <a:gd name="adj" fmla="val 12903"/>
            </a:avLst>
          </a:prstGeom>
          <a:solidFill>
            <a:srgbClr val="13324B"/>
          </a:solidFill>
          <a:ln w="12700">
            <a:solidFill>
              <a:srgbClr val="13324B"/>
            </a:solidFill>
            <a:prstDash val="solid"/>
          </a:ln>
        </p:spPr>
      </p:sp>
      <p:sp>
        <p:nvSpPr>
          <p:cNvPr id="5" name="Text 2"/>
          <p:cNvSpPr txBox="1"/>
          <p:nvPr/>
        </p:nvSpPr>
        <p:spPr>
          <a:xfrm>
            <a:off x="731520" y="5623560"/>
            <a:ext cx="10698480" cy="566928"/>
          </a:xfrm>
          <a:prstGeom prst="rect">
            <a:avLst/>
          </a:prstGeom>
          <a:noFill/>
          <a:ln/>
        </p:spPr>
        <p:txBody>
          <a:bodyPr wrap="square" lIns="0" tIns="0" rIns="0" bIns="0" rtlCol="0" anchor="ctr"/>
          <a:lstStyle/>
          <a:p>
            <a:pPr indent="0" marL="0">
              <a:buNone/>
            </a:pPr>
            <a:r>
              <a:rPr lang="en-US" sz="1500" b="1" dirty="0">
                <a:solidFill>
                  <a:srgbClr val="FFFFFF"/>
                </a:solidFill>
              </a:rPr>
              <a:t>Pregunta de diseño: ¿cuál es el costo de responder en 6 horas en vez de 6 segundos?</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Por qué el lote es más barato: utilización y cola</a:t>
            </a:r>
            <a:endParaRPr lang="en-US" sz="2800" dirty="0"/>
          </a:p>
        </p:txBody>
      </p:sp>
      <p:graphicFrame>
        <p:nvGraphicFramePr>
          <p:cNvPr id="3" name="Chart 0" descr=""/>
          <p:cNvGraphicFramePr/>
          <p:nvPr/>
        </p:nvGraphicFramePr>
        <p:xfrm>
          <a:off x="548640" y="128016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858000" y="1371600"/>
            <a:ext cx="4754880" cy="420624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chemeClr val="tx1"/>
                </a:solidFill>
              </a:rPr>
              <a:t>La espera en cola crece de forma no lineal con la utilización</a:t>
            </a:r>
            <a:endParaRPr lang="en-US" sz="1600" dirty="0"/>
          </a:p>
          <a:p>
            <a:pPr marL="342900" indent="-342900">
              <a:spcAft>
                <a:spcPts val="600"/>
              </a:spcAft>
              <a:buSzPct val="100000"/>
              <a:buChar char="•"/>
            </a:pPr>
            <a:r>
              <a:rPr lang="en-US" sz="1600" dirty="0">
                <a:solidFill>
                  <a:schemeClr val="tx1"/>
                </a:solidFill>
              </a:rPr>
              <a:t>Online: para cumplir un p95 de latencia se opera con holgura (capacidad ociosa = costo)</a:t>
            </a:r>
            <a:endParaRPr lang="en-US" sz="1600" dirty="0"/>
          </a:p>
          <a:p>
            <a:pPr marL="342900" indent="-342900">
              <a:spcAft>
                <a:spcPts val="600"/>
              </a:spcAft>
              <a:buSzPct val="100000"/>
              <a:buChar char="•"/>
            </a:pPr>
            <a:r>
              <a:rPr lang="en-US" sz="1600" dirty="0">
                <a:solidFill>
                  <a:schemeClr val="tx1"/>
                </a:solidFill>
              </a:rPr>
              <a:t>Batch: la espera es aceptable; el proveedor llena huecos y opera con utilización alta</a:t>
            </a:r>
            <a:endParaRPr lang="en-US" sz="1600" dirty="0"/>
          </a:p>
          <a:p>
            <a:pPr marL="342900" indent="-342900">
              <a:spcAft>
                <a:spcPts val="600"/>
              </a:spcAft>
              <a:buSzPct val="100000"/>
              <a:buChar char="•"/>
            </a:pPr>
            <a:r>
              <a:rPr lang="en-US" sz="1600" dirty="0">
                <a:solidFill>
                  <a:schemeClr val="tx1"/>
                </a:solidFill>
              </a:rPr>
              <a:t>Por eso los servicios batch documentan descuentos del 50 % (Azure, Google Cloud, AWS) a cambio de una ventana de 24 h</a:t>
            </a:r>
            <a:endParaRPr lang="en-US" sz="1600" dirty="0"/>
          </a:p>
        </p:txBody>
      </p:sp>
      <p:sp>
        <p:nvSpPr>
          <p:cNvPr id="5" name="Text 2"/>
          <p:cNvSpPr txBox="1"/>
          <p:nvPr/>
        </p:nvSpPr>
        <p:spPr>
          <a:xfrm>
            <a:off x="548640" y="5623560"/>
            <a:ext cx="11064240" cy="548640"/>
          </a:xfrm>
          <a:prstGeom prst="rect">
            <a:avLst/>
          </a:prstGeom>
          <a:noFill/>
          <a:ln/>
        </p:spPr>
        <p:txBody>
          <a:bodyPr wrap="square" lIns="0" tIns="0" rIns="0" bIns="0" rtlCol="0" anchor="ctr"/>
          <a:lstStyle/>
          <a:p>
            <a:pPr algn="l" indent="0" marL="0">
              <a:buNone/>
            </a:pPr>
            <a:r>
              <a:rPr lang="en-US" sz="1100" i="1" dirty="0">
                <a:solidFill>
                  <a:srgbClr val="7A8794"/>
                </a:solidFill>
              </a:rPr>
              <a:t>M/M/1 es una simplificación (llegadas de Poisson, un servidor). Un servidor LLM con continuous batching se comporta distinto, pero la forma de la curva explica la intuición. Ver Harchol-Balter (2013).</a:t>
            </a:r>
            <a:endParaRPr lang="en-US" sz="11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Patrones de arquitectura para lotes</a:t>
            </a:r>
            <a:endParaRPr lang="en-US" sz="2800" dirty="0"/>
          </a:p>
        </p:txBody>
      </p:sp>
      <p:sp>
        <p:nvSpPr>
          <p:cNvPr id="3" name="Shape 1"/>
          <p:cNvSpPr/>
          <p:nvPr/>
        </p:nvSpPr>
        <p:spPr>
          <a:xfrm>
            <a:off x="548640" y="1325880"/>
            <a:ext cx="3474720" cy="594360"/>
          </a:xfrm>
          <a:prstGeom prst="roundRect">
            <a:avLst>
              <a:gd name="adj" fmla="val 12308"/>
            </a:avLst>
          </a:prstGeom>
          <a:solidFill>
            <a:srgbClr val="E3F2EF"/>
          </a:solidFill>
          <a:ln w="12700">
            <a:solidFill>
              <a:srgbClr val="1F6F9F"/>
            </a:solidFill>
            <a:prstDash val="solid"/>
          </a:ln>
        </p:spPr>
      </p:sp>
      <p:sp>
        <p:nvSpPr>
          <p:cNvPr id="4" name="Text 2"/>
          <p:cNvSpPr txBox="1"/>
          <p:nvPr/>
        </p:nvSpPr>
        <p:spPr>
          <a:xfrm>
            <a:off x="548640" y="1325880"/>
            <a:ext cx="3474720" cy="594360"/>
          </a:xfrm>
          <a:prstGeom prst="rect">
            <a:avLst/>
          </a:prstGeom>
          <a:noFill/>
          <a:ln/>
        </p:spPr>
        <p:txBody>
          <a:bodyPr wrap="square" lIns="635" tIns="635" rIns="635" bIns="635" rtlCol="0" anchor="ctr"/>
          <a:lstStyle/>
          <a:p>
            <a:pPr algn="ctr" indent="0" marL="0">
              <a:buNone/>
            </a:pPr>
            <a:r>
              <a:rPr lang="en-US" sz="1700" b="1" dirty="0">
                <a:solidFill>
                  <a:srgbClr val="1B1F24"/>
                </a:solidFill>
              </a:rPr>
              <a:t>Batch gestionado</a:t>
            </a:r>
            <a:endParaRPr lang="en-US" sz="1700" dirty="0"/>
          </a:p>
        </p:txBody>
      </p:sp>
      <p:sp>
        <p:nvSpPr>
          <p:cNvPr id="5" name="Text 3"/>
          <p:cNvSpPr txBox="1"/>
          <p:nvPr/>
        </p:nvSpPr>
        <p:spPr>
          <a:xfrm>
            <a:off x="640080" y="2011680"/>
            <a:ext cx="3291840" cy="1097280"/>
          </a:xfrm>
          <a:prstGeom prst="rect">
            <a:avLst/>
          </a:prstGeom>
          <a:noFill/>
          <a:ln/>
        </p:spPr>
        <p:txBody>
          <a:bodyPr wrap="square" lIns="0" tIns="0" rIns="0" bIns="0" rtlCol="0" anchor="t"/>
          <a:lstStyle/>
          <a:p>
            <a:pPr algn="l" indent="0" marL="0">
              <a:buNone/>
            </a:pPr>
            <a:r>
              <a:rPr lang="en-US" sz="1400" dirty="0">
                <a:solidFill>
                  <a:srgbClr val="1B1F24"/>
                </a:solidFill>
              </a:rPr>
              <a:t>Archivo JSONL en almacenamiento → trabajo del proveedor → archivo de resultados</a:t>
            </a:r>
            <a:endParaRPr lang="en-US" sz="1400" dirty="0"/>
          </a:p>
        </p:txBody>
      </p:sp>
      <p:sp>
        <p:nvSpPr>
          <p:cNvPr id="6" name="Text 4"/>
          <p:cNvSpPr txBox="1"/>
          <p:nvPr/>
        </p:nvSpPr>
        <p:spPr>
          <a:xfrm>
            <a:off x="640080" y="3154680"/>
            <a:ext cx="3291840" cy="320040"/>
          </a:xfrm>
          <a:prstGeom prst="rect">
            <a:avLst/>
          </a:prstGeom>
          <a:noFill/>
          <a:ln/>
        </p:spPr>
        <p:txBody>
          <a:bodyPr wrap="square" lIns="0" tIns="0" rIns="0" bIns="0" rtlCol="0" anchor="ctr"/>
          <a:lstStyle/>
          <a:p>
            <a:pPr algn="l" indent="0" marL="0">
              <a:buNone/>
            </a:pPr>
            <a:r>
              <a:rPr lang="en-US" sz="1200" b="1" dirty="0">
                <a:solidFill>
                  <a:srgbClr val="1F6F9F"/>
                </a:solidFill>
              </a:rPr>
              <a:t>Ejemplos</a:t>
            </a:r>
            <a:endParaRPr lang="en-US" sz="1200" dirty="0"/>
          </a:p>
        </p:txBody>
      </p:sp>
      <p:sp>
        <p:nvSpPr>
          <p:cNvPr id="7" name="Text 5"/>
          <p:cNvSpPr txBox="1"/>
          <p:nvPr/>
        </p:nvSpPr>
        <p:spPr>
          <a:xfrm>
            <a:off x="640080" y="3474720"/>
            <a:ext cx="3291840" cy="822960"/>
          </a:xfrm>
          <a:prstGeom prst="rect">
            <a:avLst/>
          </a:prstGeom>
          <a:noFill/>
          <a:ln/>
        </p:spPr>
        <p:txBody>
          <a:bodyPr wrap="square" lIns="0" tIns="0" rIns="0" bIns="0" rtlCol="0" anchor="t"/>
          <a:lstStyle/>
          <a:p>
            <a:pPr algn="l" indent="0" marL="0">
              <a:buNone/>
            </a:pPr>
            <a:r>
              <a:rPr lang="en-US" sz="1300" dirty="0">
                <a:solidFill>
                  <a:srgbClr val="1B1F24"/>
                </a:solidFill>
              </a:rPr>
              <a:t>Azure OpenAI Batch · Gemini batch inference · Bedrock batch</a:t>
            </a:r>
            <a:endParaRPr lang="en-US" sz="1300" dirty="0"/>
          </a:p>
        </p:txBody>
      </p:sp>
      <p:sp>
        <p:nvSpPr>
          <p:cNvPr id="8" name="Text 6"/>
          <p:cNvSpPr txBox="1"/>
          <p:nvPr/>
        </p:nvSpPr>
        <p:spPr>
          <a:xfrm>
            <a:off x="640080" y="4343400"/>
            <a:ext cx="3291840" cy="320040"/>
          </a:xfrm>
          <a:prstGeom prst="rect">
            <a:avLst/>
          </a:prstGeom>
          <a:noFill/>
          <a:ln/>
        </p:spPr>
        <p:txBody>
          <a:bodyPr wrap="square" lIns="0" tIns="0" rIns="0" bIns="0" rtlCol="0" anchor="ctr"/>
          <a:lstStyle/>
          <a:p>
            <a:pPr algn="l" indent="0" marL="0">
              <a:buNone/>
            </a:pPr>
            <a:r>
              <a:rPr lang="en-US" sz="1200" b="1" dirty="0">
                <a:solidFill>
                  <a:srgbClr val="D98E2B"/>
                </a:solidFill>
              </a:rPr>
              <a:t>Trade-off</a:t>
            </a:r>
            <a:endParaRPr lang="en-US" sz="1200" dirty="0"/>
          </a:p>
        </p:txBody>
      </p:sp>
      <p:sp>
        <p:nvSpPr>
          <p:cNvPr id="9" name="Text 7"/>
          <p:cNvSpPr txBox="1"/>
          <p:nvPr/>
        </p:nvSpPr>
        <p:spPr>
          <a:xfrm>
            <a:off x="640080" y="4663440"/>
            <a:ext cx="3291840" cy="822960"/>
          </a:xfrm>
          <a:prstGeom prst="rect">
            <a:avLst/>
          </a:prstGeom>
          <a:noFill/>
          <a:ln/>
        </p:spPr>
        <p:txBody>
          <a:bodyPr wrap="square" lIns="0" tIns="0" rIns="0" bIns="0" rtlCol="0" anchor="t"/>
          <a:lstStyle/>
          <a:p>
            <a:pPr algn="l" indent="0" marL="0">
              <a:buNone/>
            </a:pPr>
            <a:r>
              <a:rPr lang="en-US" sz="1300" dirty="0">
                <a:solidFill>
                  <a:srgbClr val="1B1F24"/>
                </a:solidFill>
              </a:rPr>
              <a:t>Mínimo esfuerzo; ventana de 24 h; límites de tamaño y de registros</a:t>
            </a:r>
            <a:endParaRPr lang="en-US" sz="1300" dirty="0"/>
          </a:p>
        </p:txBody>
      </p:sp>
      <p:sp>
        <p:nvSpPr>
          <p:cNvPr id="10" name="Shape 8"/>
          <p:cNvSpPr/>
          <p:nvPr/>
        </p:nvSpPr>
        <p:spPr>
          <a:xfrm>
            <a:off x="4297680" y="1325880"/>
            <a:ext cx="3474720" cy="594360"/>
          </a:xfrm>
          <a:prstGeom prst="roundRect">
            <a:avLst>
              <a:gd name="adj" fmla="val 12308"/>
            </a:avLst>
          </a:prstGeom>
          <a:solidFill>
            <a:srgbClr val="DCEAF4"/>
          </a:solidFill>
          <a:ln w="12700">
            <a:solidFill>
              <a:srgbClr val="1F6F9F"/>
            </a:solidFill>
            <a:prstDash val="solid"/>
          </a:ln>
        </p:spPr>
      </p:sp>
      <p:sp>
        <p:nvSpPr>
          <p:cNvPr id="11" name="Text 9"/>
          <p:cNvSpPr txBox="1"/>
          <p:nvPr/>
        </p:nvSpPr>
        <p:spPr>
          <a:xfrm>
            <a:off x="4297680" y="1325880"/>
            <a:ext cx="3474720" cy="594360"/>
          </a:xfrm>
          <a:prstGeom prst="rect">
            <a:avLst/>
          </a:prstGeom>
          <a:noFill/>
          <a:ln/>
        </p:spPr>
        <p:txBody>
          <a:bodyPr wrap="square" lIns="635" tIns="635" rIns="635" bIns="635" rtlCol="0" anchor="ctr"/>
          <a:lstStyle/>
          <a:p>
            <a:pPr algn="ctr" indent="0" marL="0">
              <a:buNone/>
            </a:pPr>
            <a:r>
              <a:rPr lang="en-US" sz="1700" b="1" dirty="0">
                <a:solidFill>
                  <a:srgbClr val="1B1F24"/>
                </a:solidFill>
              </a:rPr>
              <a:t>Cola + workers propios</a:t>
            </a:r>
            <a:endParaRPr lang="en-US" sz="1700" dirty="0"/>
          </a:p>
        </p:txBody>
      </p:sp>
      <p:sp>
        <p:nvSpPr>
          <p:cNvPr id="12" name="Text 10"/>
          <p:cNvSpPr txBox="1"/>
          <p:nvPr/>
        </p:nvSpPr>
        <p:spPr>
          <a:xfrm>
            <a:off x="4389120" y="2011680"/>
            <a:ext cx="3291840" cy="1097280"/>
          </a:xfrm>
          <a:prstGeom prst="rect">
            <a:avLst/>
          </a:prstGeom>
          <a:noFill/>
          <a:ln/>
        </p:spPr>
        <p:txBody>
          <a:bodyPr wrap="square" lIns="0" tIns="0" rIns="0" bIns="0" rtlCol="0" anchor="t"/>
          <a:lstStyle/>
          <a:p>
            <a:pPr algn="l" indent="0" marL="0">
              <a:buNone/>
            </a:pPr>
            <a:r>
              <a:rPr lang="en-US" sz="1400" dirty="0">
                <a:solidFill>
                  <a:srgbClr val="1B1F24"/>
                </a:solidFill>
              </a:rPr>
              <a:t>Mensajes en una cola → workers con concurrencia limitada → resultados en BD</a:t>
            </a:r>
            <a:endParaRPr lang="en-US" sz="1400" dirty="0"/>
          </a:p>
        </p:txBody>
      </p:sp>
      <p:sp>
        <p:nvSpPr>
          <p:cNvPr id="13" name="Text 11"/>
          <p:cNvSpPr txBox="1"/>
          <p:nvPr/>
        </p:nvSpPr>
        <p:spPr>
          <a:xfrm>
            <a:off x="4389120" y="3154680"/>
            <a:ext cx="3291840" cy="320040"/>
          </a:xfrm>
          <a:prstGeom prst="rect">
            <a:avLst/>
          </a:prstGeom>
          <a:noFill/>
          <a:ln/>
        </p:spPr>
        <p:txBody>
          <a:bodyPr wrap="square" lIns="0" tIns="0" rIns="0" bIns="0" rtlCol="0" anchor="ctr"/>
          <a:lstStyle/>
          <a:p>
            <a:pPr algn="l" indent="0" marL="0">
              <a:buNone/>
            </a:pPr>
            <a:r>
              <a:rPr lang="en-US" sz="1200" b="1" dirty="0">
                <a:solidFill>
                  <a:srgbClr val="1F6F9F"/>
                </a:solidFill>
              </a:rPr>
              <a:t>Ejemplos</a:t>
            </a:r>
            <a:endParaRPr lang="en-US" sz="1200" dirty="0"/>
          </a:p>
        </p:txBody>
      </p:sp>
      <p:sp>
        <p:nvSpPr>
          <p:cNvPr id="14" name="Text 12"/>
          <p:cNvSpPr txBox="1"/>
          <p:nvPr/>
        </p:nvSpPr>
        <p:spPr>
          <a:xfrm>
            <a:off x="4389120" y="3474720"/>
            <a:ext cx="3291840" cy="822960"/>
          </a:xfrm>
          <a:prstGeom prst="rect">
            <a:avLst/>
          </a:prstGeom>
          <a:noFill/>
          <a:ln/>
        </p:spPr>
        <p:txBody>
          <a:bodyPr wrap="square" lIns="0" tIns="0" rIns="0" bIns="0" rtlCol="0" anchor="t"/>
          <a:lstStyle/>
          <a:p>
            <a:pPr algn="l" indent="0" marL="0">
              <a:buNone/>
            </a:pPr>
            <a:r>
              <a:rPr lang="en-US" sz="1300" dirty="0">
                <a:solidFill>
                  <a:srgbClr val="1B1F24"/>
                </a:solidFill>
              </a:rPr>
              <a:t>Service Bus · Pub/Sub · SQS + contenedores o funciones</a:t>
            </a:r>
            <a:endParaRPr lang="en-US" sz="1300" dirty="0"/>
          </a:p>
        </p:txBody>
      </p:sp>
      <p:sp>
        <p:nvSpPr>
          <p:cNvPr id="15" name="Text 13"/>
          <p:cNvSpPr txBox="1"/>
          <p:nvPr/>
        </p:nvSpPr>
        <p:spPr>
          <a:xfrm>
            <a:off x="4389120" y="4343400"/>
            <a:ext cx="3291840" cy="320040"/>
          </a:xfrm>
          <a:prstGeom prst="rect">
            <a:avLst/>
          </a:prstGeom>
          <a:noFill/>
          <a:ln/>
        </p:spPr>
        <p:txBody>
          <a:bodyPr wrap="square" lIns="0" tIns="0" rIns="0" bIns="0" rtlCol="0" anchor="ctr"/>
          <a:lstStyle/>
          <a:p>
            <a:pPr algn="l" indent="0" marL="0">
              <a:buNone/>
            </a:pPr>
            <a:r>
              <a:rPr lang="en-US" sz="1200" b="1" dirty="0">
                <a:solidFill>
                  <a:srgbClr val="D98E2B"/>
                </a:solidFill>
              </a:rPr>
              <a:t>Trade-off</a:t>
            </a:r>
            <a:endParaRPr lang="en-US" sz="1200" dirty="0"/>
          </a:p>
        </p:txBody>
      </p:sp>
      <p:sp>
        <p:nvSpPr>
          <p:cNvPr id="16" name="Text 14"/>
          <p:cNvSpPr txBox="1"/>
          <p:nvPr/>
        </p:nvSpPr>
        <p:spPr>
          <a:xfrm>
            <a:off x="4389120" y="4663440"/>
            <a:ext cx="3291840" cy="822960"/>
          </a:xfrm>
          <a:prstGeom prst="rect">
            <a:avLst/>
          </a:prstGeom>
          <a:noFill/>
          <a:ln/>
        </p:spPr>
        <p:txBody>
          <a:bodyPr wrap="square" lIns="0" tIns="0" rIns="0" bIns="0" rtlCol="0" anchor="t"/>
          <a:lstStyle/>
          <a:p>
            <a:pPr algn="l" indent="0" marL="0">
              <a:buNone/>
            </a:pPr>
            <a:r>
              <a:rPr lang="en-US" sz="1300" dirty="0">
                <a:solidFill>
                  <a:srgbClr val="1B1F24"/>
                </a:solidFill>
              </a:rPr>
              <a:t>Control fino del ritmo y la prioridad; más operación</a:t>
            </a:r>
            <a:endParaRPr lang="en-US" sz="1300" dirty="0"/>
          </a:p>
        </p:txBody>
      </p:sp>
      <p:sp>
        <p:nvSpPr>
          <p:cNvPr id="17" name="Shape 15"/>
          <p:cNvSpPr/>
          <p:nvPr/>
        </p:nvSpPr>
        <p:spPr>
          <a:xfrm>
            <a:off x="8046720" y="1325880"/>
            <a:ext cx="3474720" cy="594360"/>
          </a:xfrm>
          <a:prstGeom prst="roundRect">
            <a:avLst>
              <a:gd name="adj" fmla="val 12308"/>
            </a:avLst>
          </a:prstGeom>
          <a:solidFill>
            <a:srgbClr val="FBEFD9"/>
          </a:solidFill>
          <a:ln w="12700">
            <a:solidFill>
              <a:srgbClr val="1F6F9F"/>
            </a:solidFill>
            <a:prstDash val="solid"/>
          </a:ln>
        </p:spPr>
      </p:sp>
      <p:sp>
        <p:nvSpPr>
          <p:cNvPr id="18" name="Text 16"/>
          <p:cNvSpPr txBox="1"/>
          <p:nvPr/>
        </p:nvSpPr>
        <p:spPr>
          <a:xfrm>
            <a:off x="8046720" y="1325880"/>
            <a:ext cx="3474720" cy="594360"/>
          </a:xfrm>
          <a:prstGeom prst="rect">
            <a:avLst/>
          </a:prstGeom>
          <a:noFill/>
          <a:ln/>
        </p:spPr>
        <p:txBody>
          <a:bodyPr wrap="square" lIns="635" tIns="635" rIns="635" bIns="635" rtlCol="0" anchor="ctr"/>
          <a:lstStyle/>
          <a:p>
            <a:pPr algn="ctr" indent="0" marL="0">
              <a:buNone/>
            </a:pPr>
            <a:r>
              <a:rPr lang="en-US" sz="1700" b="1" dirty="0">
                <a:solidFill>
                  <a:srgbClr val="1B1F24"/>
                </a:solidFill>
              </a:rPr>
              <a:t>Micro-batching</a:t>
            </a:r>
            <a:endParaRPr lang="en-US" sz="1700" dirty="0"/>
          </a:p>
        </p:txBody>
      </p:sp>
      <p:sp>
        <p:nvSpPr>
          <p:cNvPr id="19" name="Text 17"/>
          <p:cNvSpPr txBox="1"/>
          <p:nvPr/>
        </p:nvSpPr>
        <p:spPr>
          <a:xfrm>
            <a:off x="8138160" y="2011680"/>
            <a:ext cx="3291840" cy="1097280"/>
          </a:xfrm>
          <a:prstGeom prst="rect">
            <a:avLst/>
          </a:prstGeom>
          <a:noFill/>
          <a:ln/>
        </p:spPr>
        <p:txBody>
          <a:bodyPr wrap="square" lIns="0" tIns="0" rIns="0" bIns="0" rtlCol="0" anchor="t"/>
          <a:lstStyle/>
          <a:p>
            <a:pPr algn="l" indent="0" marL="0">
              <a:buNone/>
            </a:pPr>
            <a:r>
              <a:rPr lang="en-US" sz="1400" dirty="0">
                <a:solidFill>
                  <a:srgbClr val="1B1F24"/>
                </a:solidFill>
              </a:rPr>
              <a:t>Agrupar solicitudes cercanas en el tiempo y enviarlas juntas</a:t>
            </a:r>
            <a:endParaRPr lang="en-US" sz="1400" dirty="0"/>
          </a:p>
        </p:txBody>
      </p:sp>
      <p:sp>
        <p:nvSpPr>
          <p:cNvPr id="20" name="Text 18"/>
          <p:cNvSpPr txBox="1"/>
          <p:nvPr/>
        </p:nvSpPr>
        <p:spPr>
          <a:xfrm>
            <a:off x="8138160" y="3154680"/>
            <a:ext cx="3291840" cy="320040"/>
          </a:xfrm>
          <a:prstGeom prst="rect">
            <a:avLst/>
          </a:prstGeom>
          <a:noFill/>
          <a:ln/>
        </p:spPr>
        <p:txBody>
          <a:bodyPr wrap="square" lIns="0" tIns="0" rIns="0" bIns="0" rtlCol="0" anchor="ctr"/>
          <a:lstStyle/>
          <a:p>
            <a:pPr algn="l" indent="0" marL="0">
              <a:buNone/>
            </a:pPr>
            <a:r>
              <a:rPr lang="en-US" sz="1200" b="1" dirty="0">
                <a:solidFill>
                  <a:srgbClr val="1F6F9F"/>
                </a:solidFill>
              </a:rPr>
              <a:t>Ejemplos</a:t>
            </a:r>
            <a:endParaRPr lang="en-US" sz="1200" dirty="0"/>
          </a:p>
        </p:txBody>
      </p:sp>
      <p:sp>
        <p:nvSpPr>
          <p:cNvPr id="21" name="Text 19"/>
          <p:cNvSpPr txBox="1"/>
          <p:nvPr/>
        </p:nvSpPr>
        <p:spPr>
          <a:xfrm>
            <a:off x="8138160" y="3474720"/>
            <a:ext cx="3291840" cy="822960"/>
          </a:xfrm>
          <a:prstGeom prst="rect">
            <a:avLst/>
          </a:prstGeom>
          <a:noFill/>
          <a:ln/>
        </p:spPr>
        <p:txBody>
          <a:bodyPr wrap="square" lIns="0" tIns="0" rIns="0" bIns="0" rtlCol="0" anchor="t"/>
          <a:lstStyle/>
          <a:p>
            <a:pPr algn="l" indent="0" marL="0">
              <a:buNone/>
            </a:pPr>
            <a:r>
              <a:rPr lang="en-US" sz="1300" dirty="0">
                <a:solidFill>
                  <a:srgbClr val="1B1F24"/>
                </a:solidFill>
              </a:rPr>
              <a:t>Ingesta de eventos, embeddings de documentos nuevos</a:t>
            </a:r>
            <a:endParaRPr lang="en-US" sz="1300" dirty="0"/>
          </a:p>
        </p:txBody>
      </p:sp>
      <p:sp>
        <p:nvSpPr>
          <p:cNvPr id="22" name="Text 20"/>
          <p:cNvSpPr txBox="1"/>
          <p:nvPr/>
        </p:nvSpPr>
        <p:spPr>
          <a:xfrm>
            <a:off x="8138160" y="4343400"/>
            <a:ext cx="3291840" cy="320040"/>
          </a:xfrm>
          <a:prstGeom prst="rect">
            <a:avLst/>
          </a:prstGeom>
          <a:noFill/>
          <a:ln/>
        </p:spPr>
        <p:txBody>
          <a:bodyPr wrap="square" lIns="0" tIns="0" rIns="0" bIns="0" rtlCol="0" anchor="ctr"/>
          <a:lstStyle/>
          <a:p>
            <a:pPr algn="l" indent="0" marL="0">
              <a:buNone/>
            </a:pPr>
            <a:r>
              <a:rPr lang="en-US" sz="1200" b="1" dirty="0">
                <a:solidFill>
                  <a:srgbClr val="D98E2B"/>
                </a:solidFill>
              </a:rPr>
              <a:t>Trade-off</a:t>
            </a:r>
            <a:endParaRPr lang="en-US" sz="1200" dirty="0"/>
          </a:p>
        </p:txBody>
      </p:sp>
      <p:sp>
        <p:nvSpPr>
          <p:cNvPr id="23" name="Text 21"/>
          <p:cNvSpPr txBox="1"/>
          <p:nvPr/>
        </p:nvSpPr>
        <p:spPr>
          <a:xfrm>
            <a:off x="8138160" y="4663440"/>
            <a:ext cx="3291840" cy="822960"/>
          </a:xfrm>
          <a:prstGeom prst="rect">
            <a:avLst/>
          </a:prstGeom>
          <a:noFill/>
          <a:ln/>
        </p:spPr>
        <p:txBody>
          <a:bodyPr wrap="square" lIns="0" tIns="0" rIns="0" bIns="0" rtlCol="0" anchor="t"/>
          <a:lstStyle/>
          <a:p>
            <a:pPr algn="l" indent="0" marL="0">
              <a:buNone/>
            </a:pPr>
            <a:r>
              <a:rPr lang="en-US" sz="1300" dirty="0">
                <a:solidFill>
                  <a:srgbClr val="1B1F24"/>
                </a:solidFill>
              </a:rPr>
              <a:t>Latencia de segundos; mejor uso que uno a uno</a:t>
            </a:r>
            <a:endParaRPr lang="en-US" sz="1300" dirty="0"/>
          </a:p>
        </p:txBody>
      </p:sp>
      <p:sp>
        <p:nvSpPr>
          <p:cNvPr id="24" name="Shape 22"/>
          <p:cNvSpPr/>
          <p:nvPr/>
        </p:nvSpPr>
        <p:spPr>
          <a:xfrm>
            <a:off x="548640" y="5623560"/>
            <a:ext cx="11064240" cy="566928"/>
          </a:xfrm>
          <a:prstGeom prst="roundRect">
            <a:avLst>
              <a:gd name="adj" fmla="val 12903"/>
            </a:avLst>
          </a:prstGeom>
          <a:solidFill>
            <a:srgbClr val="2E9C8A"/>
          </a:solidFill>
          <a:ln w="12700">
            <a:solidFill>
              <a:srgbClr val="2E9C8A"/>
            </a:solidFill>
            <a:prstDash val="solid"/>
          </a:ln>
        </p:spPr>
      </p:sp>
      <p:sp>
        <p:nvSpPr>
          <p:cNvPr id="25" name="Text 23"/>
          <p:cNvSpPr txBox="1"/>
          <p:nvPr/>
        </p:nvSpPr>
        <p:spPr>
          <a:xfrm>
            <a:off x="731520" y="5623560"/>
            <a:ext cx="10698480" cy="566928"/>
          </a:xfrm>
          <a:prstGeom prst="rect">
            <a:avLst/>
          </a:prstGeom>
          <a:noFill/>
          <a:ln/>
        </p:spPr>
        <p:txBody>
          <a:bodyPr wrap="square" lIns="0" tIns="0" rIns="0" bIns="0" rtlCol="0" anchor="ctr"/>
          <a:lstStyle/>
          <a:p>
            <a:pPr indent="0" marL="0">
              <a:buNone/>
            </a:pPr>
            <a:r>
              <a:rPr lang="en-US" sz="1500" b="1" dirty="0">
                <a:solidFill>
                  <a:srgbClr val="FFFFFF"/>
                </a:solidFill>
              </a:rPr>
              <a:t>Regla práctica: use el batch gestionado salvo que necesite controlar el ritmo, la prioridad o un plazo menor que la ventana</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Ciclo de vida común de un trabajo batch</a:t>
            </a:r>
            <a:endParaRPr lang="en-US" sz="2800" dirty="0"/>
          </a:p>
        </p:txBody>
      </p:sp>
      <p:sp>
        <p:nvSpPr>
          <p:cNvPr id="3" name="Shape 1"/>
          <p:cNvSpPr/>
          <p:nvPr/>
        </p:nvSpPr>
        <p:spPr>
          <a:xfrm>
            <a:off x="548640" y="2011680"/>
            <a:ext cx="2103120" cy="731520"/>
          </a:xfrm>
          <a:prstGeom prst="roundRect">
            <a:avLst>
              <a:gd name="adj" fmla="val 10000"/>
            </a:avLst>
          </a:prstGeom>
          <a:solidFill>
            <a:srgbClr val="DCEAF4"/>
          </a:solidFill>
          <a:ln w="12700">
            <a:solidFill>
              <a:srgbClr val="1F6F9F"/>
            </a:solidFill>
            <a:prstDash val="solid"/>
          </a:ln>
        </p:spPr>
      </p:sp>
      <p:sp>
        <p:nvSpPr>
          <p:cNvPr id="4" name="Text 2"/>
          <p:cNvSpPr txBox="1"/>
          <p:nvPr/>
        </p:nvSpPr>
        <p:spPr>
          <a:xfrm>
            <a:off x="548640" y="2011680"/>
            <a:ext cx="2103120" cy="731520"/>
          </a:xfrm>
          <a:prstGeom prst="rect">
            <a:avLst/>
          </a:prstGeom>
          <a:noFill/>
          <a:ln/>
        </p:spPr>
        <p:txBody>
          <a:bodyPr wrap="square" lIns="635" tIns="635" rIns="635" bIns="635" rtlCol="0" anchor="ctr"/>
          <a:lstStyle/>
          <a:p>
            <a:pPr algn="ctr" indent="0" marL="0">
              <a:buNone/>
            </a:pPr>
            <a:r>
              <a:rPr lang="en-US" sz="1500" b="1" dirty="0">
                <a:solidFill>
                  <a:srgbClr val="1B1F24"/>
                </a:solidFill>
              </a:rPr>
              <a:t>validating</a:t>
            </a:r>
            <a:endParaRPr lang="en-US" sz="1500" dirty="0"/>
          </a:p>
        </p:txBody>
      </p:sp>
      <p:sp>
        <p:nvSpPr>
          <p:cNvPr id="5" name="Shape 3"/>
          <p:cNvSpPr/>
          <p:nvPr/>
        </p:nvSpPr>
        <p:spPr>
          <a:xfrm>
            <a:off x="3017520" y="2011680"/>
            <a:ext cx="2103120" cy="731520"/>
          </a:xfrm>
          <a:prstGeom prst="roundRect">
            <a:avLst>
              <a:gd name="adj" fmla="val 10000"/>
            </a:avLst>
          </a:prstGeom>
          <a:solidFill>
            <a:srgbClr val="DCEAF4"/>
          </a:solidFill>
          <a:ln w="12700">
            <a:solidFill>
              <a:srgbClr val="1F6F9F"/>
            </a:solidFill>
            <a:prstDash val="solid"/>
          </a:ln>
        </p:spPr>
      </p:sp>
      <p:sp>
        <p:nvSpPr>
          <p:cNvPr id="6" name="Text 4"/>
          <p:cNvSpPr txBox="1"/>
          <p:nvPr/>
        </p:nvSpPr>
        <p:spPr>
          <a:xfrm>
            <a:off x="3017520" y="2011680"/>
            <a:ext cx="2103120" cy="731520"/>
          </a:xfrm>
          <a:prstGeom prst="rect">
            <a:avLst/>
          </a:prstGeom>
          <a:noFill/>
          <a:ln/>
        </p:spPr>
        <p:txBody>
          <a:bodyPr wrap="square" lIns="635" tIns="635" rIns="635" bIns="635" rtlCol="0" anchor="ctr"/>
          <a:lstStyle/>
          <a:p>
            <a:pPr algn="ctr" indent="0" marL="0">
              <a:buNone/>
            </a:pPr>
            <a:r>
              <a:rPr lang="en-US" sz="1500" b="1" dirty="0">
                <a:solidFill>
                  <a:srgbClr val="1B1F24"/>
                </a:solidFill>
              </a:rPr>
              <a:t>in_progress</a:t>
            </a:r>
            <a:endParaRPr lang="en-US" sz="1500" dirty="0"/>
          </a:p>
        </p:txBody>
      </p:sp>
      <p:sp>
        <p:nvSpPr>
          <p:cNvPr id="7" name="Shape 5"/>
          <p:cNvSpPr/>
          <p:nvPr/>
        </p:nvSpPr>
        <p:spPr>
          <a:xfrm>
            <a:off x="5486400" y="2011680"/>
            <a:ext cx="2103120" cy="731520"/>
          </a:xfrm>
          <a:prstGeom prst="roundRect">
            <a:avLst>
              <a:gd name="adj" fmla="val 10000"/>
            </a:avLst>
          </a:prstGeom>
          <a:solidFill>
            <a:srgbClr val="DCEAF4"/>
          </a:solidFill>
          <a:ln w="12700">
            <a:solidFill>
              <a:srgbClr val="1F6F9F"/>
            </a:solidFill>
            <a:prstDash val="solid"/>
          </a:ln>
        </p:spPr>
      </p:sp>
      <p:sp>
        <p:nvSpPr>
          <p:cNvPr id="8" name="Text 6"/>
          <p:cNvSpPr txBox="1"/>
          <p:nvPr/>
        </p:nvSpPr>
        <p:spPr>
          <a:xfrm>
            <a:off x="5486400" y="2011680"/>
            <a:ext cx="2103120" cy="731520"/>
          </a:xfrm>
          <a:prstGeom prst="rect">
            <a:avLst/>
          </a:prstGeom>
          <a:noFill/>
          <a:ln/>
        </p:spPr>
        <p:txBody>
          <a:bodyPr wrap="square" lIns="635" tIns="635" rIns="635" bIns="635" rtlCol="0" anchor="ctr"/>
          <a:lstStyle/>
          <a:p>
            <a:pPr algn="ctr" indent="0" marL="0">
              <a:buNone/>
            </a:pPr>
            <a:r>
              <a:rPr lang="en-US" sz="1500" b="1" dirty="0">
                <a:solidFill>
                  <a:srgbClr val="1B1F24"/>
                </a:solidFill>
              </a:rPr>
              <a:t>finalizing</a:t>
            </a:r>
            <a:endParaRPr lang="en-US" sz="1500" dirty="0"/>
          </a:p>
        </p:txBody>
      </p:sp>
      <p:sp>
        <p:nvSpPr>
          <p:cNvPr id="9" name="Shape 7"/>
          <p:cNvSpPr/>
          <p:nvPr/>
        </p:nvSpPr>
        <p:spPr>
          <a:xfrm>
            <a:off x="7955280" y="2011680"/>
            <a:ext cx="2103120" cy="731520"/>
          </a:xfrm>
          <a:prstGeom prst="roundRect">
            <a:avLst>
              <a:gd name="adj" fmla="val 10000"/>
            </a:avLst>
          </a:prstGeom>
          <a:solidFill>
            <a:srgbClr val="E3F2EF"/>
          </a:solidFill>
          <a:ln w="12700">
            <a:solidFill>
              <a:srgbClr val="1F6F9F"/>
            </a:solidFill>
            <a:prstDash val="solid"/>
          </a:ln>
        </p:spPr>
      </p:sp>
      <p:sp>
        <p:nvSpPr>
          <p:cNvPr id="10" name="Text 8"/>
          <p:cNvSpPr txBox="1"/>
          <p:nvPr/>
        </p:nvSpPr>
        <p:spPr>
          <a:xfrm>
            <a:off x="7955280" y="2011680"/>
            <a:ext cx="2103120" cy="731520"/>
          </a:xfrm>
          <a:prstGeom prst="rect">
            <a:avLst/>
          </a:prstGeom>
          <a:noFill/>
          <a:ln/>
        </p:spPr>
        <p:txBody>
          <a:bodyPr wrap="square" lIns="635" tIns="635" rIns="635" bIns="635" rtlCol="0" anchor="ctr"/>
          <a:lstStyle/>
          <a:p>
            <a:pPr algn="ctr" indent="0" marL="0">
              <a:buNone/>
            </a:pPr>
            <a:r>
              <a:rPr lang="en-US" sz="1500" b="1" dirty="0">
                <a:solidFill>
                  <a:srgbClr val="1B1F24"/>
                </a:solidFill>
              </a:rPr>
              <a:t>completed</a:t>
            </a:r>
            <a:endParaRPr lang="en-US" sz="1500" dirty="0"/>
          </a:p>
        </p:txBody>
      </p:sp>
      <p:sp>
        <p:nvSpPr>
          <p:cNvPr id="11" name="Shape 9"/>
          <p:cNvSpPr/>
          <p:nvPr/>
        </p:nvSpPr>
        <p:spPr>
          <a:xfrm>
            <a:off x="2651760" y="2377440"/>
            <a:ext cx="365760" cy="914"/>
          </a:xfrm>
          <a:prstGeom prst="line">
            <a:avLst/>
          </a:prstGeom>
          <a:noFill/>
          <a:ln w="19050">
            <a:solidFill>
              <a:srgbClr val="7A8794"/>
            </a:solidFill>
            <a:prstDash val="solid"/>
            <a:tailEnd type="triangle"/>
          </a:ln>
        </p:spPr>
      </p:sp>
      <p:sp>
        <p:nvSpPr>
          <p:cNvPr id="12" name="Shape 10"/>
          <p:cNvSpPr/>
          <p:nvPr/>
        </p:nvSpPr>
        <p:spPr>
          <a:xfrm>
            <a:off x="5120640" y="2377440"/>
            <a:ext cx="365760" cy="914"/>
          </a:xfrm>
          <a:prstGeom prst="line">
            <a:avLst/>
          </a:prstGeom>
          <a:noFill/>
          <a:ln w="19050">
            <a:solidFill>
              <a:srgbClr val="7A8794"/>
            </a:solidFill>
            <a:prstDash val="solid"/>
            <a:tailEnd type="triangle"/>
          </a:ln>
        </p:spPr>
      </p:sp>
      <p:sp>
        <p:nvSpPr>
          <p:cNvPr id="13" name="Shape 11"/>
          <p:cNvSpPr/>
          <p:nvPr/>
        </p:nvSpPr>
        <p:spPr>
          <a:xfrm>
            <a:off x="7589520" y="2377440"/>
            <a:ext cx="365760" cy="914"/>
          </a:xfrm>
          <a:prstGeom prst="line">
            <a:avLst/>
          </a:prstGeom>
          <a:noFill/>
          <a:ln w="19050">
            <a:solidFill>
              <a:srgbClr val="7A8794"/>
            </a:solidFill>
            <a:prstDash val="solid"/>
            <a:tailEnd type="triangle"/>
          </a:ln>
        </p:spPr>
      </p:sp>
      <p:sp>
        <p:nvSpPr>
          <p:cNvPr id="14" name="Shape 12"/>
          <p:cNvSpPr/>
          <p:nvPr/>
        </p:nvSpPr>
        <p:spPr>
          <a:xfrm>
            <a:off x="548640" y="3474720"/>
            <a:ext cx="2103120" cy="731520"/>
          </a:xfrm>
          <a:prstGeom prst="roundRect">
            <a:avLst>
              <a:gd name="adj" fmla="val 10000"/>
            </a:avLst>
          </a:prstGeom>
          <a:solidFill>
            <a:srgbClr val="F6E1DF"/>
          </a:solidFill>
          <a:ln w="12700">
            <a:solidFill>
              <a:srgbClr val="1F6F9F"/>
            </a:solidFill>
            <a:prstDash val="solid"/>
          </a:ln>
        </p:spPr>
      </p:sp>
      <p:sp>
        <p:nvSpPr>
          <p:cNvPr id="15" name="Text 13"/>
          <p:cNvSpPr txBox="1"/>
          <p:nvPr/>
        </p:nvSpPr>
        <p:spPr>
          <a:xfrm>
            <a:off x="548640" y="3474720"/>
            <a:ext cx="2103120" cy="731520"/>
          </a:xfrm>
          <a:prstGeom prst="rect">
            <a:avLst/>
          </a:prstGeom>
          <a:noFill/>
          <a:ln/>
        </p:spPr>
        <p:txBody>
          <a:bodyPr wrap="square" lIns="635" tIns="635" rIns="635" bIns="635" rtlCol="0" anchor="ctr"/>
          <a:lstStyle/>
          <a:p>
            <a:pPr algn="ctr" indent="0" marL="0">
              <a:buNone/>
            </a:pPr>
            <a:r>
              <a:rPr lang="en-US" sz="1300" dirty="0">
                <a:solidFill>
                  <a:srgbClr val="1B1F24"/>
                </a:solidFill>
              </a:rPr>
              <a:t>failed</a:t>
            </a:r>
            <a:endParaRPr lang="en-US" sz="1300" dirty="0"/>
          </a:p>
          <a:p>
            <a:pPr algn="ctr" indent="0" marL="0">
              <a:buNone/>
            </a:pPr>
            <a:r>
              <a:rPr lang="en-US" sz="1300" dirty="0">
                <a:solidFill>
                  <a:srgbClr val="1B1F24"/>
                </a:solidFill>
              </a:rPr>
              <a:t>(entrada inválida)</a:t>
            </a:r>
            <a:endParaRPr lang="en-US" sz="1300" dirty="0"/>
          </a:p>
        </p:txBody>
      </p:sp>
      <p:sp>
        <p:nvSpPr>
          <p:cNvPr id="16" name="Shape 14"/>
          <p:cNvSpPr/>
          <p:nvPr/>
        </p:nvSpPr>
        <p:spPr>
          <a:xfrm>
            <a:off x="3017520" y="3474720"/>
            <a:ext cx="2103120" cy="731520"/>
          </a:xfrm>
          <a:prstGeom prst="roundRect">
            <a:avLst>
              <a:gd name="adj" fmla="val 10000"/>
            </a:avLst>
          </a:prstGeom>
          <a:solidFill>
            <a:srgbClr val="F6E1DF"/>
          </a:solidFill>
          <a:ln w="12700">
            <a:solidFill>
              <a:srgbClr val="1F6F9F"/>
            </a:solidFill>
            <a:prstDash val="solid"/>
          </a:ln>
        </p:spPr>
      </p:sp>
      <p:sp>
        <p:nvSpPr>
          <p:cNvPr id="17" name="Text 15"/>
          <p:cNvSpPr txBox="1"/>
          <p:nvPr/>
        </p:nvSpPr>
        <p:spPr>
          <a:xfrm>
            <a:off x="3017520" y="3474720"/>
            <a:ext cx="2103120" cy="731520"/>
          </a:xfrm>
          <a:prstGeom prst="rect">
            <a:avLst/>
          </a:prstGeom>
          <a:noFill/>
          <a:ln/>
        </p:spPr>
        <p:txBody>
          <a:bodyPr wrap="square" lIns="635" tIns="635" rIns="635" bIns="635" rtlCol="0" anchor="ctr"/>
          <a:lstStyle/>
          <a:p>
            <a:pPr algn="ctr" indent="0" marL="0">
              <a:buNone/>
            </a:pPr>
            <a:r>
              <a:rPr lang="en-US" sz="1300" dirty="0">
                <a:solidFill>
                  <a:srgbClr val="1B1F24"/>
                </a:solidFill>
              </a:rPr>
              <a:t>expired</a:t>
            </a:r>
            <a:endParaRPr lang="en-US" sz="1300" dirty="0"/>
          </a:p>
          <a:p>
            <a:pPr algn="ctr" indent="0" marL="0">
              <a:buNone/>
            </a:pPr>
            <a:r>
              <a:rPr lang="en-US" sz="1300" dirty="0">
                <a:solidFill>
                  <a:srgbClr val="1B1F24"/>
                </a:solidFill>
              </a:rPr>
              <a:t>(venció la ventana)</a:t>
            </a:r>
            <a:endParaRPr lang="en-US" sz="1300" dirty="0"/>
          </a:p>
        </p:txBody>
      </p:sp>
      <p:sp>
        <p:nvSpPr>
          <p:cNvPr id="18" name="Shape 16"/>
          <p:cNvSpPr/>
          <p:nvPr/>
        </p:nvSpPr>
        <p:spPr>
          <a:xfrm>
            <a:off x="5486400" y="3474720"/>
            <a:ext cx="2103120" cy="731520"/>
          </a:xfrm>
          <a:prstGeom prst="roundRect">
            <a:avLst>
              <a:gd name="adj" fmla="val 10000"/>
            </a:avLst>
          </a:prstGeom>
          <a:solidFill>
            <a:srgbClr val="FBEFD9"/>
          </a:solidFill>
          <a:ln w="12700">
            <a:solidFill>
              <a:srgbClr val="1F6F9F"/>
            </a:solidFill>
            <a:prstDash val="solid"/>
          </a:ln>
        </p:spPr>
      </p:sp>
      <p:sp>
        <p:nvSpPr>
          <p:cNvPr id="19" name="Text 17"/>
          <p:cNvSpPr txBox="1"/>
          <p:nvPr/>
        </p:nvSpPr>
        <p:spPr>
          <a:xfrm>
            <a:off x="5486400" y="3474720"/>
            <a:ext cx="2103120" cy="731520"/>
          </a:xfrm>
          <a:prstGeom prst="rect">
            <a:avLst/>
          </a:prstGeom>
          <a:noFill/>
          <a:ln/>
        </p:spPr>
        <p:txBody>
          <a:bodyPr wrap="square" lIns="635" tIns="635" rIns="635" bIns="635" rtlCol="0" anchor="ctr"/>
          <a:lstStyle/>
          <a:p>
            <a:pPr algn="ctr" indent="0" marL="0">
              <a:buNone/>
            </a:pPr>
            <a:r>
              <a:rPr lang="en-US" sz="1300" dirty="0">
                <a:solidFill>
                  <a:srgbClr val="1B1F24"/>
                </a:solidFill>
              </a:rPr>
              <a:t>cancelling → cancelled</a:t>
            </a:r>
            <a:endParaRPr lang="en-US" sz="1300" dirty="0"/>
          </a:p>
        </p:txBody>
      </p:sp>
      <p:sp>
        <p:nvSpPr>
          <p:cNvPr id="20" name="Shape 18"/>
          <p:cNvSpPr/>
          <p:nvPr/>
        </p:nvSpPr>
        <p:spPr>
          <a:xfrm>
            <a:off x="1600200" y="2743200"/>
            <a:ext cx="914" cy="731520"/>
          </a:xfrm>
          <a:prstGeom prst="line">
            <a:avLst/>
          </a:prstGeom>
          <a:noFill/>
          <a:ln w="19050">
            <a:solidFill>
              <a:srgbClr val="B5443A"/>
            </a:solidFill>
            <a:prstDash val="solid"/>
            <a:tailEnd type="triangle"/>
          </a:ln>
        </p:spPr>
      </p:sp>
      <p:sp>
        <p:nvSpPr>
          <p:cNvPr id="21" name="Shape 19"/>
          <p:cNvSpPr/>
          <p:nvPr/>
        </p:nvSpPr>
        <p:spPr>
          <a:xfrm>
            <a:off x="4069080" y="2743200"/>
            <a:ext cx="914" cy="731520"/>
          </a:xfrm>
          <a:prstGeom prst="line">
            <a:avLst/>
          </a:prstGeom>
          <a:noFill/>
          <a:ln w="19050">
            <a:solidFill>
              <a:srgbClr val="B5443A"/>
            </a:solidFill>
            <a:prstDash val="solid"/>
            <a:tailEnd type="triangle"/>
          </a:ln>
        </p:spPr>
      </p:sp>
      <p:sp>
        <p:nvSpPr>
          <p:cNvPr id="22" name="Shape 20"/>
          <p:cNvSpPr/>
          <p:nvPr/>
        </p:nvSpPr>
        <p:spPr>
          <a:xfrm>
            <a:off x="4572000" y="2743200"/>
            <a:ext cx="1463040" cy="731520"/>
          </a:xfrm>
          <a:prstGeom prst="line">
            <a:avLst/>
          </a:prstGeom>
          <a:noFill/>
          <a:ln w="19050">
            <a:solidFill>
              <a:srgbClr val="D98E2B"/>
            </a:solidFill>
            <a:prstDash val="solid"/>
            <a:tailEnd type="triangle"/>
          </a:ln>
        </p:spPr>
      </p:sp>
      <p:sp>
        <p:nvSpPr>
          <p:cNvPr id="23" name="Text 21"/>
          <p:cNvSpPr txBox="1"/>
          <p:nvPr/>
        </p:nvSpPr>
        <p:spPr>
          <a:xfrm>
            <a:off x="10241280" y="2011680"/>
            <a:ext cx="1371600" cy="731520"/>
          </a:xfrm>
          <a:prstGeom prst="rect">
            <a:avLst/>
          </a:prstGeom>
          <a:noFill/>
          <a:ln/>
        </p:spPr>
        <p:txBody>
          <a:bodyPr wrap="square" lIns="0" tIns="0" rIns="0" bIns="0" rtlCol="0" anchor="ctr"/>
          <a:lstStyle/>
          <a:p>
            <a:pPr algn="ctr" indent="0" marL="0">
              <a:buNone/>
            </a:pPr>
            <a:r>
              <a:rPr lang="en-US" sz="1200" dirty="0">
                <a:solidFill>
                  <a:srgbClr val="7A8794"/>
                </a:solidFill>
              </a:rPr>
              <a:t>resultados</a:t>
            </a:r>
            <a:endParaRPr lang="en-US" sz="1200" dirty="0"/>
          </a:p>
          <a:p>
            <a:pPr algn="ctr" indent="0" marL="0">
              <a:buNone/>
            </a:pPr>
            <a:r>
              <a:rPr lang="en-US" sz="1200" dirty="0">
                <a:solidFill>
                  <a:srgbClr val="7A8794"/>
                </a:solidFill>
              </a:rPr>
              <a:t>+ errores</a:t>
            </a:r>
            <a:endParaRPr lang="en-US" sz="1200" dirty="0"/>
          </a:p>
        </p:txBody>
      </p:sp>
      <p:sp>
        <p:nvSpPr>
          <p:cNvPr id="24" name="Shape 22"/>
          <p:cNvSpPr/>
          <p:nvPr/>
        </p:nvSpPr>
        <p:spPr>
          <a:xfrm>
            <a:off x="10058400" y="2377440"/>
            <a:ext cx="182880" cy="914"/>
          </a:xfrm>
          <a:prstGeom prst="line">
            <a:avLst/>
          </a:prstGeom>
          <a:noFill/>
          <a:ln w="19050">
            <a:solidFill>
              <a:srgbClr val="7A8794"/>
            </a:solidFill>
            <a:prstDash val="solid"/>
            <a:tailEnd type="triangle"/>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4480560"/>
          <a:ext cx="11064240" cy="914400"/>
        </p:xfrm>
        <a:graphic>
          <a:graphicData uri="http://schemas.openxmlformats.org/drawingml/2006/table">
            <a:tbl>
              <a:tblPr/>
              <a:tblGrid>
                <a:gridCol w="3108960"/>
                <a:gridCol w="3931920"/>
                <a:gridCol w="4023360"/>
              </a:tblGrid>
              <a:tr h="0">
                <a:tc>
                  <a:txBody>
                    <a:bodyPr/>
                    <a:lstStyle/>
                    <a:p>
                      <a:pPr indent="0" marL="0">
                        <a:buNone/>
                      </a:pPr>
                      <a:r>
                        <a:rPr lang="en-US" sz="1200" b="1" dirty="0">
                          <a:solidFill>
                            <a:srgbClr val="FFFFFF"/>
                          </a:solidFill>
                        </a:rPr>
                        <a:t>Estado (Azure)</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200" b="1" dirty="0">
                          <a:solidFill>
                            <a:srgbClr val="FFFFFF"/>
                          </a:solidFill>
                        </a:rPr>
                        <a:t>Gemini (google-genai)</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200" b="1" dirty="0">
                          <a:solidFill>
                            <a:srgbClr val="FFFFFF"/>
                          </a:solidFill>
                        </a:rPr>
                        <a:t>Bedrock</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200" dirty="0">
                          <a:solidFill>
                            <a:srgbClr val="1B1F24"/>
                          </a:solidFill>
                        </a:rPr>
                        <a:t>validating · in_progress</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JOB_STATE_PENDING · RUNNING</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Submitted · Validating · Scheduled · InProgress</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200" dirty="0">
                          <a:solidFill>
                            <a:srgbClr val="1B1F24"/>
                          </a:solidFill>
                        </a:rPr>
                        <a:t>completed</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JOB_STATE_SUCCEEDED · PARTIALLY_SUCCEEDED</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Completed · PartiallyCompleted</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F24"/>
                          </a:solidFill>
                        </a:rPr>
                        <a:t>failed · expired · cancelled</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JOB_STATE_FAILED · EXPIRED · CANCELLED</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Failed · Expired · Stopped</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Batch gestionado en las tres nubes (20-oct-2026)</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737360"/>
                <a:gridCol w="3108960"/>
                <a:gridCol w="3017520"/>
                <a:gridCol w="3200400"/>
              </a:tblGrid>
              <a:tr h="0">
                <a:tc>
                  <a:txBody>
                    <a:bodyPr/>
                    <a:lstStyle/>
                    <a:p>
                      <a:pPr indent="0" marL="0">
                        <a:buNone/>
                      </a:pP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200" b="1" dirty="0">
                          <a:solidFill>
                            <a:srgbClr val="FFFFFF"/>
                          </a:solidFill>
                        </a:rPr>
                        <a:t>Azure OpenAI Batch</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200" b="1" dirty="0">
                          <a:solidFill>
                            <a:srgbClr val="FFFFFF"/>
                          </a:solidFill>
                        </a:rPr>
                        <a:t>Gemini batch inference</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200" b="1" dirty="0">
                          <a:solidFill>
                            <a:srgbClr val="FFFFFF"/>
                          </a:solidFill>
                        </a:rPr>
                        <a:t>Amazon Bedrock batch</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200" dirty="0">
                          <a:solidFill>
                            <a:srgbClr val="1B1F24"/>
                          </a:solidFill>
                        </a:rPr>
                        <a:t>Entrada</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JSONL (custom_id, method, url, body); hasta 100.000 solicitudes y 200 MB por archivo</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JSONL en Cloud Storage o tabla de BigQuery</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JSONL en S3 (recordId, modelInput); invocación InvokeModel o Converse</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200" dirty="0">
                          <a:solidFill>
                            <a:srgbClr val="1B1F24"/>
                          </a:solidFill>
                        </a:rPr>
                        <a:t>Ventana</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24 h (objetivo; no expira automáticamente)</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Según el trabajo; sin SLA de latencia</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24 h</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F24"/>
                          </a:solidFill>
                        </a:rPr>
                        <a:t>Precio documentado</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50 % menos que Global Standard</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50 % de descuento en modo batch</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50 % de ahorro frente a on-demand</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200" dirty="0">
                          <a:solidFill>
                            <a:srgbClr val="1B1F24"/>
                          </a:solidFill>
                        </a:rPr>
                        <a:t>Mínimos y cuota</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Cuota de tokens encolados separada de la online</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Cuotas del proyecto</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Mínimo 100 registros por trabajo</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F24"/>
                          </a:solidFill>
                        </a:rPr>
                        <a:t>Residencia</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Global Batch o Data Zone Batch</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Según la ubicación del trabajo</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Región única o perfil entre regiones</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200" dirty="0">
                          <a:solidFill>
                            <a:srgbClr val="1B1F24"/>
                          </a:solidFill>
                        </a:rPr>
                        <a:t>Cuenta trial</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No disponible (cuota «N/A»)</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Disponible con el crédito de prueba (validar)</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Plan Paid recomendado</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Clases de servicio online: prioridad, estándar y flexible</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645920"/>
                <a:gridCol w="3291840"/>
                <a:gridCol w="2926080"/>
                <a:gridCol w="3200400"/>
              </a:tblGrid>
              <a:tr h="0">
                <a:tc>
                  <a:txBody>
                    <a:bodyPr/>
                    <a:lstStyle/>
                    <a:p>
                      <a:pPr indent="0" marL="0">
                        <a:buNone/>
                      </a:pP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Microsoft Foundry</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Gemini Enterprise Agent Platform</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Amazon Bedrock</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300" dirty="0">
                          <a:solidFill>
                            <a:srgbClr val="1B1F24"/>
                          </a:solidFill>
                        </a:rPr>
                        <a:t>Prioritaria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Priority processing (por despliegue o por solicitud con service_tier); Global y Data Zone Standard US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Priority PayGo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Priority (service_tier = priority)</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Estándar</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Standard (pago por token)</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Standard PayGo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Standard (default)</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24"/>
                          </a:solidFill>
                        </a:rPr>
                        <a:t>Flexible</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Flex processing para cargas tolerantes a demora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Flex PayGo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Flex (service_tier = flex)</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Reservada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Provisioned (PTU)</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Provisioned Throughput</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Reserved (1 o 3 meses)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4160520"/>
            <a:ext cx="11064240" cy="146304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La clase de servicio se elige por solicitud: el mismo endpoint atiende cargas con SLO distintos</a:t>
            </a:r>
            <a:endParaRPr lang="en-US" sz="1500" dirty="0"/>
          </a:p>
          <a:p>
            <a:pPr marL="342900" indent="-342900">
              <a:spcAft>
                <a:spcPts val="600"/>
              </a:spcAft>
              <a:buSzPct val="100000"/>
              <a:buChar char="•"/>
            </a:pPr>
            <a:r>
              <a:rPr lang="en-US" sz="1500" dirty="0">
                <a:solidFill>
                  <a:schemeClr val="tx1"/>
                </a:solidFill>
              </a:rPr>
              <a:t>Flex es un punto intermedio entre online y batch: sin archivo ni ventana, pero puede tardar o limitarse</a:t>
            </a:r>
            <a:endParaRPr lang="en-US" sz="1500" dirty="0"/>
          </a:p>
          <a:p>
            <a:pPr marL="342900" indent="-342900">
              <a:spcAft>
                <a:spcPts val="600"/>
              </a:spcAft>
              <a:buSzPct val="100000"/>
              <a:buChar char="•"/>
            </a:pPr>
            <a:r>
              <a:rPr lang="en-US" sz="1500" dirty="0">
                <a:solidFill>
                  <a:schemeClr val="tx1"/>
                </a:solidFill>
              </a:rPr>
              <a:t>Priority no aumenta la cuota: en Azure y en Bedrock comparte la cuota on-demand</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Coexistencia: que el lote no degrade lo online</a:t>
            </a:r>
            <a:endParaRPr lang="en-US" sz="2800" dirty="0"/>
          </a:p>
        </p:txBody>
      </p:sp>
      <p:sp>
        <p:nvSpPr>
          <p:cNvPr id="3" name="Shape 1"/>
          <p:cNvSpPr/>
          <p:nvPr/>
        </p:nvSpPr>
        <p:spPr>
          <a:xfrm>
            <a:off x="548640" y="1554480"/>
            <a:ext cx="1828800" cy="914400"/>
          </a:xfrm>
          <a:prstGeom prst="roundRect">
            <a:avLst>
              <a:gd name="adj" fmla="val 8000"/>
            </a:avLst>
          </a:prstGeom>
          <a:solidFill>
            <a:srgbClr val="DCEAF4"/>
          </a:solidFill>
          <a:ln w="12700">
            <a:solidFill>
              <a:srgbClr val="1F6F9F"/>
            </a:solidFill>
            <a:prstDash val="solid"/>
          </a:ln>
        </p:spPr>
      </p:sp>
      <p:sp>
        <p:nvSpPr>
          <p:cNvPr id="4" name="Text 2"/>
          <p:cNvSpPr txBox="1"/>
          <p:nvPr/>
        </p:nvSpPr>
        <p:spPr>
          <a:xfrm>
            <a:off x="548640" y="1554480"/>
            <a:ext cx="1828800" cy="914400"/>
          </a:xfrm>
          <a:prstGeom prst="rect">
            <a:avLst/>
          </a:prstGeom>
          <a:noFill/>
          <a:ln/>
        </p:spPr>
        <p:txBody>
          <a:bodyPr wrap="square" lIns="635" tIns="635" rIns="635" bIns="635" rtlCol="0" anchor="ctr"/>
          <a:lstStyle/>
          <a:p>
            <a:pPr algn="ctr" indent="0" marL="0">
              <a:buNone/>
            </a:pPr>
            <a:r>
              <a:rPr lang="en-US" sz="1400" dirty="0">
                <a:solidFill>
                  <a:srgbClr val="1B1F24"/>
                </a:solidFill>
              </a:rPr>
              <a:t>Usuarios</a:t>
            </a:r>
            <a:endParaRPr lang="en-US" sz="1400" dirty="0"/>
          </a:p>
          <a:p>
            <a:pPr algn="ctr" indent="0" marL="0">
              <a:buNone/>
            </a:pPr>
            <a:r>
              <a:rPr lang="en-US" sz="1400" dirty="0">
                <a:solidFill>
                  <a:srgbClr val="1B1F24"/>
                </a:solidFill>
              </a:rPr>
              <a:t>(online)</a:t>
            </a:r>
            <a:endParaRPr lang="en-US" sz="1400" dirty="0"/>
          </a:p>
        </p:txBody>
      </p:sp>
      <p:sp>
        <p:nvSpPr>
          <p:cNvPr id="5" name="Shape 3"/>
          <p:cNvSpPr/>
          <p:nvPr/>
        </p:nvSpPr>
        <p:spPr>
          <a:xfrm>
            <a:off x="548640" y="3566160"/>
            <a:ext cx="1828800" cy="914400"/>
          </a:xfrm>
          <a:prstGeom prst="roundRect">
            <a:avLst>
              <a:gd name="adj" fmla="val 8000"/>
            </a:avLst>
          </a:prstGeom>
          <a:solidFill>
            <a:srgbClr val="FBEFD9"/>
          </a:solidFill>
          <a:ln w="12700">
            <a:solidFill>
              <a:srgbClr val="1F6F9F"/>
            </a:solidFill>
            <a:prstDash val="solid"/>
          </a:ln>
        </p:spPr>
      </p:sp>
      <p:sp>
        <p:nvSpPr>
          <p:cNvPr id="6" name="Text 4"/>
          <p:cNvSpPr txBox="1"/>
          <p:nvPr/>
        </p:nvSpPr>
        <p:spPr>
          <a:xfrm>
            <a:off x="548640" y="3566160"/>
            <a:ext cx="1828800" cy="914400"/>
          </a:xfrm>
          <a:prstGeom prst="rect">
            <a:avLst/>
          </a:prstGeom>
          <a:noFill/>
          <a:ln/>
        </p:spPr>
        <p:txBody>
          <a:bodyPr wrap="square" lIns="635" tIns="635" rIns="635" bIns="635" rtlCol="0" anchor="ctr"/>
          <a:lstStyle/>
          <a:p>
            <a:pPr algn="ctr" indent="0" marL="0">
              <a:buNone/>
            </a:pPr>
            <a:r>
              <a:rPr lang="en-US" sz="1400" dirty="0">
                <a:solidFill>
                  <a:srgbClr val="1B1F24"/>
                </a:solidFill>
              </a:rPr>
              <a:t>Lote PQRS</a:t>
            </a:r>
            <a:endParaRPr lang="en-US" sz="1400" dirty="0"/>
          </a:p>
          <a:p>
            <a:pPr algn="ctr" indent="0" marL="0">
              <a:buNone/>
            </a:pPr>
            <a:r>
              <a:rPr lang="en-US" sz="1400" dirty="0">
                <a:solidFill>
                  <a:srgbClr val="1B1F24"/>
                </a:solidFill>
              </a:rPr>
              <a:t>(batch)</a:t>
            </a:r>
            <a:endParaRPr lang="en-US" sz="1400" dirty="0"/>
          </a:p>
        </p:txBody>
      </p:sp>
      <p:sp>
        <p:nvSpPr>
          <p:cNvPr id="7" name="Shape 5"/>
          <p:cNvSpPr/>
          <p:nvPr/>
        </p:nvSpPr>
        <p:spPr>
          <a:xfrm>
            <a:off x="2834640" y="2377440"/>
            <a:ext cx="2286000" cy="1371600"/>
          </a:xfrm>
          <a:prstGeom prst="roundRect">
            <a:avLst>
              <a:gd name="adj" fmla="val 5333"/>
            </a:avLst>
          </a:prstGeom>
          <a:solidFill>
            <a:srgbClr val="F2F4F6"/>
          </a:solidFill>
          <a:ln w="12700">
            <a:solidFill>
              <a:srgbClr val="1F6F9F"/>
            </a:solidFill>
            <a:prstDash val="solid"/>
          </a:ln>
        </p:spPr>
      </p:sp>
      <p:sp>
        <p:nvSpPr>
          <p:cNvPr id="8" name="Text 6"/>
          <p:cNvSpPr txBox="1"/>
          <p:nvPr/>
        </p:nvSpPr>
        <p:spPr>
          <a:xfrm>
            <a:off x="2834640" y="2377440"/>
            <a:ext cx="2286000" cy="1371600"/>
          </a:xfrm>
          <a:prstGeom prst="rect">
            <a:avLst/>
          </a:prstGeom>
          <a:noFill/>
          <a:ln/>
        </p:spPr>
        <p:txBody>
          <a:bodyPr wrap="square" lIns="635" tIns="635" rIns="635" bIns="635" rtlCol="0" anchor="ctr"/>
          <a:lstStyle/>
          <a:p>
            <a:pPr algn="ctr" indent="0" marL="0">
              <a:buNone/>
            </a:pPr>
            <a:r>
              <a:rPr lang="en-US" sz="1300" dirty="0">
                <a:solidFill>
                  <a:srgbClr val="1B1F24"/>
                </a:solidFill>
              </a:rPr>
              <a:t>Control de admisión</a:t>
            </a:r>
            <a:endParaRPr lang="en-US" sz="1300" dirty="0"/>
          </a:p>
          <a:p>
            <a:pPr algn="ctr" indent="0" marL="0">
              <a:buNone/>
            </a:pPr>
            <a:r>
              <a:rPr lang="en-US" sz="1300" dirty="0">
                <a:solidFill>
                  <a:srgbClr val="1B1F24"/>
                </a:solidFill>
              </a:rPr>
              <a:t>prioridad online</a:t>
            </a:r>
            <a:endParaRPr lang="en-US" sz="1300" dirty="0"/>
          </a:p>
          <a:p>
            <a:pPr algn="ctr" indent="0" marL="0">
              <a:buNone/>
            </a:pPr>
            <a:r>
              <a:rPr lang="en-US" sz="1300" dirty="0">
                <a:solidFill>
                  <a:srgbClr val="1B1F24"/>
                </a:solidFill>
              </a:rPr>
              <a:t>límite de concurrencia del lote</a:t>
            </a:r>
            <a:endParaRPr lang="en-US" sz="1300" dirty="0"/>
          </a:p>
        </p:txBody>
      </p:sp>
      <p:sp>
        <p:nvSpPr>
          <p:cNvPr id="9" name="Shape 7"/>
          <p:cNvSpPr/>
          <p:nvPr/>
        </p:nvSpPr>
        <p:spPr>
          <a:xfrm>
            <a:off x="5577840" y="2377440"/>
            <a:ext cx="1828800" cy="1371600"/>
          </a:xfrm>
          <a:prstGeom prst="roundRect">
            <a:avLst>
              <a:gd name="adj" fmla="val 5333"/>
            </a:avLst>
          </a:prstGeom>
          <a:solidFill>
            <a:srgbClr val="E3F2EF"/>
          </a:solidFill>
          <a:ln w="12700">
            <a:solidFill>
              <a:srgbClr val="1F6F9F"/>
            </a:solidFill>
            <a:prstDash val="solid"/>
          </a:ln>
        </p:spPr>
      </p:sp>
      <p:sp>
        <p:nvSpPr>
          <p:cNvPr id="10" name="Text 8"/>
          <p:cNvSpPr txBox="1"/>
          <p:nvPr/>
        </p:nvSpPr>
        <p:spPr>
          <a:xfrm>
            <a:off x="5577840" y="2377440"/>
            <a:ext cx="1828800" cy="1371600"/>
          </a:xfrm>
          <a:prstGeom prst="rect">
            <a:avLst/>
          </a:prstGeom>
          <a:noFill/>
          <a:ln/>
        </p:spPr>
        <p:txBody>
          <a:bodyPr wrap="square" lIns="635" tIns="635" rIns="635" bIns="635" rtlCol="0" anchor="ctr"/>
          <a:lstStyle/>
          <a:p>
            <a:pPr algn="ctr" indent="0" marL="0">
              <a:buNone/>
            </a:pPr>
            <a:r>
              <a:rPr lang="en-US" sz="1400" dirty="0">
                <a:solidFill>
                  <a:srgbClr val="1B1F24"/>
                </a:solidFill>
              </a:rPr>
              <a:t>Capacidad compartida</a:t>
            </a:r>
            <a:endParaRPr lang="en-US" sz="1400" dirty="0"/>
          </a:p>
          <a:p>
            <a:pPr algn="ctr" indent="0" marL="0">
              <a:buNone/>
            </a:pPr>
            <a:r>
              <a:rPr lang="en-US" sz="1400" dirty="0">
                <a:solidFill>
                  <a:srgbClr val="1B1F24"/>
                </a:solidFill>
              </a:rPr>
              <a:t>(cuota o GPU)</a:t>
            </a:r>
            <a:endParaRPr lang="en-US" sz="1400" dirty="0"/>
          </a:p>
        </p:txBody>
      </p:sp>
      <p:sp>
        <p:nvSpPr>
          <p:cNvPr id="11" name="Shape 9"/>
          <p:cNvSpPr/>
          <p:nvPr/>
        </p:nvSpPr>
        <p:spPr>
          <a:xfrm>
            <a:off x="2377440" y="2011680"/>
            <a:ext cx="457200" cy="731520"/>
          </a:xfrm>
          <a:prstGeom prst="line">
            <a:avLst/>
          </a:prstGeom>
          <a:noFill/>
          <a:ln w="19050">
            <a:solidFill>
              <a:srgbClr val="1F6F9F"/>
            </a:solidFill>
            <a:prstDash val="solid"/>
            <a:tailEnd type="triangle"/>
          </a:ln>
        </p:spPr>
      </p:sp>
      <p:sp>
        <p:nvSpPr>
          <p:cNvPr id="12" name="Shape 10"/>
          <p:cNvSpPr/>
          <p:nvPr/>
        </p:nvSpPr>
        <p:spPr>
          <a:xfrm flipV="1">
            <a:off x="2377440" y="3383280"/>
            <a:ext cx="457200" cy="640080"/>
          </a:xfrm>
          <a:prstGeom prst="line">
            <a:avLst/>
          </a:prstGeom>
          <a:noFill/>
          <a:ln w="19050">
            <a:solidFill>
              <a:srgbClr val="D98E2B"/>
            </a:solidFill>
            <a:prstDash val="solid"/>
            <a:tailEnd type="triangle"/>
          </a:ln>
        </p:spPr>
      </p:sp>
      <p:sp>
        <p:nvSpPr>
          <p:cNvPr id="13" name="Shape 11"/>
          <p:cNvSpPr/>
          <p:nvPr/>
        </p:nvSpPr>
        <p:spPr>
          <a:xfrm>
            <a:off x="5120640" y="3063240"/>
            <a:ext cx="457200" cy="914"/>
          </a:xfrm>
          <a:prstGeom prst="line">
            <a:avLst/>
          </a:prstGeom>
          <a:noFill/>
          <a:ln w="19050">
            <a:solidFill>
              <a:srgbClr val="7A8794"/>
            </a:solidFill>
            <a:prstDash val="solid"/>
            <a:tailEnd type="triangle"/>
          </a:ln>
        </p:spPr>
      </p:sp>
      <p:sp>
        <p:nvSpPr>
          <p:cNvPr id="14" name="Text 12"/>
          <p:cNvSpPr txBox="1"/>
          <p:nvPr/>
        </p:nvSpPr>
        <p:spPr>
          <a:xfrm>
            <a:off x="7772400" y="1325880"/>
            <a:ext cx="3840480" cy="420624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Separar cuotas: Azure Batch usa una cuota de tokens encolados distinta de la online</a:t>
            </a:r>
            <a:endParaRPr lang="en-US" sz="1500" dirty="0"/>
          </a:p>
          <a:p>
            <a:pPr marL="342900" indent="-342900">
              <a:spcAft>
                <a:spcPts val="600"/>
              </a:spcAft>
              <a:buSzPct val="100000"/>
              <a:buChar char="•"/>
            </a:pPr>
            <a:r>
              <a:rPr lang="en-US" sz="1500" dirty="0">
                <a:solidFill>
                  <a:schemeClr val="tx1"/>
                </a:solidFill>
              </a:rPr>
              <a:t>Separar endpoints o despliegues por carga cuando la cuota es compartida</a:t>
            </a:r>
            <a:endParaRPr lang="en-US" sz="1500" dirty="0"/>
          </a:p>
          <a:p>
            <a:pPr marL="342900" indent="-342900">
              <a:spcAft>
                <a:spcPts val="600"/>
              </a:spcAft>
              <a:buSzPct val="100000"/>
              <a:buChar char="•"/>
            </a:pPr>
            <a:r>
              <a:rPr lang="en-US" sz="1500" dirty="0">
                <a:solidFill>
                  <a:schemeClr val="tx1"/>
                </a:solidFill>
              </a:rPr>
              <a:t>Prioridad y ritmo: el lote cede capacidad cuando hay tráfico interactivo (LOC-02)</a:t>
            </a:r>
            <a:endParaRPr lang="en-US" sz="1500" dirty="0"/>
          </a:p>
          <a:p>
            <a:pPr marL="342900" indent="-342900">
              <a:spcAft>
                <a:spcPts val="600"/>
              </a:spcAft>
              <a:buSzPct val="100000"/>
              <a:buChar char="•"/>
            </a:pPr>
            <a:r>
              <a:rPr lang="en-US" sz="1500" dirty="0">
                <a:solidFill>
                  <a:schemeClr val="tx1"/>
                </a:solidFill>
              </a:rPr>
              <a:t>Programar en horas valle: el lote nocturno aprovecha la capacidad ociosa</a:t>
            </a:r>
            <a:endParaRPr lang="en-US" sz="1500" dirty="0"/>
          </a:p>
          <a:p>
            <a:pPr marL="342900" indent="-342900">
              <a:spcAft>
                <a:spcPts val="600"/>
              </a:spcAft>
              <a:buSzPct val="100000"/>
              <a:buChar char="•"/>
            </a:pPr>
            <a:r>
              <a:rPr lang="en-US" sz="1500" dirty="0">
                <a:solidFill>
                  <a:schemeClr val="tx1"/>
                </a:solidFill>
              </a:rPr>
              <a:t>Observar por separado: SLI online y SLI batch en tableros distintos</a:t>
            </a:r>
            <a:endParaRPr lang="en-US" sz="1500" dirty="0"/>
          </a:p>
        </p:txBody>
      </p:sp>
      <p:sp>
        <p:nvSpPr>
          <p:cNvPr id="15" name="Shape 13"/>
          <p:cNvSpPr/>
          <p:nvPr/>
        </p:nvSpPr>
        <p:spPr>
          <a:xfrm>
            <a:off x="548640" y="5623560"/>
            <a:ext cx="11064240" cy="566928"/>
          </a:xfrm>
          <a:prstGeom prst="roundRect">
            <a:avLst>
              <a:gd name="adj" fmla="val 12903"/>
            </a:avLst>
          </a:prstGeom>
          <a:solidFill>
            <a:srgbClr val="2E9C8A"/>
          </a:solidFill>
          <a:ln w="12700">
            <a:solidFill>
              <a:srgbClr val="2E9C8A"/>
            </a:solidFill>
            <a:prstDash val="solid"/>
          </a:ln>
        </p:spPr>
      </p:sp>
      <p:sp>
        <p:nvSpPr>
          <p:cNvPr id="16" name="Text 14"/>
          <p:cNvSpPr txBox="1"/>
          <p:nvPr/>
        </p:nvSpPr>
        <p:spPr>
          <a:xfrm>
            <a:off x="731520" y="5623560"/>
            <a:ext cx="10698480" cy="566928"/>
          </a:xfrm>
          <a:prstGeom prst="rect">
            <a:avLst/>
          </a:prstGeom>
          <a:noFill/>
          <a:ln/>
        </p:spPr>
        <p:txBody>
          <a:bodyPr wrap="square" lIns="0" tIns="0" rIns="0" bIns="0" rtlCol="0" anchor="ctr"/>
          <a:lstStyle/>
          <a:p>
            <a:pPr indent="0" marL="0">
              <a:buNone/>
            </a:pPr>
            <a:r>
              <a:rPr lang="en-US" sz="1500" b="1" dirty="0">
                <a:solidFill>
                  <a:srgbClr val="FFFFFF"/>
                </a:solidFill>
              </a:rPr>
              <a:t>ADR-0006: separar los caminos online y batch, con prioridad explícita para lo interactivo</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Riesgos propios de la inferencia por lotes</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377440"/>
                <a:gridCol w="3931920"/>
                <a:gridCol w="4754880"/>
              </a:tblGrid>
              <a:tr h="0">
                <a:tc>
                  <a:txBody>
                    <a:bodyPr/>
                    <a:lstStyle/>
                    <a:p>
                      <a:pPr indent="0" marL="0">
                        <a:buNone/>
                      </a:pPr>
                      <a:r>
                        <a:rPr lang="en-US" sz="1300" b="1" dirty="0">
                          <a:solidFill>
                            <a:srgbClr val="FFFFFF"/>
                          </a:solidFill>
                        </a:rPr>
                        <a:t>Riesgo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Qué pasa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Control</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300" dirty="0">
                          <a:solidFill>
                            <a:srgbClr val="1B1F24"/>
                          </a:solidFill>
                        </a:rPr>
                        <a:t>Idempotencia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Un reintento procesa dos veces el mismo ítem</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Identificador por ítem (custom_id, recordId); reanudar sin repetir lo resuelto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Resultados parciales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El lote vence o se cancela a mitad</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Tratar completed, expired y cancelled como estados normales; reprocesar faltantes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24"/>
                          </a:solidFill>
                        </a:rPr>
                        <a:t>Calidad silenciosa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Miles de respuestas mal formadas sin que nadie lo note</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Validar el formato de salida y medir exactitud contra una muestra etiquetada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Inyección indirecta (LLM01)</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Un ítem contiene instrucciones para el modelo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Tratar el contenido como dato; validar la salida contra un esquema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24"/>
                          </a:solidFill>
                        </a:rPr>
                        <a:t>Consumo sin límite (LLM10)</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Un archivo mal generado multiplica el costo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Límites de registros y tamaño; presupuesto y alertas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Datos en reposo (LLM02)</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Entradas y salidas quedan en almacenamiento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Cifrado, caducidad (Azure: 14 a 30 días), acceso mínimo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Demo 1 · Online y lote sobre la misma capacidad (LOC-02)</a:t>
            </a:r>
            <a:endParaRPr lang="en-US" sz="2800" dirty="0"/>
          </a:p>
        </p:txBody>
      </p:sp>
      <p:sp>
        <p:nvSpPr>
          <p:cNvPr id="3" name="Shape 1"/>
          <p:cNvSpPr/>
          <p:nvPr/>
        </p:nvSpPr>
        <p:spPr>
          <a:xfrm>
            <a:off x="548640" y="1645920"/>
            <a:ext cx="2560320" cy="1188720"/>
          </a:xfrm>
          <a:prstGeom prst="roundRect">
            <a:avLst>
              <a:gd name="adj" fmla="val 6154"/>
            </a:avLst>
          </a:prstGeom>
          <a:solidFill>
            <a:srgbClr val="FBEFD9"/>
          </a:solidFill>
          <a:ln w="12700">
            <a:solidFill>
              <a:srgbClr val="1F6F9F"/>
            </a:solidFill>
            <a:prstDash val="solid"/>
          </a:ln>
        </p:spPr>
      </p:sp>
      <p:sp>
        <p:nvSpPr>
          <p:cNvPr id="4" name="Text 2"/>
          <p:cNvSpPr txBox="1"/>
          <p:nvPr/>
        </p:nvSpPr>
        <p:spPr>
          <a:xfrm>
            <a:off x="548640" y="1645920"/>
            <a:ext cx="2560320" cy="1188720"/>
          </a:xfrm>
          <a:prstGeom prst="rect">
            <a:avLst/>
          </a:prstGeom>
          <a:noFill/>
          <a:ln/>
        </p:spPr>
        <p:txBody>
          <a:bodyPr wrap="square" lIns="635" tIns="635" rIns="635" bIns="635" rtlCol="0" anchor="ctr"/>
          <a:lstStyle/>
          <a:p>
            <a:pPr algn="ctr" indent="0" marL="0">
              <a:buNone/>
            </a:pPr>
            <a:r>
              <a:rPr lang="en-US" sz="1300" dirty="0">
                <a:solidFill>
                  <a:srgbClr val="1B1F24"/>
                </a:solidFill>
              </a:rPr>
              <a:t>Enviar lote de 200 PQRS</a:t>
            </a:r>
            <a:endParaRPr lang="en-US" sz="1300" dirty="0"/>
          </a:p>
          <a:p>
            <a:pPr algn="ctr" indent="0" marL="0">
              <a:buNone/>
            </a:pPr>
            <a:r>
              <a:rPr lang="en-US" sz="1300" dirty="0">
                <a:solidFill>
                  <a:srgbClr val="1B1F24"/>
                </a:solidFill>
              </a:rPr>
              <a:t>(pestaña Lotes)</a:t>
            </a:r>
            <a:endParaRPr lang="en-US" sz="1300" dirty="0"/>
          </a:p>
        </p:txBody>
      </p:sp>
      <p:sp>
        <p:nvSpPr>
          <p:cNvPr id="5" name="Shape 3"/>
          <p:cNvSpPr/>
          <p:nvPr/>
        </p:nvSpPr>
        <p:spPr>
          <a:xfrm>
            <a:off x="3108960" y="2240280"/>
            <a:ext cx="274320" cy="914"/>
          </a:xfrm>
          <a:prstGeom prst="line">
            <a:avLst/>
          </a:prstGeom>
          <a:noFill/>
          <a:ln w="19050">
            <a:solidFill>
              <a:srgbClr val="7A8794"/>
            </a:solidFill>
            <a:prstDash val="solid"/>
            <a:tailEnd type="triangle"/>
          </a:ln>
        </p:spPr>
      </p:sp>
      <p:sp>
        <p:nvSpPr>
          <p:cNvPr id="6" name="Shape 4"/>
          <p:cNvSpPr/>
          <p:nvPr/>
        </p:nvSpPr>
        <p:spPr>
          <a:xfrm>
            <a:off x="3383280" y="1645920"/>
            <a:ext cx="2560320" cy="1188720"/>
          </a:xfrm>
          <a:prstGeom prst="roundRect">
            <a:avLst>
              <a:gd name="adj" fmla="val 6154"/>
            </a:avLst>
          </a:prstGeom>
          <a:solidFill>
            <a:srgbClr val="DCEAF4"/>
          </a:solidFill>
          <a:ln w="12700">
            <a:solidFill>
              <a:srgbClr val="1F6F9F"/>
            </a:solidFill>
            <a:prstDash val="solid"/>
          </a:ln>
        </p:spPr>
      </p:sp>
      <p:sp>
        <p:nvSpPr>
          <p:cNvPr id="7" name="Text 5"/>
          <p:cNvSpPr txBox="1"/>
          <p:nvPr/>
        </p:nvSpPr>
        <p:spPr>
          <a:xfrm>
            <a:off x="3383280" y="1645920"/>
            <a:ext cx="2560320" cy="1188720"/>
          </a:xfrm>
          <a:prstGeom prst="rect">
            <a:avLst/>
          </a:prstGeom>
          <a:noFill/>
          <a:ln/>
        </p:spPr>
        <p:txBody>
          <a:bodyPr wrap="square" lIns="635" tIns="635" rIns="635" bIns="635" rtlCol="0" anchor="ctr"/>
          <a:lstStyle/>
          <a:p>
            <a:pPr algn="ctr" indent="0" marL="0">
              <a:buNone/>
            </a:pPr>
            <a:r>
              <a:rPr lang="en-US" sz="1300" dirty="0">
                <a:solidFill>
                  <a:srgbClr val="1B1F24"/>
                </a:solidFill>
              </a:rPr>
              <a:t>Conversar a la vez</a:t>
            </a:r>
            <a:endParaRPr lang="en-US" sz="1300" dirty="0"/>
          </a:p>
          <a:p>
            <a:pPr algn="ctr" indent="0" marL="0">
              <a:buNone/>
            </a:pPr>
            <a:r>
              <a:rPr lang="en-US" sz="1300" dirty="0">
                <a:solidFill>
                  <a:srgbClr val="1B1F24"/>
                </a:solidFill>
              </a:rPr>
              <a:t>(pestaña Online)</a:t>
            </a:r>
            <a:endParaRPr lang="en-US" sz="1300" dirty="0"/>
          </a:p>
        </p:txBody>
      </p:sp>
      <p:sp>
        <p:nvSpPr>
          <p:cNvPr id="8" name="Shape 6"/>
          <p:cNvSpPr/>
          <p:nvPr/>
        </p:nvSpPr>
        <p:spPr>
          <a:xfrm>
            <a:off x="5943600" y="2240280"/>
            <a:ext cx="274320" cy="914"/>
          </a:xfrm>
          <a:prstGeom prst="line">
            <a:avLst/>
          </a:prstGeom>
          <a:noFill/>
          <a:ln w="19050">
            <a:solidFill>
              <a:srgbClr val="7A8794"/>
            </a:solidFill>
            <a:prstDash val="solid"/>
            <a:tailEnd type="triangle"/>
          </a:ln>
        </p:spPr>
      </p:sp>
      <p:sp>
        <p:nvSpPr>
          <p:cNvPr id="9" name="Shape 7"/>
          <p:cNvSpPr/>
          <p:nvPr/>
        </p:nvSpPr>
        <p:spPr>
          <a:xfrm>
            <a:off x="6217920" y="1645920"/>
            <a:ext cx="2560320" cy="1188720"/>
          </a:xfrm>
          <a:prstGeom prst="roundRect">
            <a:avLst>
              <a:gd name="adj" fmla="val 6154"/>
            </a:avLst>
          </a:prstGeom>
          <a:solidFill>
            <a:srgbClr val="F2F4F6"/>
          </a:solidFill>
          <a:ln w="12700">
            <a:solidFill>
              <a:srgbClr val="1F6F9F"/>
            </a:solidFill>
            <a:prstDash val="solid"/>
          </a:ln>
        </p:spPr>
      </p:sp>
      <p:sp>
        <p:nvSpPr>
          <p:cNvPr id="10" name="Text 8"/>
          <p:cNvSpPr txBox="1"/>
          <p:nvPr/>
        </p:nvSpPr>
        <p:spPr>
          <a:xfrm>
            <a:off x="6217920" y="1645920"/>
            <a:ext cx="2560320" cy="1188720"/>
          </a:xfrm>
          <a:prstGeom prst="rect">
            <a:avLst/>
          </a:prstGeom>
          <a:noFill/>
          <a:ln/>
        </p:spPr>
        <p:txBody>
          <a:bodyPr wrap="square" lIns="635" tIns="635" rIns="635" bIns="635" rtlCol="0" anchor="ctr"/>
          <a:lstStyle/>
          <a:p>
            <a:pPr algn="ctr" indent="0" marL="0">
              <a:buNone/>
            </a:pPr>
            <a:r>
              <a:rPr lang="en-US" sz="1300" dirty="0">
                <a:solidFill>
                  <a:srgbClr val="1B1F24"/>
                </a:solidFill>
              </a:rPr>
              <a:t>Observar: el lote se detiene</a:t>
            </a:r>
            <a:endParaRPr lang="en-US" sz="1300" dirty="0"/>
          </a:p>
          <a:p>
            <a:pPr algn="ctr" indent="0" marL="0">
              <a:buNone/>
            </a:pPr>
            <a:r>
              <a:rPr lang="en-US" sz="1300" dirty="0">
                <a:solidFill>
                  <a:srgbClr val="1B1F24"/>
                </a:solidFill>
              </a:rPr>
              <a:t>mientras hay tráfico online</a:t>
            </a:r>
            <a:endParaRPr lang="en-US" sz="1300" dirty="0"/>
          </a:p>
        </p:txBody>
      </p:sp>
      <p:sp>
        <p:nvSpPr>
          <p:cNvPr id="11" name="Shape 9"/>
          <p:cNvSpPr/>
          <p:nvPr/>
        </p:nvSpPr>
        <p:spPr>
          <a:xfrm>
            <a:off x="8778240" y="2240280"/>
            <a:ext cx="274320" cy="914"/>
          </a:xfrm>
          <a:prstGeom prst="line">
            <a:avLst/>
          </a:prstGeom>
          <a:noFill/>
          <a:ln w="19050">
            <a:solidFill>
              <a:srgbClr val="7A8794"/>
            </a:solidFill>
            <a:prstDash val="solid"/>
            <a:tailEnd type="triangle"/>
          </a:ln>
        </p:spPr>
      </p:sp>
      <p:sp>
        <p:nvSpPr>
          <p:cNvPr id="12" name="Shape 10"/>
          <p:cNvSpPr/>
          <p:nvPr/>
        </p:nvSpPr>
        <p:spPr>
          <a:xfrm>
            <a:off x="9052560" y="1645920"/>
            <a:ext cx="2560320" cy="1188720"/>
          </a:xfrm>
          <a:prstGeom prst="roundRect">
            <a:avLst>
              <a:gd name="adj" fmla="val 6154"/>
            </a:avLst>
          </a:prstGeom>
          <a:solidFill>
            <a:srgbClr val="E3F2EF"/>
          </a:solidFill>
          <a:ln w="12700">
            <a:solidFill>
              <a:srgbClr val="1F6F9F"/>
            </a:solidFill>
            <a:prstDash val="solid"/>
          </a:ln>
        </p:spPr>
      </p:sp>
      <p:sp>
        <p:nvSpPr>
          <p:cNvPr id="13" name="Text 11"/>
          <p:cNvSpPr txBox="1"/>
          <p:nvPr/>
        </p:nvSpPr>
        <p:spPr>
          <a:xfrm>
            <a:off x="9052560" y="1645920"/>
            <a:ext cx="2560320" cy="1188720"/>
          </a:xfrm>
          <a:prstGeom prst="rect">
            <a:avLst/>
          </a:prstGeom>
          <a:noFill/>
          <a:ln/>
        </p:spPr>
        <p:txBody>
          <a:bodyPr wrap="square" lIns="635" tIns="635" rIns="635" bIns="635" rtlCol="0" anchor="ctr"/>
          <a:lstStyle/>
          <a:p>
            <a:pPr algn="ctr" indent="0" marL="0">
              <a:buNone/>
            </a:pPr>
            <a:r>
              <a:rPr lang="en-US" sz="1300" dirty="0">
                <a:solidFill>
                  <a:srgbClr val="1B1F24"/>
                </a:solidFill>
              </a:rPr>
              <a:t>Evaluar resultados</a:t>
            </a:r>
            <a:endParaRPr lang="en-US" sz="1300" dirty="0"/>
          </a:p>
          <a:p>
            <a:pPr algn="ctr" indent="0" marL="0">
              <a:buNone/>
            </a:pPr>
            <a:r>
              <a:rPr lang="en-US" sz="1300" dirty="0">
                <a:solidFill>
                  <a:srgbClr val="1B1F24"/>
                </a:solidFill>
              </a:rPr>
              <a:t>contra etiquetas</a:t>
            </a:r>
            <a:endParaRPr lang="en-US" sz="1300" dirty="0"/>
          </a:p>
        </p:txBody>
      </p:sp>
      <p:sp>
        <p:nvSpPr>
          <p:cNvPr id="14" name="Text 12"/>
          <p:cNvSpPr txBox="1"/>
          <p:nvPr/>
        </p:nvSpPr>
        <p:spPr>
          <a:xfrm>
            <a:off x="548640" y="3200400"/>
            <a:ext cx="11064240" cy="2286000"/>
          </a:xfrm>
          <a:prstGeom prst="rect">
            <a:avLst/>
          </a:prstGeom>
          <a:noFill/>
          <a:ln/>
        </p:spPr>
        <p:txBody>
          <a:bodyPr wrap="square" lIns="635" tIns="635" rIns="635" bIns="635" rtlCol="0" anchor="t"/>
          <a:lstStyle/>
          <a:p>
            <a:pPr marL="342900" indent="-342900">
              <a:spcAft>
                <a:spcPts val="600"/>
              </a:spcAft>
              <a:buSzPct val="100000"/>
              <a:buChar char="•"/>
            </a:pPr>
            <a:r>
              <a:rPr lang="en-US" sz="1700" dirty="0">
                <a:solidFill>
                  <a:schemeClr val="tx1"/>
                </a:solidFill>
              </a:rPr>
              <a:t>Antes de ejecutar, prediga: ¿subirá el TTFT de la conversación mientras corre el lote?</a:t>
            </a:r>
            <a:endParaRPr lang="en-US" sz="1700" dirty="0"/>
          </a:p>
          <a:p>
            <a:pPr marL="342900" indent="-342900">
              <a:spcAft>
                <a:spcPts val="600"/>
              </a:spcAft>
              <a:buSzPct val="100000"/>
              <a:buChar char="•"/>
            </a:pPr>
            <a:r>
              <a:rPr lang="en-US" sz="1700" dirty="0">
                <a:solidFill>
                  <a:schemeClr val="tx1"/>
                </a:solidFill>
              </a:rPr>
              <a:t>Observe en la tabla de lotes el progreso y las regiones usadas</a:t>
            </a:r>
            <a:endParaRPr lang="en-US" sz="1700" dirty="0"/>
          </a:p>
          <a:p>
            <a:pPr marL="342900" indent="-342900">
              <a:spcAft>
                <a:spcPts val="600"/>
              </a:spcAft>
              <a:buSzPct val="100000"/>
              <a:buChar char="•"/>
            </a:pPr>
            <a:r>
              <a:rPr lang="en-US" sz="1700" dirty="0">
                <a:solidFill>
                  <a:schemeClr val="tx1"/>
                </a:solidFill>
              </a:rPr>
              <a:t>Descargue los resultados y ejecute evaluar_lote.py: JSON válidos, exactitud por tipo y por área</a:t>
            </a:r>
            <a:endParaRPr lang="en-US" sz="1700" dirty="0"/>
          </a:p>
          <a:p>
            <a:pPr marL="342900" indent="-342900">
              <a:spcAft>
                <a:spcPts val="600"/>
              </a:spcAft>
              <a:buSzPct val="100000"/>
              <a:buChar char="•"/>
            </a:pPr>
            <a:r>
              <a:rPr lang="en-US" sz="1700" dirty="0">
                <a:solidFill>
                  <a:schemeClr val="tx1"/>
                </a:solidFill>
              </a:rPr>
              <a:t>Mismo archivo, mismo formato que Azure OpenAI Batch: la diferencia es quién opera la cola</a:t>
            </a:r>
            <a:endParaRPr lang="en-US" sz="1700" dirty="0"/>
          </a:p>
        </p:txBody>
      </p:sp>
      <p:sp>
        <p:nvSpPr>
          <p:cNvPr id="15" name="Shape 13"/>
          <p:cNvSpPr/>
          <p:nvPr/>
        </p:nvSpPr>
        <p:spPr>
          <a:xfrm>
            <a:off x="548640" y="5623560"/>
            <a:ext cx="11064240" cy="566928"/>
          </a:xfrm>
          <a:prstGeom prst="roundRect">
            <a:avLst>
              <a:gd name="adj" fmla="val 12903"/>
            </a:avLst>
          </a:prstGeom>
          <a:solidFill>
            <a:srgbClr val="7A8794"/>
          </a:solidFill>
          <a:ln w="12700">
            <a:solidFill>
              <a:srgbClr val="7A8794"/>
            </a:solidFill>
            <a:prstDash val="solid"/>
          </a:ln>
        </p:spPr>
      </p:sp>
      <p:sp>
        <p:nvSpPr>
          <p:cNvPr id="16" name="Text 14"/>
          <p:cNvSpPr txBox="1"/>
          <p:nvPr/>
        </p:nvSpPr>
        <p:spPr>
          <a:xfrm>
            <a:off x="731520" y="5623560"/>
            <a:ext cx="10698480" cy="566928"/>
          </a:xfrm>
          <a:prstGeom prst="rect">
            <a:avLst/>
          </a:prstGeom>
          <a:noFill/>
          <a:ln/>
        </p:spPr>
        <p:txBody>
          <a:bodyPr wrap="square" lIns="0" tIns="0" rIns="0" bIns="0" rtlCol="0" anchor="ctr"/>
          <a:lstStyle/>
          <a:p>
            <a:pPr indent="0" marL="0">
              <a:buNone/>
            </a:pPr>
            <a:r>
              <a:rPr lang="en-US" sz="1500" b="1" dirty="0">
                <a:solidFill>
                  <a:srgbClr val="FFFFFF"/>
                </a:solidFill>
              </a:rPr>
              <a:t>Plan B: tabla de resultados sintéticos del README de LOC-02 (sección 9)</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371600"/>
          </a:xfrm>
          <a:prstGeom prst="rect">
            <a:avLst/>
          </a:prstGeom>
          <a:noFill/>
          <a:ln/>
        </p:spPr>
        <p:txBody>
          <a:bodyPr wrap="square" rtlCol="0"/>
          <a:lstStyle/>
          <a:p>
            <a:pPr algn="l" indent="0" marL="0">
              <a:buNone/>
            </a:pPr>
            <a:r>
              <a:rPr lang="en-US" sz="3800" b="1" dirty="0">
                <a:solidFill>
                  <a:schemeClr val="bg1"/>
                </a:solidFill>
              </a:rPr>
              <a:t>Unidad B · Topologías redundantes y multi-región</a:t>
            </a:r>
            <a:endParaRPr lang="en-US" sz="3800" dirty="0"/>
          </a:p>
        </p:txBody>
      </p:sp>
      <p:sp>
        <p:nvSpPr>
          <p:cNvPr id="3" name="Text 0"/>
          <p:cNvSpPr/>
          <p:nvPr>
            <p:ph idx="101" type="body" hasCustomPrompt="1"/>
          </p:nvPr>
        </p:nvSpPr>
        <p:spPr>
          <a:xfrm>
            <a:off x="731520" y="3474720"/>
            <a:ext cx="10698480" cy="1371600"/>
          </a:xfrm>
          <a:prstGeom prst="rect">
            <a:avLst/>
          </a:prstGeom>
          <a:noFill/>
          <a:ln/>
        </p:spPr>
        <p:txBody>
          <a:bodyPr wrap="square" rtlCol="0"/>
          <a:lstStyle/>
          <a:p>
            <a:pPr indent="0" marL="0">
              <a:buNone/>
            </a:pPr>
            <a:r>
              <a:rPr lang="en-US" sz="2000" dirty="0">
                <a:solidFill>
                  <a:schemeClr val="bg2"/>
                </a:solidFill>
              </a:rPr>
              <a:t>¿Cuántas copias necesita el sistema y quién decide a cuál enviar el tráfico?</a:t>
            </a:r>
            <a:endParaRPr lang="en-US" sz="20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Vocabulario de continuidad</a:t>
            </a:r>
            <a:endParaRPr lang="en-US" sz="2800" dirty="0"/>
          </a:p>
        </p:txBody>
      </p:sp>
      <p:sp>
        <p:nvSpPr>
          <p:cNvPr id="3" name="Shape 1"/>
          <p:cNvSpPr/>
          <p:nvPr/>
        </p:nvSpPr>
        <p:spPr>
          <a:xfrm>
            <a:off x="548640" y="1325880"/>
            <a:ext cx="1737360" cy="1188720"/>
          </a:xfrm>
          <a:prstGeom prst="roundRect">
            <a:avLst>
              <a:gd name="adj" fmla="val 6154"/>
            </a:avLst>
          </a:prstGeom>
          <a:solidFill>
            <a:srgbClr val="DCEAF4"/>
          </a:solidFill>
          <a:ln w="12700">
            <a:solidFill>
              <a:srgbClr val="1F6F9F"/>
            </a:solidFill>
            <a:prstDash val="solid"/>
          </a:ln>
        </p:spPr>
      </p:sp>
      <p:sp>
        <p:nvSpPr>
          <p:cNvPr id="4" name="Text 2"/>
          <p:cNvSpPr txBox="1"/>
          <p:nvPr/>
        </p:nvSpPr>
        <p:spPr>
          <a:xfrm>
            <a:off x="548640" y="1325880"/>
            <a:ext cx="1737360" cy="1188720"/>
          </a:xfrm>
          <a:prstGeom prst="rect">
            <a:avLst/>
          </a:prstGeom>
          <a:noFill/>
          <a:ln/>
        </p:spPr>
        <p:txBody>
          <a:bodyPr wrap="square" lIns="635" tIns="635" rIns="635" bIns="635" rtlCol="0" anchor="ctr"/>
          <a:lstStyle/>
          <a:p>
            <a:pPr algn="ctr" indent="0" marL="0">
              <a:buNone/>
            </a:pPr>
            <a:r>
              <a:rPr lang="en-US" sz="1500" b="1" dirty="0">
                <a:solidFill>
                  <a:srgbClr val="1B1F24"/>
                </a:solidFill>
              </a:rPr>
              <a:t>Disponibilidad</a:t>
            </a:r>
            <a:endParaRPr lang="en-US" sz="1500" dirty="0"/>
          </a:p>
        </p:txBody>
      </p:sp>
      <p:sp>
        <p:nvSpPr>
          <p:cNvPr id="5" name="Text 3"/>
          <p:cNvSpPr txBox="1"/>
          <p:nvPr/>
        </p:nvSpPr>
        <p:spPr>
          <a:xfrm>
            <a:off x="2423160" y="1325880"/>
            <a:ext cx="3520440" cy="1188720"/>
          </a:xfrm>
          <a:prstGeom prst="rect">
            <a:avLst/>
          </a:prstGeom>
          <a:noFill/>
          <a:ln/>
        </p:spPr>
        <p:txBody>
          <a:bodyPr wrap="square" lIns="0" tIns="0" rIns="0" bIns="0" rtlCol="0" anchor="ctr"/>
          <a:lstStyle/>
          <a:p>
            <a:pPr algn="l" indent="0" marL="0">
              <a:buNone/>
            </a:pPr>
            <a:r>
              <a:rPr lang="en-US" sz="1400" dirty="0">
                <a:solidFill>
                  <a:srgbClr val="1B1F24"/>
                </a:solidFill>
              </a:rPr>
              <a:t>Proporción del tiempo en que el servicio cumple su función. 99,9 % ≈ 43 min de indisponibilidad al mes</a:t>
            </a:r>
            <a:endParaRPr lang="en-US" sz="1400" dirty="0"/>
          </a:p>
        </p:txBody>
      </p:sp>
      <p:sp>
        <p:nvSpPr>
          <p:cNvPr id="6" name="Shape 4"/>
          <p:cNvSpPr/>
          <p:nvPr/>
        </p:nvSpPr>
        <p:spPr>
          <a:xfrm>
            <a:off x="6172200" y="1325880"/>
            <a:ext cx="1737360" cy="1188720"/>
          </a:xfrm>
          <a:prstGeom prst="roundRect">
            <a:avLst>
              <a:gd name="adj" fmla="val 6154"/>
            </a:avLst>
          </a:prstGeom>
          <a:solidFill>
            <a:srgbClr val="DCEAF4"/>
          </a:solidFill>
          <a:ln w="12700">
            <a:solidFill>
              <a:srgbClr val="1F6F9F"/>
            </a:solidFill>
            <a:prstDash val="solid"/>
          </a:ln>
        </p:spPr>
      </p:sp>
      <p:sp>
        <p:nvSpPr>
          <p:cNvPr id="7" name="Text 5"/>
          <p:cNvSpPr txBox="1"/>
          <p:nvPr/>
        </p:nvSpPr>
        <p:spPr>
          <a:xfrm>
            <a:off x="6172200" y="1325880"/>
            <a:ext cx="1737360" cy="1188720"/>
          </a:xfrm>
          <a:prstGeom prst="rect">
            <a:avLst/>
          </a:prstGeom>
          <a:noFill/>
          <a:ln/>
        </p:spPr>
        <p:txBody>
          <a:bodyPr wrap="square" lIns="635" tIns="635" rIns="635" bIns="635" rtlCol="0" anchor="ctr"/>
          <a:lstStyle/>
          <a:p>
            <a:pPr algn="ctr" indent="0" marL="0">
              <a:buNone/>
            </a:pPr>
            <a:r>
              <a:rPr lang="en-US" sz="1500" b="1" dirty="0">
                <a:solidFill>
                  <a:srgbClr val="1B1F24"/>
                </a:solidFill>
              </a:rPr>
              <a:t>Dominio de falla</a:t>
            </a:r>
            <a:endParaRPr lang="en-US" sz="1500" dirty="0"/>
          </a:p>
        </p:txBody>
      </p:sp>
      <p:sp>
        <p:nvSpPr>
          <p:cNvPr id="8" name="Text 6"/>
          <p:cNvSpPr txBox="1"/>
          <p:nvPr/>
        </p:nvSpPr>
        <p:spPr>
          <a:xfrm>
            <a:off x="8046720" y="1325880"/>
            <a:ext cx="3520440" cy="1188720"/>
          </a:xfrm>
          <a:prstGeom prst="rect">
            <a:avLst/>
          </a:prstGeom>
          <a:noFill/>
          <a:ln/>
        </p:spPr>
        <p:txBody>
          <a:bodyPr wrap="square" lIns="0" tIns="0" rIns="0" bIns="0" rtlCol="0" anchor="ctr"/>
          <a:lstStyle/>
          <a:p>
            <a:pPr algn="l" indent="0" marL="0">
              <a:buNone/>
            </a:pPr>
            <a:r>
              <a:rPr lang="en-US" sz="1400" dirty="0">
                <a:solidFill>
                  <a:srgbClr val="1B1F24"/>
                </a:solidFill>
              </a:rPr>
              <a:t>Conjunto de recursos que fallan juntos: un host, una zona, una región, un proveedor, una cuota</a:t>
            </a:r>
            <a:endParaRPr lang="en-US" sz="1400" dirty="0"/>
          </a:p>
        </p:txBody>
      </p:sp>
      <p:sp>
        <p:nvSpPr>
          <p:cNvPr id="9" name="Shape 7"/>
          <p:cNvSpPr/>
          <p:nvPr/>
        </p:nvSpPr>
        <p:spPr>
          <a:xfrm>
            <a:off x="548640" y="2743200"/>
            <a:ext cx="1737360" cy="1188720"/>
          </a:xfrm>
          <a:prstGeom prst="roundRect">
            <a:avLst>
              <a:gd name="adj" fmla="val 6154"/>
            </a:avLst>
          </a:prstGeom>
          <a:solidFill>
            <a:srgbClr val="E3F2EF"/>
          </a:solidFill>
          <a:ln w="12700">
            <a:solidFill>
              <a:srgbClr val="1F6F9F"/>
            </a:solidFill>
            <a:prstDash val="solid"/>
          </a:ln>
        </p:spPr>
      </p:sp>
      <p:sp>
        <p:nvSpPr>
          <p:cNvPr id="10" name="Text 8"/>
          <p:cNvSpPr txBox="1"/>
          <p:nvPr/>
        </p:nvSpPr>
        <p:spPr>
          <a:xfrm>
            <a:off x="548640" y="2743200"/>
            <a:ext cx="1737360" cy="1188720"/>
          </a:xfrm>
          <a:prstGeom prst="rect">
            <a:avLst/>
          </a:prstGeom>
          <a:noFill/>
          <a:ln/>
        </p:spPr>
        <p:txBody>
          <a:bodyPr wrap="square" lIns="635" tIns="635" rIns="635" bIns="635" rtlCol="0" anchor="ctr"/>
          <a:lstStyle/>
          <a:p>
            <a:pPr algn="ctr" indent="0" marL="0">
              <a:buNone/>
            </a:pPr>
            <a:r>
              <a:rPr lang="en-US" sz="1500" b="1" dirty="0">
                <a:solidFill>
                  <a:srgbClr val="1B1F24"/>
                </a:solidFill>
              </a:rPr>
              <a:t>RTO</a:t>
            </a:r>
            <a:endParaRPr lang="en-US" sz="1500" dirty="0"/>
          </a:p>
        </p:txBody>
      </p:sp>
      <p:sp>
        <p:nvSpPr>
          <p:cNvPr id="11" name="Text 9"/>
          <p:cNvSpPr txBox="1"/>
          <p:nvPr/>
        </p:nvSpPr>
        <p:spPr>
          <a:xfrm>
            <a:off x="2423160" y="2743200"/>
            <a:ext cx="3520440" cy="1188720"/>
          </a:xfrm>
          <a:prstGeom prst="rect">
            <a:avLst/>
          </a:prstGeom>
          <a:noFill/>
          <a:ln/>
        </p:spPr>
        <p:txBody>
          <a:bodyPr wrap="square" lIns="0" tIns="0" rIns="0" bIns="0" rtlCol="0" anchor="ctr"/>
          <a:lstStyle/>
          <a:p>
            <a:pPr algn="l" indent="0" marL="0">
              <a:buNone/>
            </a:pPr>
            <a:r>
              <a:rPr lang="en-US" sz="1400" dirty="0">
                <a:solidFill>
                  <a:srgbClr val="1B1F24"/>
                </a:solidFill>
              </a:rPr>
              <a:t>Recovery Time Objective: máximo tiempo aceptable entre la interrupción y la restauración</a:t>
            </a:r>
            <a:endParaRPr lang="en-US" sz="1400" dirty="0"/>
          </a:p>
        </p:txBody>
      </p:sp>
      <p:sp>
        <p:nvSpPr>
          <p:cNvPr id="12" name="Shape 10"/>
          <p:cNvSpPr/>
          <p:nvPr/>
        </p:nvSpPr>
        <p:spPr>
          <a:xfrm>
            <a:off x="6172200" y="2743200"/>
            <a:ext cx="1737360" cy="1188720"/>
          </a:xfrm>
          <a:prstGeom prst="roundRect">
            <a:avLst>
              <a:gd name="adj" fmla="val 6154"/>
            </a:avLst>
          </a:prstGeom>
          <a:solidFill>
            <a:srgbClr val="E3F2EF"/>
          </a:solidFill>
          <a:ln w="12700">
            <a:solidFill>
              <a:srgbClr val="1F6F9F"/>
            </a:solidFill>
            <a:prstDash val="solid"/>
          </a:ln>
        </p:spPr>
      </p:sp>
      <p:sp>
        <p:nvSpPr>
          <p:cNvPr id="13" name="Text 11"/>
          <p:cNvSpPr txBox="1"/>
          <p:nvPr/>
        </p:nvSpPr>
        <p:spPr>
          <a:xfrm>
            <a:off x="6172200" y="2743200"/>
            <a:ext cx="1737360" cy="1188720"/>
          </a:xfrm>
          <a:prstGeom prst="rect">
            <a:avLst/>
          </a:prstGeom>
          <a:noFill/>
          <a:ln/>
        </p:spPr>
        <p:txBody>
          <a:bodyPr wrap="square" lIns="635" tIns="635" rIns="635" bIns="635" rtlCol="0" anchor="ctr"/>
          <a:lstStyle/>
          <a:p>
            <a:pPr algn="ctr" indent="0" marL="0">
              <a:buNone/>
            </a:pPr>
            <a:r>
              <a:rPr lang="en-US" sz="1500" b="1" dirty="0">
                <a:solidFill>
                  <a:srgbClr val="1B1F24"/>
                </a:solidFill>
              </a:rPr>
              <a:t>RPO</a:t>
            </a:r>
            <a:endParaRPr lang="en-US" sz="1500" dirty="0"/>
          </a:p>
        </p:txBody>
      </p:sp>
      <p:sp>
        <p:nvSpPr>
          <p:cNvPr id="14" name="Text 12"/>
          <p:cNvSpPr txBox="1"/>
          <p:nvPr/>
        </p:nvSpPr>
        <p:spPr>
          <a:xfrm>
            <a:off x="8046720" y="2743200"/>
            <a:ext cx="3520440" cy="1188720"/>
          </a:xfrm>
          <a:prstGeom prst="rect">
            <a:avLst/>
          </a:prstGeom>
          <a:noFill/>
          <a:ln/>
        </p:spPr>
        <p:txBody>
          <a:bodyPr wrap="square" lIns="0" tIns="0" rIns="0" bIns="0" rtlCol="0" anchor="ctr"/>
          <a:lstStyle/>
          <a:p>
            <a:pPr algn="l" indent="0" marL="0">
              <a:buNone/>
            </a:pPr>
            <a:r>
              <a:rPr lang="en-US" sz="1400" dirty="0">
                <a:solidFill>
                  <a:srgbClr val="1B1F24"/>
                </a:solidFill>
              </a:rPr>
              <a:t>Recovery Point Objective: máxima pérdida de datos aceptable, medida en tiempo</a:t>
            </a:r>
            <a:endParaRPr lang="en-US" sz="1400" dirty="0"/>
          </a:p>
        </p:txBody>
      </p:sp>
      <p:sp>
        <p:nvSpPr>
          <p:cNvPr id="15" name="Shape 13"/>
          <p:cNvSpPr/>
          <p:nvPr/>
        </p:nvSpPr>
        <p:spPr>
          <a:xfrm>
            <a:off x="548640" y="4160520"/>
            <a:ext cx="1737360" cy="1188720"/>
          </a:xfrm>
          <a:prstGeom prst="roundRect">
            <a:avLst>
              <a:gd name="adj" fmla="val 6154"/>
            </a:avLst>
          </a:prstGeom>
          <a:solidFill>
            <a:srgbClr val="FBEFD9"/>
          </a:solidFill>
          <a:ln w="12700">
            <a:solidFill>
              <a:srgbClr val="1F6F9F"/>
            </a:solidFill>
            <a:prstDash val="solid"/>
          </a:ln>
        </p:spPr>
      </p:sp>
      <p:sp>
        <p:nvSpPr>
          <p:cNvPr id="16" name="Text 14"/>
          <p:cNvSpPr txBox="1"/>
          <p:nvPr/>
        </p:nvSpPr>
        <p:spPr>
          <a:xfrm>
            <a:off x="548640" y="4160520"/>
            <a:ext cx="1737360" cy="1188720"/>
          </a:xfrm>
          <a:prstGeom prst="rect">
            <a:avLst/>
          </a:prstGeom>
          <a:noFill/>
          <a:ln/>
        </p:spPr>
        <p:txBody>
          <a:bodyPr wrap="square" lIns="635" tIns="635" rIns="635" bIns="635" rtlCol="0" anchor="ctr"/>
          <a:lstStyle/>
          <a:p>
            <a:pPr algn="ctr" indent="0" marL="0">
              <a:buNone/>
            </a:pPr>
            <a:r>
              <a:rPr lang="en-US" sz="1500" b="1" dirty="0">
                <a:solidFill>
                  <a:srgbClr val="1B1F24"/>
                </a:solidFill>
              </a:rPr>
              <a:t>Radio de impacto</a:t>
            </a:r>
            <a:endParaRPr lang="en-US" sz="1500" dirty="0"/>
          </a:p>
        </p:txBody>
      </p:sp>
      <p:sp>
        <p:nvSpPr>
          <p:cNvPr id="17" name="Text 15"/>
          <p:cNvSpPr txBox="1"/>
          <p:nvPr/>
        </p:nvSpPr>
        <p:spPr>
          <a:xfrm>
            <a:off x="2423160" y="4160520"/>
            <a:ext cx="3520440" cy="1188720"/>
          </a:xfrm>
          <a:prstGeom prst="rect">
            <a:avLst/>
          </a:prstGeom>
          <a:noFill/>
          <a:ln/>
        </p:spPr>
        <p:txBody>
          <a:bodyPr wrap="square" lIns="0" tIns="0" rIns="0" bIns="0" rtlCol="0" anchor="ctr"/>
          <a:lstStyle/>
          <a:p>
            <a:pPr algn="l" indent="0" marL="0">
              <a:buNone/>
            </a:pPr>
            <a:r>
              <a:rPr lang="en-US" sz="1400" dirty="0">
                <a:solidFill>
                  <a:srgbClr val="1B1F24"/>
                </a:solidFill>
              </a:rPr>
              <a:t>Cuántos usuarios o funciones afecta una falla (blast radius)</a:t>
            </a:r>
            <a:endParaRPr lang="en-US" sz="1400" dirty="0"/>
          </a:p>
        </p:txBody>
      </p:sp>
      <p:sp>
        <p:nvSpPr>
          <p:cNvPr id="18" name="Shape 16"/>
          <p:cNvSpPr/>
          <p:nvPr/>
        </p:nvSpPr>
        <p:spPr>
          <a:xfrm>
            <a:off x="6172200" y="4160520"/>
            <a:ext cx="1737360" cy="1188720"/>
          </a:xfrm>
          <a:prstGeom prst="roundRect">
            <a:avLst>
              <a:gd name="adj" fmla="val 6154"/>
            </a:avLst>
          </a:prstGeom>
          <a:solidFill>
            <a:srgbClr val="FBEFD9"/>
          </a:solidFill>
          <a:ln w="12700">
            <a:solidFill>
              <a:srgbClr val="1F6F9F"/>
            </a:solidFill>
            <a:prstDash val="solid"/>
          </a:ln>
        </p:spPr>
      </p:sp>
      <p:sp>
        <p:nvSpPr>
          <p:cNvPr id="19" name="Text 17"/>
          <p:cNvSpPr txBox="1"/>
          <p:nvPr/>
        </p:nvSpPr>
        <p:spPr>
          <a:xfrm>
            <a:off x="6172200" y="4160520"/>
            <a:ext cx="1737360" cy="1188720"/>
          </a:xfrm>
          <a:prstGeom prst="rect">
            <a:avLst/>
          </a:prstGeom>
          <a:noFill/>
          <a:ln/>
        </p:spPr>
        <p:txBody>
          <a:bodyPr wrap="square" lIns="635" tIns="635" rIns="635" bIns="635" rtlCol="0" anchor="ctr"/>
          <a:lstStyle/>
          <a:p>
            <a:pPr algn="ctr" indent="0" marL="0">
              <a:buNone/>
            </a:pPr>
            <a:r>
              <a:rPr lang="en-US" sz="1500" b="1" dirty="0">
                <a:solidFill>
                  <a:srgbClr val="1B1F24"/>
                </a:solidFill>
              </a:rPr>
              <a:t>Resiliencia</a:t>
            </a:r>
            <a:endParaRPr lang="en-US" sz="1500" dirty="0"/>
          </a:p>
        </p:txBody>
      </p:sp>
      <p:sp>
        <p:nvSpPr>
          <p:cNvPr id="20" name="Text 18"/>
          <p:cNvSpPr txBox="1"/>
          <p:nvPr/>
        </p:nvSpPr>
        <p:spPr>
          <a:xfrm>
            <a:off x="8046720" y="4160520"/>
            <a:ext cx="3520440" cy="1188720"/>
          </a:xfrm>
          <a:prstGeom prst="rect">
            <a:avLst/>
          </a:prstGeom>
          <a:noFill/>
          <a:ln/>
        </p:spPr>
        <p:txBody>
          <a:bodyPr wrap="square" lIns="0" tIns="0" rIns="0" bIns="0" rtlCol="0" anchor="ctr"/>
          <a:lstStyle/>
          <a:p>
            <a:pPr algn="l" indent="0" marL="0">
              <a:buNone/>
            </a:pPr>
            <a:r>
              <a:rPr lang="en-US" sz="1400" dirty="0">
                <a:solidFill>
                  <a:srgbClr val="1B1F24"/>
                </a:solidFill>
              </a:rPr>
              <a:t>Capacidad de resistir la falla y recuperarse: detectar, aislar, conmutar, degradar</a:t>
            </a:r>
            <a:endParaRPr lang="en-US" sz="1400" dirty="0"/>
          </a:p>
        </p:txBody>
      </p:sp>
      <p:sp>
        <p:nvSpPr>
          <p:cNvPr id="21" name="Text 19"/>
          <p:cNvSpPr txBox="1"/>
          <p:nvPr/>
        </p:nvSpPr>
        <p:spPr>
          <a:xfrm>
            <a:off x="548640" y="5669280"/>
            <a:ext cx="11064240" cy="457200"/>
          </a:xfrm>
          <a:prstGeom prst="rect">
            <a:avLst/>
          </a:prstGeom>
          <a:noFill/>
          <a:ln/>
        </p:spPr>
        <p:txBody>
          <a:bodyPr wrap="square" lIns="0" tIns="0" rIns="0" bIns="0" rtlCol="0" anchor="ctr"/>
          <a:lstStyle/>
          <a:p>
            <a:pPr algn="l" indent="0" marL="0">
              <a:buNone/>
            </a:pPr>
            <a:r>
              <a:rPr lang="en-US" sz="1100" i="1" dirty="0">
                <a:solidFill>
                  <a:srgbClr val="7A8794"/>
                </a:solidFill>
              </a:rPr>
              <a:t>Definiciones de RTO y RPO según AWS Architecture Blog, «Disaster Recovery (DR) Architecture on AWS, Part I» (Eliot, 2021).</a:t>
            </a:r>
            <a:endParaRPr lang="en-US" sz="11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Disponibilidad compuesta: serie y paralelo</a:t>
            </a:r>
            <a:endParaRPr lang="en-US" sz="2800" dirty="0"/>
          </a:p>
        </p:txBody>
      </p:sp>
      <p:sp>
        <p:nvSpPr>
          <p:cNvPr id="3" name="Text 1"/>
          <p:cNvSpPr txBox="1"/>
          <p:nvPr/>
        </p:nvSpPr>
        <p:spPr>
          <a:xfrm>
            <a:off x="548640" y="1280160"/>
            <a:ext cx="5486400" cy="411480"/>
          </a:xfrm>
          <a:prstGeom prst="rect">
            <a:avLst/>
          </a:prstGeom>
          <a:noFill/>
          <a:ln/>
        </p:spPr>
        <p:txBody>
          <a:bodyPr wrap="square" lIns="0" tIns="0" rIns="0" bIns="0" rtlCol="0" anchor="ctr"/>
          <a:lstStyle/>
          <a:p>
            <a:pPr algn="l" indent="0" marL="0">
              <a:buNone/>
            </a:pPr>
            <a:r>
              <a:rPr lang="en-US" sz="1600" b="1" dirty="0">
                <a:solidFill>
                  <a:srgbClr val="13324B"/>
                </a:solidFill>
              </a:rPr>
              <a:t>En serie (todos deben funcionar)</a:t>
            </a:r>
            <a:endParaRPr lang="en-US" sz="1600" dirty="0"/>
          </a:p>
        </p:txBody>
      </p:sp>
      <p:sp>
        <p:nvSpPr>
          <p:cNvPr id="4" name="Text 2"/>
          <p:cNvSpPr txBox="1"/>
          <p:nvPr/>
        </p:nvSpPr>
        <p:spPr>
          <a:xfrm>
            <a:off x="548640" y="1691640"/>
            <a:ext cx="5486400" cy="411480"/>
          </a:xfrm>
          <a:prstGeom prst="rect">
            <a:avLst/>
          </a:prstGeom>
          <a:noFill/>
          <a:ln/>
        </p:spPr>
        <p:txBody>
          <a:bodyPr wrap="square" lIns="0" tIns="0" rIns="0" bIns="0" rtlCol="0" anchor="ctr"/>
          <a:lstStyle/>
          <a:p>
            <a:pPr algn="l" indent="0" marL="0">
              <a:buNone/>
            </a:pPr>
            <a:r>
              <a:rPr lang="en-US" sz="1800" dirty="0">
                <a:solidFill>
                  <a:srgbClr val="1B1F24"/>
                </a:solidFill>
              </a:rPr>
              <a:t>A = A₁ × A₂ × … × Aₙ</a:t>
            </a:r>
            <a:endParaRPr lang="en-US" sz="1800" dirty="0"/>
          </a:p>
        </p:txBody>
      </p:sp>
      <p:sp>
        <p:nvSpPr>
          <p:cNvPr id="5" name="Text 3"/>
          <p:cNvSpPr txBox="1"/>
          <p:nvPr/>
        </p:nvSpPr>
        <p:spPr>
          <a:xfrm>
            <a:off x="548640" y="2240280"/>
            <a:ext cx="5486400" cy="411480"/>
          </a:xfrm>
          <a:prstGeom prst="rect">
            <a:avLst/>
          </a:prstGeom>
          <a:noFill/>
          <a:ln/>
        </p:spPr>
        <p:txBody>
          <a:bodyPr wrap="square" lIns="0" tIns="0" rIns="0" bIns="0" rtlCol="0" anchor="ctr"/>
          <a:lstStyle/>
          <a:p>
            <a:pPr algn="l" indent="0" marL="0">
              <a:buNone/>
            </a:pPr>
            <a:r>
              <a:rPr lang="en-US" sz="1600" b="1" dirty="0">
                <a:solidFill>
                  <a:srgbClr val="13324B"/>
                </a:solidFill>
              </a:rPr>
              <a:t>En paralelo (basta con uno, fallas independientes)</a:t>
            </a:r>
            <a:endParaRPr lang="en-US" sz="1600" dirty="0"/>
          </a:p>
        </p:txBody>
      </p:sp>
      <p:sp>
        <p:nvSpPr>
          <p:cNvPr id="6" name="Text 4"/>
          <p:cNvSpPr txBox="1"/>
          <p:nvPr/>
        </p:nvSpPr>
        <p:spPr>
          <a:xfrm>
            <a:off x="548640" y="2651760"/>
            <a:ext cx="5486400" cy="411480"/>
          </a:xfrm>
          <a:prstGeom prst="rect">
            <a:avLst/>
          </a:prstGeom>
          <a:noFill/>
          <a:ln/>
        </p:spPr>
        <p:txBody>
          <a:bodyPr wrap="square" lIns="0" tIns="0" rIns="0" bIns="0" rtlCol="0" anchor="ctr"/>
          <a:lstStyle/>
          <a:p>
            <a:pPr algn="l" indent="0" marL="0">
              <a:buNone/>
            </a:pPr>
            <a:r>
              <a:rPr lang="en-US" sz="1800" dirty="0">
                <a:solidFill>
                  <a:srgbClr val="1B1F24"/>
                </a:solidFill>
              </a:rPr>
              <a:t>A = 1 − (1 − A₁) × (1 − A₂)</a:t>
            </a:r>
            <a:endParaRPr lang="en-US" sz="1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3246120"/>
          <a:ext cx="6035040" cy="914400"/>
        </p:xfrm>
        <a:graphic>
          <a:graphicData uri="http://schemas.openxmlformats.org/drawingml/2006/table">
            <a:tbl>
              <a:tblPr/>
              <a:tblGrid>
                <a:gridCol w="3931920"/>
                <a:gridCol w="1005840"/>
                <a:gridCol w="1097280"/>
              </a:tblGrid>
              <a:tr h="0">
                <a:tc>
                  <a:txBody>
                    <a:bodyPr/>
                    <a:lstStyle/>
                    <a:p>
                      <a:pPr indent="0" marL="0">
                        <a:buNone/>
                      </a:pPr>
                      <a:r>
                        <a:rPr lang="en-US" sz="1200" b="1" dirty="0">
                          <a:solidFill>
                            <a:srgbClr val="FFFFFF"/>
                          </a:solidFill>
                        </a:rPr>
                        <a:t>Configuración (cifras hipotéticas)</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200" b="1" dirty="0">
                          <a:solidFill>
                            <a:srgbClr val="FFFFFF"/>
                          </a:solidFill>
                        </a:rPr>
                        <a:t>A</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200" b="1" dirty="0">
                          <a:solidFill>
                            <a:srgbClr val="FFFFFF"/>
                          </a:solidFill>
                        </a:rPr>
                        <a:t>Indisp./mes</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200" dirty="0">
                          <a:solidFill>
                            <a:srgbClr val="1B1F24"/>
                          </a:solidFill>
                        </a:rPr>
                        <a:t>Solo el endpoint del modelo (99,9 %)</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99,90 %</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43 min</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200" dirty="0">
                          <a:solidFill>
                            <a:srgbClr val="1B1F24"/>
                          </a:solidFill>
                        </a:rPr>
                        <a:t>Una región: gateway 99,95 × backend 99,95 × modelo 99,9</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99,80 %</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86 min</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F24"/>
                          </a:solidFill>
                        </a:rPr>
                        <a:t>Dos regiones en paralelo</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99,9996 %</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0,2 min</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200" dirty="0">
                          <a:solidFill>
                            <a:srgbClr val="1B1F24"/>
                          </a:solidFill>
                        </a:rPr>
                        <a:t>Dos regiones + enrutamiento global en serie (99,99 %)</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99,99 %</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4,5 min</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bl>
          </a:graphicData>
        </a:graphic>
      </p:graphicFrame>
      <p:graphicFrame>
        <p:nvGraphicFramePr>
          <p:cNvPr id="8" name="Chart 0" descr=""/>
          <p:cNvGraphicFramePr/>
          <p:nvPr/>
        </p:nvGraphicFramePr>
        <p:xfrm>
          <a:off x="6858000" y="1280160"/>
          <a:ext cx="4754880" cy="420624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548640" y="5623560"/>
            <a:ext cx="11064240" cy="566928"/>
          </a:xfrm>
          <a:prstGeom prst="roundRect">
            <a:avLst>
              <a:gd name="adj" fmla="val 12903"/>
            </a:avLst>
          </a:prstGeom>
          <a:solidFill>
            <a:srgbClr val="13324B"/>
          </a:solidFill>
          <a:ln w="12700">
            <a:solidFill>
              <a:srgbClr val="13324B"/>
            </a:solidFill>
            <a:prstDash val="solid"/>
          </a:ln>
        </p:spPr>
      </p:sp>
      <p:sp>
        <p:nvSpPr>
          <p:cNvPr id="10" name="Text 6"/>
          <p:cNvSpPr txBox="1"/>
          <p:nvPr/>
        </p:nvSpPr>
        <p:spPr>
          <a:xfrm>
            <a:off x="731520" y="5623560"/>
            <a:ext cx="10698480" cy="566928"/>
          </a:xfrm>
          <a:prstGeom prst="rect">
            <a:avLst/>
          </a:prstGeom>
          <a:noFill/>
          <a:ln/>
        </p:spPr>
        <p:txBody>
          <a:bodyPr wrap="square" lIns="0" tIns="0" rIns="0" bIns="0" rtlCol="0" anchor="ctr"/>
          <a:lstStyle/>
          <a:p>
            <a:pPr indent="0" marL="0">
              <a:buNone/>
            </a:pPr>
            <a:r>
              <a:rPr lang="en-US" sz="1500" b="1" dirty="0">
                <a:solidFill>
                  <a:srgbClr val="FFFFFF"/>
                </a:solidFill>
              </a:rPr>
              <a:t>Cada componente en serie resta; el componente global en serie se vuelve el techo</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Espectro de topologías</a:t>
            </a:r>
            <a:endParaRPr lang="en-US" sz="2800" dirty="0"/>
          </a:p>
        </p:txBody>
      </p:sp>
      <p:sp>
        <p:nvSpPr>
          <p:cNvPr id="3" name="Shape 1"/>
          <p:cNvSpPr/>
          <p:nvPr/>
        </p:nvSpPr>
        <p:spPr>
          <a:xfrm>
            <a:off x="548640" y="1371600"/>
            <a:ext cx="2560320" cy="822960"/>
          </a:xfrm>
          <a:prstGeom prst="roundRect">
            <a:avLst>
              <a:gd name="adj" fmla="val 8889"/>
            </a:avLst>
          </a:prstGeom>
          <a:solidFill>
            <a:srgbClr val="F2F4F6"/>
          </a:solidFill>
          <a:ln w="12700">
            <a:solidFill>
              <a:srgbClr val="1F6F9F"/>
            </a:solidFill>
            <a:prstDash val="solid"/>
          </a:ln>
        </p:spPr>
      </p:sp>
      <p:sp>
        <p:nvSpPr>
          <p:cNvPr id="4" name="Text 2"/>
          <p:cNvSpPr txBox="1"/>
          <p:nvPr/>
        </p:nvSpPr>
        <p:spPr>
          <a:xfrm>
            <a:off x="548640" y="1371600"/>
            <a:ext cx="2560320" cy="822960"/>
          </a:xfrm>
          <a:prstGeom prst="rect">
            <a:avLst/>
          </a:prstGeom>
          <a:noFill/>
          <a:ln/>
        </p:spPr>
        <p:txBody>
          <a:bodyPr wrap="square" lIns="635" tIns="635" rIns="635" bIns="635" rtlCol="0" anchor="ctr"/>
          <a:lstStyle/>
          <a:p>
            <a:pPr algn="ctr" indent="0" marL="0">
              <a:buNone/>
            </a:pPr>
            <a:r>
              <a:rPr lang="en-US" sz="1500" b="1" dirty="0">
                <a:solidFill>
                  <a:srgbClr val="1B1F24"/>
                </a:solidFill>
              </a:rPr>
              <a:t>Zona única</a:t>
            </a:r>
            <a:endParaRPr lang="en-US" sz="1500" dirty="0"/>
          </a:p>
        </p:txBody>
      </p:sp>
      <p:sp>
        <p:nvSpPr>
          <p:cNvPr id="5" name="Text 3"/>
          <p:cNvSpPr txBox="1"/>
          <p:nvPr/>
        </p:nvSpPr>
        <p:spPr>
          <a:xfrm>
            <a:off x="548640" y="2286000"/>
            <a:ext cx="2560320" cy="640080"/>
          </a:xfrm>
          <a:prstGeom prst="rect">
            <a:avLst/>
          </a:prstGeom>
          <a:noFill/>
          <a:ln/>
        </p:spPr>
        <p:txBody>
          <a:bodyPr wrap="square" lIns="0" tIns="0" rIns="0" bIns="0" rtlCol="0" anchor="ctr"/>
          <a:lstStyle/>
          <a:p>
            <a:pPr algn="ctr" indent="0" marL="0">
              <a:buNone/>
            </a:pPr>
            <a:r>
              <a:rPr lang="en-US" sz="1300" dirty="0">
                <a:solidFill>
                  <a:srgbClr val="1B1F24"/>
                </a:solidFill>
              </a:rPr>
              <a:t>1 zona · 1 región</a:t>
            </a:r>
            <a:endParaRPr lang="en-US" sz="1300" dirty="0"/>
          </a:p>
        </p:txBody>
      </p:sp>
      <p:sp>
        <p:nvSpPr>
          <p:cNvPr id="6" name="Text 4"/>
          <p:cNvSpPr txBox="1"/>
          <p:nvPr/>
        </p:nvSpPr>
        <p:spPr>
          <a:xfrm>
            <a:off x="548640" y="2926080"/>
            <a:ext cx="2560320" cy="822960"/>
          </a:xfrm>
          <a:prstGeom prst="rect">
            <a:avLst/>
          </a:prstGeom>
          <a:noFill/>
          <a:ln/>
        </p:spPr>
        <p:txBody>
          <a:bodyPr wrap="square" lIns="0" tIns="0" rIns="0" bIns="0" rtlCol="0" anchor="ctr"/>
          <a:lstStyle/>
          <a:p>
            <a:pPr algn="ctr" indent="0" marL="0">
              <a:buNone/>
            </a:pPr>
            <a:r>
              <a:rPr lang="en-US" sz="1300" dirty="0">
                <a:solidFill>
                  <a:srgbClr val="1B1F24"/>
                </a:solidFill>
              </a:rPr>
              <a:t>Fallas de host; no de zona</a:t>
            </a:r>
            <a:endParaRPr lang="en-US" sz="1300" dirty="0"/>
          </a:p>
        </p:txBody>
      </p:sp>
      <p:sp>
        <p:nvSpPr>
          <p:cNvPr id="7" name="Text 5"/>
          <p:cNvSpPr txBox="1"/>
          <p:nvPr/>
        </p:nvSpPr>
        <p:spPr>
          <a:xfrm>
            <a:off x="548640" y="3749040"/>
            <a:ext cx="2560320" cy="457200"/>
          </a:xfrm>
          <a:prstGeom prst="rect">
            <a:avLst/>
          </a:prstGeom>
          <a:noFill/>
          <a:ln/>
        </p:spPr>
        <p:txBody>
          <a:bodyPr wrap="square" lIns="0" tIns="0" rIns="0" bIns="0" rtlCol="0" anchor="ctr"/>
          <a:lstStyle/>
          <a:p>
            <a:pPr algn="ctr" indent="0" marL="0">
              <a:buNone/>
            </a:pPr>
            <a:r>
              <a:rPr lang="en-US" sz="1800" b="1" dirty="0">
                <a:solidFill>
                  <a:srgbClr val="D98E2B"/>
                </a:solidFill>
              </a:rPr>
              <a:t>$</a:t>
            </a:r>
            <a:endParaRPr lang="en-US" sz="1800" dirty="0"/>
          </a:p>
        </p:txBody>
      </p:sp>
      <p:sp>
        <p:nvSpPr>
          <p:cNvPr id="8" name="Shape 6"/>
          <p:cNvSpPr/>
          <p:nvPr/>
        </p:nvSpPr>
        <p:spPr>
          <a:xfrm>
            <a:off x="3108960" y="1783080"/>
            <a:ext cx="256032" cy="914"/>
          </a:xfrm>
          <a:prstGeom prst="line">
            <a:avLst/>
          </a:prstGeom>
          <a:noFill/>
          <a:ln w="19050">
            <a:solidFill>
              <a:srgbClr val="7A8794"/>
            </a:solidFill>
            <a:prstDash val="solid"/>
            <a:tailEnd type="triangle"/>
          </a:ln>
        </p:spPr>
      </p:sp>
      <p:sp>
        <p:nvSpPr>
          <p:cNvPr id="9" name="Shape 7"/>
          <p:cNvSpPr/>
          <p:nvPr/>
        </p:nvSpPr>
        <p:spPr>
          <a:xfrm>
            <a:off x="3364992" y="1371600"/>
            <a:ext cx="2560320" cy="822960"/>
          </a:xfrm>
          <a:prstGeom prst="roundRect">
            <a:avLst>
              <a:gd name="adj" fmla="val 8889"/>
            </a:avLst>
          </a:prstGeom>
          <a:solidFill>
            <a:srgbClr val="DCEAF4"/>
          </a:solidFill>
          <a:ln w="12700">
            <a:solidFill>
              <a:srgbClr val="1F6F9F"/>
            </a:solidFill>
            <a:prstDash val="solid"/>
          </a:ln>
        </p:spPr>
      </p:sp>
      <p:sp>
        <p:nvSpPr>
          <p:cNvPr id="10" name="Text 8"/>
          <p:cNvSpPr txBox="1"/>
          <p:nvPr/>
        </p:nvSpPr>
        <p:spPr>
          <a:xfrm>
            <a:off x="3364992" y="1371600"/>
            <a:ext cx="2560320" cy="822960"/>
          </a:xfrm>
          <a:prstGeom prst="rect">
            <a:avLst/>
          </a:prstGeom>
          <a:noFill/>
          <a:ln/>
        </p:spPr>
        <p:txBody>
          <a:bodyPr wrap="square" lIns="635" tIns="635" rIns="635" bIns="635" rtlCol="0" anchor="ctr"/>
          <a:lstStyle/>
          <a:p>
            <a:pPr algn="ctr" indent="0" marL="0">
              <a:buNone/>
            </a:pPr>
            <a:r>
              <a:rPr lang="en-US" sz="1500" b="1" dirty="0">
                <a:solidFill>
                  <a:srgbClr val="1B1F24"/>
                </a:solidFill>
              </a:rPr>
              <a:t>Multizona</a:t>
            </a:r>
            <a:endParaRPr lang="en-US" sz="1500" dirty="0"/>
          </a:p>
        </p:txBody>
      </p:sp>
      <p:sp>
        <p:nvSpPr>
          <p:cNvPr id="11" name="Text 9"/>
          <p:cNvSpPr txBox="1"/>
          <p:nvPr/>
        </p:nvSpPr>
        <p:spPr>
          <a:xfrm>
            <a:off x="3364992" y="2286000"/>
            <a:ext cx="2560320" cy="640080"/>
          </a:xfrm>
          <a:prstGeom prst="rect">
            <a:avLst/>
          </a:prstGeom>
          <a:noFill/>
          <a:ln/>
        </p:spPr>
        <p:txBody>
          <a:bodyPr wrap="square" lIns="0" tIns="0" rIns="0" bIns="0" rtlCol="0" anchor="ctr"/>
          <a:lstStyle/>
          <a:p>
            <a:pPr algn="ctr" indent="0" marL="0">
              <a:buNone/>
            </a:pPr>
            <a:r>
              <a:rPr lang="en-US" sz="1300" dirty="0">
                <a:solidFill>
                  <a:srgbClr val="1B1F24"/>
                </a:solidFill>
              </a:rPr>
              <a:t>≥ 2 zonas · 1 región</a:t>
            </a:r>
            <a:endParaRPr lang="en-US" sz="1300" dirty="0"/>
          </a:p>
        </p:txBody>
      </p:sp>
      <p:sp>
        <p:nvSpPr>
          <p:cNvPr id="12" name="Text 10"/>
          <p:cNvSpPr txBox="1"/>
          <p:nvPr/>
        </p:nvSpPr>
        <p:spPr>
          <a:xfrm>
            <a:off x="3364992" y="2926080"/>
            <a:ext cx="2560320" cy="822960"/>
          </a:xfrm>
          <a:prstGeom prst="rect">
            <a:avLst/>
          </a:prstGeom>
          <a:noFill/>
          <a:ln/>
        </p:spPr>
        <p:txBody>
          <a:bodyPr wrap="square" lIns="0" tIns="0" rIns="0" bIns="0" rtlCol="0" anchor="ctr"/>
          <a:lstStyle/>
          <a:p>
            <a:pPr algn="ctr" indent="0" marL="0">
              <a:buNone/>
            </a:pPr>
            <a:r>
              <a:rPr lang="en-US" sz="1300" dirty="0">
                <a:solidFill>
                  <a:srgbClr val="1B1F24"/>
                </a:solidFill>
              </a:rPr>
              <a:t>Falla de zona; no de región</a:t>
            </a:r>
            <a:endParaRPr lang="en-US" sz="1300" dirty="0"/>
          </a:p>
        </p:txBody>
      </p:sp>
      <p:sp>
        <p:nvSpPr>
          <p:cNvPr id="13" name="Text 11"/>
          <p:cNvSpPr txBox="1"/>
          <p:nvPr/>
        </p:nvSpPr>
        <p:spPr>
          <a:xfrm>
            <a:off x="3364992" y="3749040"/>
            <a:ext cx="2560320" cy="457200"/>
          </a:xfrm>
          <a:prstGeom prst="rect">
            <a:avLst/>
          </a:prstGeom>
          <a:noFill/>
          <a:ln/>
        </p:spPr>
        <p:txBody>
          <a:bodyPr wrap="square" lIns="0" tIns="0" rIns="0" bIns="0" rtlCol="0" anchor="ctr"/>
          <a:lstStyle/>
          <a:p>
            <a:pPr algn="ctr" indent="0" marL="0">
              <a:buNone/>
            </a:pPr>
            <a:r>
              <a:rPr lang="en-US" sz="1800" b="1" dirty="0">
                <a:solidFill>
                  <a:srgbClr val="D98E2B"/>
                </a:solidFill>
              </a:rPr>
              <a:t>$$</a:t>
            </a:r>
            <a:endParaRPr lang="en-US" sz="1800" dirty="0"/>
          </a:p>
        </p:txBody>
      </p:sp>
      <p:sp>
        <p:nvSpPr>
          <p:cNvPr id="14" name="Shape 12"/>
          <p:cNvSpPr/>
          <p:nvPr/>
        </p:nvSpPr>
        <p:spPr>
          <a:xfrm>
            <a:off x="5925312" y="1783080"/>
            <a:ext cx="256032" cy="914"/>
          </a:xfrm>
          <a:prstGeom prst="line">
            <a:avLst/>
          </a:prstGeom>
          <a:noFill/>
          <a:ln w="19050">
            <a:solidFill>
              <a:srgbClr val="7A8794"/>
            </a:solidFill>
            <a:prstDash val="solid"/>
            <a:tailEnd type="triangle"/>
          </a:ln>
        </p:spPr>
      </p:sp>
      <p:sp>
        <p:nvSpPr>
          <p:cNvPr id="15" name="Shape 13"/>
          <p:cNvSpPr/>
          <p:nvPr/>
        </p:nvSpPr>
        <p:spPr>
          <a:xfrm>
            <a:off x="6181344" y="1371600"/>
            <a:ext cx="2560320" cy="822960"/>
          </a:xfrm>
          <a:prstGeom prst="roundRect">
            <a:avLst>
              <a:gd name="adj" fmla="val 8889"/>
            </a:avLst>
          </a:prstGeom>
          <a:solidFill>
            <a:srgbClr val="E3F2EF"/>
          </a:solidFill>
          <a:ln w="12700">
            <a:solidFill>
              <a:srgbClr val="1F6F9F"/>
            </a:solidFill>
            <a:prstDash val="solid"/>
          </a:ln>
        </p:spPr>
      </p:sp>
      <p:sp>
        <p:nvSpPr>
          <p:cNvPr id="16" name="Text 14"/>
          <p:cNvSpPr txBox="1"/>
          <p:nvPr/>
        </p:nvSpPr>
        <p:spPr>
          <a:xfrm>
            <a:off x="6181344" y="1371600"/>
            <a:ext cx="2560320" cy="822960"/>
          </a:xfrm>
          <a:prstGeom prst="rect">
            <a:avLst/>
          </a:prstGeom>
          <a:noFill/>
          <a:ln/>
        </p:spPr>
        <p:txBody>
          <a:bodyPr wrap="square" lIns="635" tIns="635" rIns="635" bIns="635" rtlCol="0" anchor="ctr"/>
          <a:lstStyle/>
          <a:p>
            <a:pPr algn="ctr" indent="0" marL="0">
              <a:buNone/>
            </a:pPr>
            <a:r>
              <a:rPr lang="en-US" sz="1500" b="1" dirty="0">
                <a:solidFill>
                  <a:srgbClr val="1B1F24"/>
                </a:solidFill>
              </a:rPr>
              <a:t>Multi-región activo-pasivo</a:t>
            </a:r>
            <a:endParaRPr lang="en-US" sz="1500" dirty="0"/>
          </a:p>
        </p:txBody>
      </p:sp>
      <p:sp>
        <p:nvSpPr>
          <p:cNvPr id="17" name="Text 15"/>
          <p:cNvSpPr txBox="1"/>
          <p:nvPr/>
        </p:nvSpPr>
        <p:spPr>
          <a:xfrm>
            <a:off x="6181344" y="2286000"/>
            <a:ext cx="2560320" cy="640080"/>
          </a:xfrm>
          <a:prstGeom prst="rect">
            <a:avLst/>
          </a:prstGeom>
          <a:noFill/>
          <a:ln/>
        </p:spPr>
        <p:txBody>
          <a:bodyPr wrap="square" lIns="0" tIns="0" rIns="0" bIns="0" rtlCol="0" anchor="ctr"/>
          <a:lstStyle/>
          <a:p>
            <a:pPr algn="ctr" indent="0" marL="0">
              <a:buNone/>
            </a:pPr>
            <a:r>
              <a:rPr lang="en-US" sz="1300" dirty="0">
                <a:solidFill>
                  <a:srgbClr val="1B1F24"/>
                </a:solidFill>
              </a:rPr>
              <a:t>Primaria + secundaria en espera</a:t>
            </a:r>
            <a:endParaRPr lang="en-US" sz="1300" dirty="0"/>
          </a:p>
        </p:txBody>
      </p:sp>
      <p:sp>
        <p:nvSpPr>
          <p:cNvPr id="18" name="Text 16"/>
          <p:cNvSpPr txBox="1"/>
          <p:nvPr/>
        </p:nvSpPr>
        <p:spPr>
          <a:xfrm>
            <a:off x="6181344" y="2926080"/>
            <a:ext cx="2560320" cy="822960"/>
          </a:xfrm>
          <a:prstGeom prst="rect">
            <a:avLst/>
          </a:prstGeom>
          <a:noFill/>
          <a:ln/>
        </p:spPr>
        <p:txBody>
          <a:bodyPr wrap="square" lIns="0" tIns="0" rIns="0" bIns="0" rtlCol="0" anchor="ctr"/>
          <a:lstStyle/>
          <a:p>
            <a:pPr algn="ctr" indent="0" marL="0">
              <a:buNone/>
            </a:pPr>
            <a:r>
              <a:rPr lang="en-US" sz="1300" dirty="0">
                <a:solidFill>
                  <a:srgbClr val="1B1F24"/>
                </a:solidFill>
              </a:rPr>
              <a:t>Falla de región, con RTO de minutos a horas</a:t>
            </a:r>
            <a:endParaRPr lang="en-US" sz="1300" dirty="0"/>
          </a:p>
        </p:txBody>
      </p:sp>
      <p:sp>
        <p:nvSpPr>
          <p:cNvPr id="19" name="Text 17"/>
          <p:cNvSpPr txBox="1"/>
          <p:nvPr/>
        </p:nvSpPr>
        <p:spPr>
          <a:xfrm>
            <a:off x="6181344" y="3749040"/>
            <a:ext cx="2560320" cy="457200"/>
          </a:xfrm>
          <a:prstGeom prst="rect">
            <a:avLst/>
          </a:prstGeom>
          <a:noFill/>
          <a:ln/>
        </p:spPr>
        <p:txBody>
          <a:bodyPr wrap="square" lIns="0" tIns="0" rIns="0" bIns="0" rtlCol="0" anchor="ctr"/>
          <a:lstStyle/>
          <a:p>
            <a:pPr algn="ctr" indent="0" marL="0">
              <a:buNone/>
            </a:pPr>
            <a:r>
              <a:rPr lang="en-US" sz="1800" b="1" dirty="0">
                <a:solidFill>
                  <a:srgbClr val="D98E2B"/>
                </a:solidFill>
              </a:rPr>
              <a:t>$$–$$$</a:t>
            </a:r>
            <a:endParaRPr lang="en-US" sz="1800" dirty="0"/>
          </a:p>
        </p:txBody>
      </p:sp>
      <p:sp>
        <p:nvSpPr>
          <p:cNvPr id="20" name="Shape 18"/>
          <p:cNvSpPr/>
          <p:nvPr/>
        </p:nvSpPr>
        <p:spPr>
          <a:xfrm>
            <a:off x="8741664" y="1783080"/>
            <a:ext cx="256032" cy="914"/>
          </a:xfrm>
          <a:prstGeom prst="line">
            <a:avLst/>
          </a:prstGeom>
          <a:noFill/>
          <a:ln w="19050">
            <a:solidFill>
              <a:srgbClr val="7A8794"/>
            </a:solidFill>
            <a:prstDash val="solid"/>
            <a:tailEnd type="triangle"/>
          </a:ln>
        </p:spPr>
      </p:sp>
      <p:sp>
        <p:nvSpPr>
          <p:cNvPr id="21" name="Shape 19"/>
          <p:cNvSpPr/>
          <p:nvPr/>
        </p:nvSpPr>
        <p:spPr>
          <a:xfrm>
            <a:off x="8997696" y="1371600"/>
            <a:ext cx="2560320" cy="822960"/>
          </a:xfrm>
          <a:prstGeom prst="roundRect">
            <a:avLst>
              <a:gd name="adj" fmla="val 8889"/>
            </a:avLst>
          </a:prstGeom>
          <a:solidFill>
            <a:srgbClr val="FBEFD9"/>
          </a:solidFill>
          <a:ln w="12700">
            <a:solidFill>
              <a:srgbClr val="1F6F9F"/>
            </a:solidFill>
            <a:prstDash val="solid"/>
          </a:ln>
        </p:spPr>
      </p:sp>
      <p:sp>
        <p:nvSpPr>
          <p:cNvPr id="22" name="Text 20"/>
          <p:cNvSpPr txBox="1"/>
          <p:nvPr/>
        </p:nvSpPr>
        <p:spPr>
          <a:xfrm>
            <a:off x="8997696" y="1371600"/>
            <a:ext cx="2560320" cy="822960"/>
          </a:xfrm>
          <a:prstGeom prst="rect">
            <a:avLst/>
          </a:prstGeom>
          <a:noFill/>
          <a:ln/>
        </p:spPr>
        <p:txBody>
          <a:bodyPr wrap="square" lIns="635" tIns="635" rIns="635" bIns="635" rtlCol="0" anchor="ctr"/>
          <a:lstStyle/>
          <a:p>
            <a:pPr algn="ctr" indent="0" marL="0">
              <a:buNone/>
            </a:pPr>
            <a:r>
              <a:rPr lang="en-US" sz="1500" b="1" dirty="0">
                <a:solidFill>
                  <a:srgbClr val="1B1F24"/>
                </a:solidFill>
              </a:rPr>
              <a:t>Multi-región activo-activo</a:t>
            </a:r>
            <a:endParaRPr lang="en-US" sz="1500" dirty="0"/>
          </a:p>
        </p:txBody>
      </p:sp>
      <p:sp>
        <p:nvSpPr>
          <p:cNvPr id="23" name="Text 21"/>
          <p:cNvSpPr txBox="1"/>
          <p:nvPr/>
        </p:nvSpPr>
        <p:spPr>
          <a:xfrm>
            <a:off x="8997696" y="2286000"/>
            <a:ext cx="2560320" cy="640080"/>
          </a:xfrm>
          <a:prstGeom prst="rect">
            <a:avLst/>
          </a:prstGeom>
          <a:noFill/>
          <a:ln/>
        </p:spPr>
        <p:txBody>
          <a:bodyPr wrap="square" lIns="0" tIns="0" rIns="0" bIns="0" rtlCol="0" anchor="ctr"/>
          <a:lstStyle/>
          <a:p>
            <a:pPr algn="ctr" indent="0" marL="0">
              <a:buNone/>
            </a:pPr>
            <a:r>
              <a:rPr lang="en-US" sz="1300" dirty="0">
                <a:solidFill>
                  <a:srgbClr val="1B1F24"/>
                </a:solidFill>
              </a:rPr>
              <a:t>≥ 2 regiones con tráfico</a:t>
            </a:r>
            <a:endParaRPr lang="en-US" sz="1300" dirty="0"/>
          </a:p>
        </p:txBody>
      </p:sp>
      <p:sp>
        <p:nvSpPr>
          <p:cNvPr id="24" name="Text 22"/>
          <p:cNvSpPr txBox="1"/>
          <p:nvPr/>
        </p:nvSpPr>
        <p:spPr>
          <a:xfrm>
            <a:off x="8997696" y="2926080"/>
            <a:ext cx="2560320" cy="822960"/>
          </a:xfrm>
          <a:prstGeom prst="rect">
            <a:avLst/>
          </a:prstGeom>
          <a:noFill/>
          <a:ln/>
        </p:spPr>
        <p:txBody>
          <a:bodyPr wrap="square" lIns="0" tIns="0" rIns="0" bIns="0" rtlCol="0" anchor="ctr"/>
          <a:lstStyle/>
          <a:p>
            <a:pPr algn="ctr" indent="0" marL="0">
              <a:buNone/>
            </a:pPr>
            <a:r>
              <a:rPr lang="en-US" sz="1300" dirty="0">
                <a:solidFill>
                  <a:srgbClr val="1B1F24"/>
                </a:solidFill>
              </a:rPr>
              <a:t>Falla de región con RTO cercano a cero</a:t>
            </a:r>
            <a:endParaRPr lang="en-US" sz="1300" dirty="0"/>
          </a:p>
        </p:txBody>
      </p:sp>
      <p:sp>
        <p:nvSpPr>
          <p:cNvPr id="25" name="Text 23"/>
          <p:cNvSpPr txBox="1"/>
          <p:nvPr/>
        </p:nvSpPr>
        <p:spPr>
          <a:xfrm>
            <a:off x="8997696" y="3749040"/>
            <a:ext cx="2560320" cy="457200"/>
          </a:xfrm>
          <a:prstGeom prst="rect">
            <a:avLst/>
          </a:prstGeom>
          <a:noFill/>
          <a:ln/>
        </p:spPr>
        <p:txBody>
          <a:bodyPr wrap="square" lIns="0" tIns="0" rIns="0" bIns="0" rtlCol="0" anchor="ctr"/>
          <a:lstStyle/>
          <a:p>
            <a:pPr algn="ctr" indent="0" marL="0">
              <a:buNone/>
            </a:pPr>
            <a:r>
              <a:rPr lang="en-US" sz="1800" b="1" dirty="0">
                <a:solidFill>
                  <a:srgbClr val="D98E2B"/>
                </a:solidFill>
              </a:rPr>
              <a:t>$$$</a:t>
            </a:r>
            <a:endParaRPr lang="en-US" sz="1800" dirty="0"/>
          </a:p>
        </p:txBody>
      </p:sp>
      <p:sp>
        <p:nvSpPr>
          <p:cNvPr id="26" name="Text 24"/>
          <p:cNvSpPr txBox="1"/>
          <p:nvPr/>
        </p:nvSpPr>
        <p:spPr>
          <a:xfrm>
            <a:off x="548640" y="4434840"/>
            <a:ext cx="11064240" cy="118872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Multizona es la línea base razonable para producción; multi-región se justifica por RTO, regulación o riesgo del negocio</a:t>
            </a:r>
            <a:endParaRPr lang="en-US" sz="1500" dirty="0"/>
          </a:p>
          <a:p>
            <a:pPr marL="342900" indent="-342900">
              <a:spcAft>
                <a:spcPts val="600"/>
              </a:spcAft>
              <a:buSzPct val="100000"/>
              <a:buChar char="•"/>
            </a:pPr>
            <a:r>
              <a:rPr lang="en-US" sz="1500" dirty="0">
                <a:solidFill>
                  <a:schemeClr val="tx1"/>
                </a:solidFill>
              </a:rPr>
              <a:t>Activo-activo exige que los datos con estado se repliquen y que los clientes toleren respuestas desde cualquier región</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Estrategias de recuperación ante desastres</a:t>
            </a:r>
            <a:endParaRPr lang="en-US" sz="2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103120"/>
                <a:gridCol w="1737360"/>
                <a:gridCol w="2834640"/>
                <a:gridCol w="1463040"/>
                <a:gridCol w="1554480"/>
                <a:gridCol w="1371600"/>
              </a:tblGrid>
              <a:tr h="0">
                <a:tc>
                  <a:txBody>
                    <a:bodyPr/>
                    <a:lstStyle/>
                    <a:p>
                      <a:pPr indent="0" marL="0">
                        <a:buNone/>
                      </a:pPr>
                      <a:r>
                        <a:rPr lang="en-US" sz="1300" b="1" dirty="0">
                          <a:solidFill>
                            <a:srgbClr val="FFFFFF"/>
                          </a:solidFill>
                        </a:rPr>
                        <a:t>Estrategia (AWS)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Equivalente (Microsoft)</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En la región secundaria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RTO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RPO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Costo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300" dirty="0">
                          <a:solidFill>
                            <a:srgbClr val="1B1F24"/>
                          </a:solidFill>
                        </a:rPr>
                        <a:t>Backup and restore</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Hot/cold</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Solo copias de datos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Horas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Horas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Bajo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Pilot light</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Datos replicados; cómputo apagado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Decenas de minutos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Minutos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Bajo-medio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24"/>
                          </a:solidFill>
                        </a:rPr>
                        <a:t>Warm standby</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Hot/warm</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Despliegue mínimo funcionando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Minutos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Segundos-minutos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Medio-alto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Multi-site active/active</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Hot/hot</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Despliegue completo con tráfico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Cercano a cero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Cercano a cero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Alto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3749040"/>
            <a:ext cx="11064240" cy="182880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Microsoft da rangos aproximados para Foundry: hot/hot en minutos; hot/warm de 30 min a 2 h; hot/cold de 2 a 8 h</a:t>
            </a:r>
            <a:endParaRPr lang="en-US" sz="1500" dirty="0"/>
          </a:p>
          <a:p>
            <a:pPr marL="342900" indent="-342900">
              <a:spcAft>
                <a:spcPts val="600"/>
              </a:spcAft>
              <a:buSzPct val="100000"/>
              <a:buChar char="•"/>
            </a:pPr>
            <a:r>
              <a:rPr lang="en-US" sz="1500" dirty="0">
                <a:solidFill>
                  <a:schemeClr val="tx1"/>
                </a:solidFill>
              </a:rPr>
              <a:t>En LLM gestionados, el «warm standby» es barato: un despliegue de pago por token sin tráfico no factura tokens</a:t>
            </a:r>
            <a:endParaRPr lang="en-US" sz="1500" dirty="0"/>
          </a:p>
          <a:p>
            <a:pPr marL="342900" indent="-342900">
              <a:spcAft>
                <a:spcPts val="600"/>
              </a:spcAft>
              <a:buSzPct val="100000"/>
              <a:buChar char="•"/>
            </a:pPr>
            <a:r>
              <a:rPr lang="en-US" sz="1500" dirty="0">
                <a:solidFill>
                  <a:schemeClr val="tx1"/>
                </a:solidFill>
              </a:rPr>
              <a:t>En LLM autogestionados, la GPU en espera se paga por hora: el pilot light deja la GPU apagada y paga con arranque en frío</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¿Qué hay que replicar en un sistema LLM?</a:t>
            </a:r>
            <a:endParaRPr lang="en-US" sz="2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017520"/>
                <a:gridCol w="1645920"/>
                <a:gridCol w="4754880"/>
                <a:gridCol w="1645920"/>
              </a:tblGrid>
              <a:tr h="0">
                <a:tc>
                  <a:txBody>
                    <a:bodyPr/>
                    <a:lstStyle/>
                    <a:p>
                      <a:pPr indent="0" marL="0">
                        <a:buNone/>
                      </a:pPr>
                      <a:r>
                        <a:rPr lang="en-US" sz="1200" b="1" dirty="0">
                          <a:solidFill>
                            <a:srgbClr val="FFFFFF"/>
                          </a:solidFill>
                        </a:rPr>
                        <a:t>Componente</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200" b="1" dirty="0">
                          <a:solidFill>
                            <a:srgbClr val="FFFFFF"/>
                          </a:solidFill>
                        </a:rPr>
                        <a:t>Estado</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200" b="1" dirty="0">
                          <a:solidFill>
                            <a:srgbClr val="FFFFFF"/>
                          </a:solidFill>
                        </a:rPr>
                        <a:t>Estrategia de réplica</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200" b="1" dirty="0">
                          <a:solidFill>
                            <a:srgbClr val="FFFFFF"/>
                          </a:solidFill>
                        </a:rPr>
                        <a:t>RPO típico</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200" dirty="0">
                          <a:solidFill>
                            <a:srgbClr val="1B1F24"/>
                          </a:solidFill>
                        </a:rPr>
                        <a:t>Gateway, backend, workers</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Sin estado</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Desplegar en cada región desde el mismo artefacto (IaC + imagen)</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No aplica</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200" dirty="0">
                          <a:solidFill>
                            <a:srgbClr val="1B1F24"/>
                          </a:solidFill>
                        </a:rPr>
                        <a:t>Configuración: prompts de sistema, guardrails, versión del modelo</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Estado de control</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Versionar en Git y desplegar a todas las regiones a la vez</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Cero</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F24"/>
                          </a:solidFill>
                        </a:rPr>
                        <a:t>Conversaciones y memoria de agentes</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Estado de usuario</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Base de datos con réplica entre regiones o aceptar pérdida</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Segundos a horas</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200" dirty="0">
                          <a:solidFill>
                            <a:srgbClr val="1B1F24"/>
                          </a:solidFill>
                        </a:rPr>
                        <a:t>Documentos e índice vectorial (RAG)</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Estado derivado</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Replicar documentos; reconstruir o replicar el índice</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Horas</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F24"/>
                          </a:solidFill>
                        </a:rPr>
                        <a:t>Modelo gestionado</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Capacidad del proveedor</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Despliegue y cuota en cada región; misma versión</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No aplica</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200" dirty="0">
                          <a:solidFill>
                            <a:srgbClr val="1B1F24"/>
                          </a:solidFill>
                        </a:rPr>
                        <a:t>Modelo autogestionado</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Pesos + GPU</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Registro de imágenes replicado; capacidad de GPU reservada o verificada</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No aplica</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F24"/>
                          </a:solidFill>
                        </a:rPr>
                        <a:t>Secretos e identidades</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Estado de control</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Gestor de secretos con réplica; identidades de carga por región</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Cero</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Particularidades de los LLM en multi-región</a:t>
            </a:r>
            <a:endParaRPr lang="en-US" sz="2800" dirty="0"/>
          </a:p>
        </p:txBody>
      </p:sp>
      <p:sp>
        <p:nvSpPr>
          <p:cNvPr id="3" name="Shape 1"/>
          <p:cNvSpPr/>
          <p:nvPr/>
        </p:nvSpPr>
        <p:spPr>
          <a:xfrm>
            <a:off x="548640" y="1463040"/>
            <a:ext cx="640080" cy="640080"/>
          </a:xfrm>
          <a:prstGeom prst="ellipse">
            <a:avLst/>
          </a:prstGeom>
          <a:solidFill>
            <a:srgbClr val="1F6F9F"/>
          </a:solidFill>
          <a:ln w="12700">
            <a:solidFill>
              <a:srgbClr val="1F6F9F"/>
            </a:solidFill>
            <a:prstDash val="solid"/>
          </a:ln>
        </p:spPr>
      </p:sp>
      <p:sp>
        <p:nvSpPr>
          <p:cNvPr id="4" name="Text 2"/>
          <p:cNvSpPr txBox="1"/>
          <p:nvPr/>
        </p:nvSpPr>
        <p:spPr>
          <a:xfrm>
            <a:off x="548640" y="14630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5" name="Text 3"/>
          <p:cNvSpPr txBox="1"/>
          <p:nvPr/>
        </p:nvSpPr>
        <p:spPr>
          <a:xfrm>
            <a:off x="1371600" y="1325880"/>
            <a:ext cx="4572000" cy="411480"/>
          </a:xfrm>
          <a:prstGeom prst="rect">
            <a:avLst/>
          </a:prstGeom>
          <a:noFill/>
          <a:ln/>
        </p:spPr>
        <p:txBody>
          <a:bodyPr wrap="square" lIns="0" tIns="0" rIns="0" bIns="0" rtlCol="0" anchor="ctr"/>
          <a:lstStyle/>
          <a:p>
            <a:pPr algn="l" indent="0" marL="0">
              <a:buNone/>
            </a:pPr>
            <a:r>
              <a:rPr lang="en-US" sz="1500" b="1" dirty="0">
                <a:solidFill>
                  <a:srgbClr val="13324B"/>
                </a:solidFill>
              </a:rPr>
              <a:t>Disponibilidad del modelo por región</a:t>
            </a:r>
            <a:endParaRPr lang="en-US" sz="1500" dirty="0"/>
          </a:p>
        </p:txBody>
      </p:sp>
      <p:sp>
        <p:nvSpPr>
          <p:cNvPr id="6" name="Text 4"/>
          <p:cNvSpPr txBox="1"/>
          <p:nvPr/>
        </p:nvSpPr>
        <p:spPr>
          <a:xfrm>
            <a:off x="1371600" y="1737360"/>
            <a:ext cx="4572000" cy="822960"/>
          </a:xfrm>
          <a:prstGeom prst="rect">
            <a:avLst/>
          </a:prstGeom>
          <a:noFill/>
          <a:ln/>
        </p:spPr>
        <p:txBody>
          <a:bodyPr wrap="square" lIns="0" tIns="0" rIns="0" bIns="0" rtlCol="0" anchor="t"/>
          <a:lstStyle/>
          <a:p>
            <a:pPr algn="l" indent="0" marL="0">
              <a:buNone/>
            </a:pPr>
            <a:r>
              <a:rPr lang="en-US" sz="1300" dirty="0">
                <a:solidFill>
                  <a:srgbClr val="1B1F24"/>
                </a:solidFill>
              </a:rPr>
              <a:t>No todos los modelos ni versiones existen en todas las regiones. Verifique antes de elegir la secundaria</a:t>
            </a:r>
            <a:endParaRPr lang="en-US" sz="1300" dirty="0"/>
          </a:p>
        </p:txBody>
      </p:sp>
      <p:sp>
        <p:nvSpPr>
          <p:cNvPr id="7" name="Shape 5"/>
          <p:cNvSpPr/>
          <p:nvPr/>
        </p:nvSpPr>
        <p:spPr>
          <a:xfrm>
            <a:off x="6172200" y="1463040"/>
            <a:ext cx="640080" cy="640080"/>
          </a:xfrm>
          <a:prstGeom prst="ellipse">
            <a:avLst/>
          </a:prstGeom>
          <a:solidFill>
            <a:srgbClr val="2E9C8A"/>
          </a:solidFill>
          <a:ln w="12700">
            <a:solidFill>
              <a:srgbClr val="2E9C8A"/>
            </a:solidFill>
            <a:prstDash val="solid"/>
          </a:ln>
        </p:spPr>
      </p:sp>
      <p:sp>
        <p:nvSpPr>
          <p:cNvPr id="8" name="Text 6"/>
          <p:cNvSpPr txBox="1"/>
          <p:nvPr/>
        </p:nvSpPr>
        <p:spPr>
          <a:xfrm>
            <a:off x="6172200" y="14630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9" name="Text 7"/>
          <p:cNvSpPr txBox="1"/>
          <p:nvPr/>
        </p:nvSpPr>
        <p:spPr>
          <a:xfrm>
            <a:off x="6995160" y="1325880"/>
            <a:ext cx="4572000" cy="411480"/>
          </a:xfrm>
          <a:prstGeom prst="rect">
            <a:avLst/>
          </a:prstGeom>
          <a:noFill/>
          <a:ln/>
        </p:spPr>
        <p:txBody>
          <a:bodyPr wrap="square" lIns="0" tIns="0" rIns="0" bIns="0" rtlCol="0" anchor="ctr"/>
          <a:lstStyle/>
          <a:p>
            <a:pPr algn="l" indent="0" marL="0">
              <a:buNone/>
            </a:pPr>
            <a:r>
              <a:rPr lang="en-US" sz="1500" b="1" dirty="0">
                <a:solidFill>
                  <a:srgbClr val="13324B"/>
                </a:solidFill>
              </a:rPr>
              <a:t>Cuota compartida</a:t>
            </a:r>
            <a:endParaRPr lang="en-US" sz="1500" dirty="0"/>
          </a:p>
        </p:txBody>
      </p:sp>
      <p:sp>
        <p:nvSpPr>
          <p:cNvPr id="10" name="Text 8"/>
          <p:cNvSpPr txBox="1"/>
          <p:nvPr/>
        </p:nvSpPr>
        <p:spPr>
          <a:xfrm>
            <a:off x="6995160" y="1737360"/>
            <a:ext cx="4572000" cy="822960"/>
          </a:xfrm>
          <a:prstGeom prst="rect">
            <a:avLst/>
          </a:prstGeom>
          <a:noFill/>
          <a:ln/>
        </p:spPr>
        <p:txBody>
          <a:bodyPr wrap="square" lIns="0" tIns="0" rIns="0" bIns="0" rtlCol="0" anchor="t"/>
          <a:lstStyle/>
          <a:p>
            <a:pPr algn="l" indent="0" marL="0">
              <a:buNone/>
            </a:pPr>
            <a:r>
              <a:rPr lang="en-US" sz="1300" dirty="0">
                <a:solidFill>
                  <a:srgbClr val="1B1F24"/>
                </a:solidFill>
              </a:rPr>
              <a:t>En Foundry, desde el 7-may-2026, la cuota de Global Standard es por suscripción y se comparte entre regiones</a:t>
            </a:r>
            <a:endParaRPr lang="en-US" sz="1300" dirty="0"/>
          </a:p>
        </p:txBody>
      </p:sp>
      <p:sp>
        <p:nvSpPr>
          <p:cNvPr id="11" name="Shape 9"/>
          <p:cNvSpPr/>
          <p:nvPr/>
        </p:nvSpPr>
        <p:spPr>
          <a:xfrm>
            <a:off x="548640" y="2834640"/>
            <a:ext cx="640080" cy="640080"/>
          </a:xfrm>
          <a:prstGeom prst="ellipse">
            <a:avLst/>
          </a:prstGeom>
          <a:solidFill>
            <a:srgbClr val="D98E2B"/>
          </a:solidFill>
          <a:ln w="12700">
            <a:solidFill>
              <a:srgbClr val="D98E2B"/>
            </a:solidFill>
            <a:prstDash val="solid"/>
          </a:ln>
        </p:spPr>
      </p:sp>
      <p:sp>
        <p:nvSpPr>
          <p:cNvPr id="12" name="Text 10"/>
          <p:cNvSpPr txBox="1"/>
          <p:nvPr/>
        </p:nvSpPr>
        <p:spPr>
          <a:xfrm>
            <a:off x="548640" y="2834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3" name="Text 11"/>
          <p:cNvSpPr txBox="1"/>
          <p:nvPr/>
        </p:nvSpPr>
        <p:spPr>
          <a:xfrm>
            <a:off x="1371600" y="2697480"/>
            <a:ext cx="4572000" cy="411480"/>
          </a:xfrm>
          <a:prstGeom prst="rect">
            <a:avLst/>
          </a:prstGeom>
          <a:noFill/>
          <a:ln/>
        </p:spPr>
        <p:txBody>
          <a:bodyPr wrap="square" lIns="0" tIns="0" rIns="0" bIns="0" rtlCol="0" anchor="ctr"/>
          <a:lstStyle/>
          <a:p>
            <a:pPr algn="l" indent="0" marL="0">
              <a:buNone/>
            </a:pPr>
            <a:r>
              <a:rPr lang="en-US" sz="1500" b="1" dirty="0">
                <a:solidFill>
                  <a:srgbClr val="13324B"/>
                </a:solidFill>
              </a:rPr>
              <a:t>Misma versión del modelo</a:t>
            </a:r>
            <a:endParaRPr lang="en-US" sz="1500" dirty="0"/>
          </a:p>
        </p:txBody>
      </p:sp>
      <p:sp>
        <p:nvSpPr>
          <p:cNvPr id="14" name="Text 12"/>
          <p:cNvSpPr txBox="1"/>
          <p:nvPr/>
        </p:nvSpPr>
        <p:spPr>
          <a:xfrm>
            <a:off x="1371600" y="3108960"/>
            <a:ext cx="4572000" cy="822960"/>
          </a:xfrm>
          <a:prstGeom prst="rect">
            <a:avLst/>
          </a:prstGeom>
          <a:noFill/>
          <a:ln/>
        </p:spPr>
        <p:txBody>
          <a:bodyPr wrap="square" lIns="0" tIns="0" rIns="0" bIns="0" rtlCol="0" anchor="t"/>
          <a:lstStyle/>
          <a:p>
            <a:pPr algn="l" indent="0" marL="0">
              <a:buNone/>
            </a:pPr>
            <a:r>
              <a:rPr lang="en-US" sz="1300" dirty="0">
                <a:solidFill>
                  <a:srgbClr val="1B1F24"/>
                </a:solidFill>
              </a:rPr>
              <a:t>Conmutar a otra versión cambia las respuestas; la guía de gateways de Azure exige el mismo modelo y versión</a:t>
            </a:r>
            <a:endParaRPr lang="en-US" sz="1300" dirty="0"/>
          </a:p>
        </p:txBody>
      </p:sp>
      <p:sp>
        <p:nvSpPr>
          <p:cNvPr id="15" name="Shape 13"/>
          <p:cNvSpPr/>
          <p:nvPr/>
        </p:nvSpPr>
        <p:spPr>
          <a:xfrm>
            <a:off x="6172200" y="2834640"/>
            <a:ext cx="640080" cy="640080"/>
          </a:xfrm>
          <a:prstGeom prst="ellipse">
            <a:avLst/>
          </a:prstGeom>
          <a:solidFill>
            <a:srgbClr val="B5443A"/>
          </a:solidFill>
          <a:ln w="12700">
            <a:solidFill>
              <a:srgbClr val="B5443A"/>
            </a:solidFill>
            <a:prstDash val="solid"/>
          </a:ln>
        </p:spPr>
      </p:sp>
      <p:sp>
        <p:nvSpPr>
          <p:cNvPr id="16" name="Text 14"/>
          <p:cNvSpPr txBox="1"/>
          <p:nvPr/>
        </p:nvSpPr>
        <p:spPr>
          <a:xfrm>
            <a:off x="6172200" y="2834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17" name="Text 15"/>
          <p:cNvSpPr txBox="1"/>
          <p:nvPr/>
        </p:nvSpPr>
        <p:spPr>
          <a:xfrm>
            <a:off x="6995160" y="2697480"/>
            <a:ext cx="4572000" cy="411480"/>
          </a:xfrm>
          <a:prstGeom prst="rect">
            <a:avLst/>
          </a:prstGeom>
          <a:noFill/>
          <a:ln/>
        </p:spPr>
        <p:txBody>
          <a:bodyPr wrap="square" lIns="0" tIns="0" rIns="0" bIns="0" rtlCol="0" anchor="ctr"/>
          <a:lstStyle/>
          <a:p>
            <a:pPr algn="l" indent="0" marL="0">
              <a:buNone/>
            </a:pPr>
            <a:r>
              <a:rPr lang="en-US" sz="1500" b="1" dirty="0">
                <a:solidFill>
                  <a:srgbClr val="13324B"/>
                </a:solidFill>
              </a:rPr>
              <a:t>Capacidad de GPU escasa</a:t>
            </a:r>
            <a:endParaRPr lang="en-US" sz="1500" dirty="0"/>
          </a:p>
        </p:txBody>
      </p:sp>
      <p:sp>
        <p:nvSpPr>
          <p:cNvPr id="18" name="Text 16"/>
          <p:cNvSpPr txBox="1"/>
          <p:nvPr/>
        </p:nvSpPr>
        <p:spPr>
          <a:xfrm>
            <a:off x="6995160" y="3108960"/>
            <a:ext cx="4572000" cy="822960"/>
          </a:xfrm>
          <a:prstGeom prst="rect">
            <a:avLst/>
          </a:prstGeom>
          <a:noFill/>
          <a:ln/>
        </p:spPr>
        <p:txBody>
          <a:bodyPr wrap="square" lIns="0" tIns="0" rIns="0" bIns="0" rtlCol="0" anchor="t"/>
          <a:lstStyle/>
          <a:p>
            <a:pPr algn="l" indent="0" marL="0">
              <a:buNone/>
            </a:pPr>
            <a:r>
              <a:rPr lang="en-US" sz="1300" dirty="0">
                <a:solidFill>
                  <a:srgbClr val="1B1F24"/>
                </a:solidFill>
              </a:rPr>
              <a:t>En autogestionado, la región secundaria puede no tener GPU disponible cuando se necesita</a:t>
            </a:r>
            <a:endParaRPr lang="en-US" sz="1300" dirty="0"/>
          </a:p>
        </p:txBody>
      </p:sp>
      <p:sp>
        <p:nvSpPr>
          <p:cNvPr id="19" name="Shape 17"/>
          <p:cNvSpPr/>
          <p:nvPr/>
        </p:nvSpPr>
        <p:spPr>
          <a:xfrm>
            <a:off x="548640" y="4206240"/>
            <a:ext cx="640080" cy="640080"/>
          </a:xfrm>
          <a:prstGeom prst="ellipse">
            <a:avLst/>
          </a:prstGeom>
          <a:solidFill>
            <a:srgbClr val="6B5B95"/>
          </a:solidFill>
          <a:ln w="12700">
            <a:solidFill>
              <a:srgbClr val="6B5B95"/>
            </a:solidFill>
            <a:prstDash val="solid"/>
          </a:ln>
        </p:spPr>
      </p:sp>
      <p:sp>
        <p:nvSpPr>
          <p:cNvPr id="20" name="Text 18"/>
          <p:cNvSpPr txBox="1"/>
          <p:nvPr/>
        </p:nvSpPr>
        <p:spPr>
          <a:xfrm>
            <a:off x="548640" y="42062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1" name="Text 19"/>
          <p:cNvSpPr txBox="1"/>
          <p:nvPr/>
        </p:nvSpPr>
        <p:spPr>
          <a:xfrm>
            <a:off x="1371600" y="4069080"/>
            <a:ext cx="4572000" cy="411480"/>
          </a:xfrm>
          <a:prstGeom prst="rect">
            <a:avLst/>
          </a:prstGeom>
          <a:noFill/>
          <a:ln/>
        </p:spPr>
        <p:txBody>
          <a:bodyPr wrap="square" lIns="0" tIns="0" rIns="0" bIns="0" rtlCol="0" anchor="ctr"/>
          <a:lstStyle/>
          <a:p>
            <a:pPr algn="l" indent="0" marL="0">
              <a:buNone/>
            </a:pPr>
            <a:r>
              <a:rPr lang="en-US" sz="1500" b="1" dirty="0">
                <a:solidFill>
                  <a:srgbClr val="13324B"/>
                </a:solidFill>
              </a:rPr>
              <a:t>Arranque en frío</a:t>
            </a:r>
            <a:endParaRPr lang="en-US" sz="1500" dirty="0"/>
          </a:p>
        </p:txBody>
      </p:sp>
      <p:sp>
        <p:nvSpPr>
          <p:cNvPr id="22" name="Text 20"/>
          <p:cNvSpPr txBox="1"/>
          <p:nvPr/>
        </p:nvSpPr>
        <p:spPr>
          <a:xfrm>
            <a:off x="1371600" y="4480560"/>
            <a:ext cx="4572000" cy="822960"/>
          </a:xfrm>
          <a:prstGeom prst="rect">
            <a:avLst/>
          </a:prstGeom>
          <a:noFill/>
          <a:ln/>
        </p:spPr>
        <p:txBody>
          <a:bodyPr wrap="square" lIns="0" tIns="0" rIns="0" bIns="0" rtlCol="0" anchor="t"/>
          <a:lstStyle/>
          <a:p>
            <a:pPr algn="l" indent="0" marL="0">
              <a:buNone/>
            </a:pPr>
            <a:r>
              <a:rPr lang="en-US" sz="1300" dirty="0">
                <a:solidFill>
                  <a:srgbClr val="1B1F24"/>
                </a:solidFill>
              </a:rPr>
              <a:t>Cargar decenas de GB de pesos hace lenta la activación de una secundaria apagada</a:t>
            </a:r>
            <a:endParaRPr lang="en-US" sz="1300" dirty="0"/>
          </a:p>
        </p:txBody>
      </p:sp>
      <p:sp>
        <p:nvSpPr>
          <p:cNvPr id="23" name="Shape 21"/>
          <p:cNvSpPr/>
          <p:nvPr/>
        </p:nvSpPr>
        <p:spPr>
          <a:xfrm>
            <a:off x="6172200" y="4206240"/>
            <a:ext cx="640080" cy="640080"/>
          </a:xfrm>
          <a:prstGeom prst="ellipse">
            <a:avLst/>
          </a:prstGeom>
          <a:solidFill>
            <a:srgbClr val="13324B"/>
          </a:solidFill>
          <a:ln w="12700">
            <a:solidFill>
              <a:srgbClr val="13324B"/>
            </a:solidFill>
            <a:prstDash val="solid"/>
          </a:ln>
        </p:spPr>
      </p:sp>
      <p:sp>
        <p:nvSpPr>
          <p:cNvPr id="24" name="Text 22"/>
          <p:cNvSpPr txBox="1"/>
          <p:nvPr/>
        </p:nvSpPr>
        <p:spPr>
          <a:xfrm>
            <a:off x="6172200" y="42062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25" name="Text 23"/>
          <p:cNvSpPr txBox="1"/>
          <p:nvPr/>
        </p:nvSpPr>
        <p:spPr>
          <a:xfrm>
            <a:off x="6995160" y="4069080"/>
            <a:ext cx="4572000" cy="411480"/>
          </a:xfrm>
          <a:prstGeom prst="rect">
            <a:avLst/>
          </a:prstGeom>
          <a:noFill/>
          <a:ln/>
        </p:spPr>
        <p:txBody>
          <a:bodyPr wrap="square" lIns="0" tIns="0" rIns="0" bIns="0" rtlCol="0" anchor="ctr"/>
          <a:lstStyle/>
          <a:p>
            <a:pPr algn="l" indent="0" marL="0">
              <a:buNone/>
            </a:pPr>
            <a:r>
              <a:rPr lang="en-US" sz="1500" b="1" dirty="0">
                <a:solidFill>
                  <a:srgbClr val="13324B"/>
                </a:solidFill>
              </a:rPr>
              <a:t>Conversaciones largas</a:t>
            </a:r>
            <a:endParaRPr lang="en-US" sz="1500" dirty="0"/>
          </a:p>
        </p:txBody>
      </p:sp>
      <p:sp>
        <p:nvSpPr>
          <p:cNvPr id="26" name="Text 24"/>
          <p:cNvSpPr txBox="1"/>
          <p:nvPr/>
        </p:nvSpPr>
        <p:spPr>
          <a:xfrm>
            <a:off x="6995160" y="4480560"/>
            <a:ext cx="4572000" cy="822960"/>
          </a:xfrm>
          <a:prstGeom prst="rect">
            <a:avLst/>
          </a:prstGeom>
          <a:noFill/>
          <a:ln/>
        </p:spPr>
        <p:txBody>
          <a:bodyPr wrap="square" lIns="0" tIns="0" rIns="0" bIns="0" rtlCol="0" anchor="t"/>
          <a:lstStyle/>
          <a:p>
            <a:pPr algn="l" indent="0" marL="0">
              <a:buNone/>
            </a:pPr>
            <a:r>
              <a:rPr lang="en-US" sz="1300" dirty="0">
                <a:solidFill>
                  <a:srgbClr val="1B1F24"/>
                </a:solidFill>
              </a:rPr>
              <a:t>Conmutar a mitad de una respuesta en streaming duplica o corta texto</a:t>
            </a:r>
            <a:endParaRPr lang="en-US" sz="13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Dos capas de multi-región: la del proveedor y la propia</a:t>
            </a:r>
            <a:endParaRPr lang="en-US" sz="2800" dirty="0"/>
          </a:p>
        </p:txBody>
      </p:sp>
      <p:sp>
        <p:nvSpPr>
          <p:cNvPr id="3" name="Shape 1"/>
          <p:cNvSpPr/>
          <p:nvPr/>
        </p:nvSpPr>
        <p:spPr>
          <a:xfrm>
            <a:off x="548640" y="1325880"/>
            <a:ext cx="5394960" cy="640080"/>
          </a:xfrm>
          <a:prstGeom prst="roundRect">
            <a:avLst>
              <a:gd name="adj" fmla="val 11429"/>
            </a:avLst>
          </a:prstGeom>
          <a:solidFill>
            <a:srgbClr val="E3F2EF"/>
          </a:solidFill>
          <a:ln w="12700">
            <a:solidFill>
              <a:srgbClr val="1F6F9F"/>
            </a:solidFill>
            <a:prstDash val="solid"/>
          </a:ln>
        </p:spPr>
      </p:sp>
      <p:sp>
        <p:nvSpPr>
          <p:cNvPr id="4" name="Text 2"/>
          <p:cNvSpPr txBox="1"/>
          <p:nvPr/>
        </p:nvSpPr>
        <p:spPr>
          <a:xfrm>
            <a:off x="548640" y="1325880"/>
            <a:ext cx="5394960" cy="640080"/>
          </a:xfrm>
          <a:prstGeom prst="rect">
            <a:avLst/>
          </a:prstGeom>
          <a:noFill/>
          <a:ln/>
        </p:spPr>
        <p:txBody>
          <a:bodyPr wrap="square" lIns="635" tIns="635" rIns="635" bIns="635" rtlCol="0" anchor="ctr"/>
          <a:lstStyle/>
          <a:p>
            <a:pPr algn="ctr" indent="0" marL="0">
              <a:buNone/>
            </a:pPr>
            <a:r>
              <a:rPr lang="en-US" sz="1500" b="1" dirty="0">
                <a:solidFill>
                  <a:srgbClr val="1B1F24"/>
                </a:solidFill>
              </a:rPr>
              <a:t>Capa del proveedor (dentro del servicio de modelos)</a:t>
            </a:r>
            <a:endParaRPr lang="en-US" sz="15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5394960" cy="914400"/>
        </p:xfrm>
        <a:graphic>
          <a:graphicData uri="http://schemas.openxmlformats.org/drawingml/2006/table">
            <a:tbl>
              <a:tblPr/>
              <a:tblGrid>
                <a:gridCol w="1280160"/>
                <a:gridCol w="2194560"/>
                <a:gridCol w="1920240"/>
              </a:tblGrid>
              <a:tr h="0">
                <a:tc>
                  <a:txBody>
                    <a:bodyPr/>
                    <a:lstStyle/>
                    <a:p>
                      <a:pPr indent="0" marL="0">
                        <a:buNone/>
                      </a:pPr>
                      <a:r>
                        <a:rPr lang="en-US" sz="1200" b="1" dirty="0">
                          <a:solidFill>
                            <a:srgbClr val="FFFFFF"/>
                          </a:solidFill>
                        </a:rPr>
                        <a:t>Nube</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200" b="1" dirty="0">
                          <a:solidFill>
                            <a:srgbClr val="FFFFFF"/>
                          </a:solidFill>
                        </a:rPr>
                        <a:t>Mecanismo</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200" b="1" dirty="0">
                          <a:solidFill>
                            <a:srgbClr val="FFFFFF"/>
                          </a:solidFill>
                        </a:rPr>
                        <a:t>Alcance del procesamiento</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200" dirty="0">
                          <a:solidFill>
                            <a:srgbClr val="1B1F24"/>
                          </a:solidFill>
                        </a:rPr>
                        <a:t>Azure</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Global / Data Zone Standard</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Cualquier región / zona de datos</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200" dirty="0">
                          <a:solidFill>
                            <a:srgbClr val="1B1F24"/>
                          </a:solidFill>
                        </a:rPr>
                        <a:t>Google Cloud</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Endpoint global / multirregional</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Cualquier ubicación / jurisdicción</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F24"/>
                          </a:solidFill>
                        </a:rPr>
                        <a:t>AWS</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Cross-Region inference</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Geografía (us., eu.…) o global</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6" name="Shape 3"/>
          <p:cNvSpPr/>
          <p:nvPr/>
        </p:nvSpPr>
        <p:spPr>
          <a:xfrm>
            <a:off x="6217920" y="1325880"/>
            <a:ext cx="5394960" cy="640080"/>
          </a:xfrm>
          <a:prstGeom prst="roundRect">
            <a:avLst>
              <a:gd name="adj" fmla="val 11429"/>
            </a:avLst>
          </a:prstGeom>
          <a:solidFill>
            <a:srgbClr val="DCEAF4"/>
          </a:solidFill>
          <a:ln w="12700">
            <a:solidFill>
              <a:srgbClr val="1F6F9F"/>
            </a:solidFill>
            <a:prstDash val="solid"/>
          </a:ln>
        </p:spPr>
      </p:sp>
      <p:sp>
        <p:nvSpPr>
          <p:cNvPr id="7" name="Text 4"/>
          <p:cNvSpPr txBox="1"/>
          <p:nvPr/>
        </p:nvSpPr>
        <p:spPr>
          <a:xfrm>
            <a:off x="6217920" y="1325880"/>
            <a:ext cx="5394960" cy="640080"/>
          </a:xfrm>
          <a:prstGeom prst="rect">
            <a:avLst/>
          </a:prstGeom>
          <a:noFill/>
          <a:ln/>
        </p:spPr>
        <p:txBody>
          <a:bodyPr wrap="square" lIns="635" tIns="635" rIns="635" bIns="635" rtlCol="0" anchor="ctr"/>
          <a:lstStyle/>
          <a:p>
            <a:pPr algn="ctr" indent="0" marL="0">
              <a:buNone/>
            </a:pPr>
            <a:r>
              <a:rPr lang="en-US" sz="1500" b="1" dirty="0">
                <a:solidFill>
                  <a:srgbClr val="1B1F24"/>
                </a:solidFill>
              </a:rPr>
              <a:t>Capa propia (antes del servicio de modelos)</a:t>
            </a:r>
            <a:endParaRPr lang="en-US" sz="1500" dirty="0"/>
          </a:p>
        </p:txBody>
      </p:sp>
      <p:sp>
        <p:nvSpPr>
          <p:cNvPr id="8" name="Text 5"/>
          <p:cNvSpPr txBox="1"/>
          <p:nvPr/>
        </p:nvSpPr>
        <p:spPr>
          <a:xfrm>
            <a:off x="6309360" y="2103120"/>
            <a:ext cx="5212080" cy="173736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Backend y gateway en dos regiones</a:t>
            </a:r>
            <a:endParaRPr lang="en-US" sz="1500" dirty="0"/>
          </a:p>
          <a:p>
            <a:pPr marL="342900" indent="-342900">
              <a:spcAft>
                <a:spcPts val="600"/>
              </a:spcAft>
              <a:buSzPct val="100000"/>
              <a:buChar char="•"/>
            </a:pPr>
            <a:r>
              <a:rPr lang="en-US" sz="1500" dirty="0">
                <a:solidFill>
                  <a:schemeClr val="tx1"/>
                </a:solidFill>
              </a:rPr>
              <a:t>Conmutación entre endpoints regionales</a:t>
            </a:r>
            <a:endParaRPr lang="en-US" sz="1500" dirty="0"/>
          </a:p>
          <a:p>
            <a:pPr marL="342900" indent="-342900">
              <a:spcAft>
                <a:spcPts val="600"/>
              </a:spcAft>
              <a:buSzPct val="100000"/>
              <a:buChar char="•"/>
            </a:pPr>
            <a:r>
              <a:rPr lang="en-US" sz="1500" dirty="0">
                <a:solidFill>
                  <a:schemeClr val="tx1"/>
                </a:solidFill>
              </a:rPr>
              <a:t>Datos con estado replicados</a:t>
            </a:r>
            <a:endParaRPr lang="en-US" sz="1500" dirty="0"/>
          </a:p>
          <a:p>
            <a:pPr marL="342900" indent="-342900">
              <a:spcAft>
                <a:spcPts val="600"/>
              </a:spcAft>
              <a:buSzPct val="100000"/>
              <a:buChar char="•"/>
            </a:pPr>
            <a:r>
              <a:rPr lang="en-US" sz="1500" dirty="0">
                <a:solidFill>
                  <a:schemeClr val="tx1"/>
                </a:solidFill>
              </a:rPr>
              <a:t>Enrutamiento global de usuarios</a:t>
            </a:r>
            <a:endParaRPr lang="en-US" sz="1500" dirty="0"/>
          </a:p>
        </p:txBody>
      </p:sp>
      <p:sp>
        <p:nvSpPr>
          <p:cNvPr id="9" name="Text 6"/>
          <p:cNvSpPr txBox="1"/>
          <p:nvPr/>
        </p:nvSpPr>
        <p:spPr>
          <a:xfrm>
            <a:off x="548640" y="3977640"/>
            <a:ext cx="11064240" cy="1554480"/>
          </a:xfrm>
          <a:prstGeom prst="rect">
            <a:avLst/>
          </a:prstGeom>
          <a:noFill/>
          <a:ln/>
        </p:spPr>
        <p:txBody>
          <a:bodyPr wrap="square" lIns="635" tIns="635" rIns="635" bIns="635" rtlCol="0" anchor="t"/>
          <a:lstStyle/>
          <a:p>
            <a:pPr marL="342900" indent="-342900">
              <a:spcAft>
                <a:spcPts val="600"/>
              </a:spcAft>
              <a:buSzPct val="100000"/>
              <a:buChar char="•"/>
            </a:pPr>
            <a:r>
              <a:rPr lang="en-US" sz="1400" dirty="0">
                <a:solidFill>
                  <a:schemeClr val="tx1"/>
                </a:solidFill>
              </a:rPr>
              <a:t>Microsoft: el enrutamiento de Global y Data Zone «no reemplaza el failover regional a nivel de aplicación»</a:t>
            </a:r>
            <a:endParaRPr lang="en-US" sz="1400" dirty="0"/>
          </a:p>
          <a:p>
            <a:pPr marL="342900" indent="-342900">
              <a:spcAft>
                <a:spcPts val="600"/>
              </a:spcAft>
              <a:buSzPct val="100000"/>
              <a:buChar char="•"/>
            </a:pPr>
            <a:r>
              <a:rPr lang="en-US" sz="1400" dirty="0">
                <a:solidFill>
                  <a:schemeClr val="tx1"/>
                </a:solidFill>
              </a:rPr>
              <a:t>Google: el endpoint global no ofrece aislamiento regional ni garantías de residencia</a:t>
            </a:r>
            <a:endParaRPr lang="en-US" sz="1400" dirty="0"/>
          </a:p>
          <a:p>
            <a:pPr marL="342900" indent="-342900">
              <a:spcAft>
                <a:spcPts val="600"/>
              </a:spcAft>
              <a:buSzPct val="100000"/>
              <a:buChar char="•"/>
            </a:pPr>
            <a:r>
              <a:rPr lang="en-US" sz="1400" dirty="0">
                <a:solidFill>
                  <a:schemeClr val="tx1"/>
                </a:solidFill>
              </a:rPr>
              <a:t>AWS: CRIS no cambia dónde se almacenan los datos; las SCP deben permitir todas las regiones de destino</a:t>
            </a:r>
            <a:endParaRPr lang="en-US" sz="1400" dirty="0"/>
          </a:p>
        </p:txBody>
      </p:sp>
      <p:sp>
        <p:nvSpPr>
          <p:cNvPr id="10" name="Shape 7"/>
          <p:cNvSpPr/>
          <p:nvPr/>
        </p:nvSpPr>
        <p:spPr>
          <a:xfrm>
            <a:off x="548640" y="5623560"/>
            <a:ext cx="11064240" cy="566928"/>
          </a:xfrm>
          <a:prstGeom prst="roundRect">
            <a:avLst>
              <a:gd name="adj" fmla="val 12903"/>
            </a:avLst>
          </a:prstGeom>
          <a:solidFill>
            <a:srgbClr val="13324B"/>
          </a:solidFill>
          <a:ln w="12700">
            <a:solidFill>
              <a:srgbClr val="13324B"/>
            </a:solidFill>
            <a:prstDash val="solid"/>
          </a:ln>
        </p:spPr>
      </p:sp>
      <p:sp>
        <p:nvSpPr>
          <p:cNvPr id="11" name="Text 8"/>
          <p:cNvSpPr txBox="1"/>
          <p:nvPr/>
        </p:nvSpPr>
        <p:spPr>
          <a:xfrm>
            <a:off x="731520" y="5623560"/>
            <a:ext cx="10698480" cy="566928"/>
          </a:xfrm>
          <a:prstGeom prst="rect">
            <a:avLst/>
          </a:prstGeom>
          <a:noFill/>
          <a:ln/>
        </p:spPr>
        <p:txBody>
          <a:bodyPr wrap="square" lIns="0" tIns="0" rIns="0" bIns="0" rtlCol="0" anchor="ctr"/>
          <a:lstStyle/>
          <a:p>
            <a:pPr indent="0" marL="0">
              <a:buNone/>
            </a:pPr>
            <a:r>
              <a:rPr lang="en-US" sz="1500" b="1" dirty="0">
                <a:solidFill>
                  <a:srgbClr val="FFFFFF"/>
                </a:solidFill>
              </a:rPr>
              <a:t>La capa del proveedor mejora la capacidad; la capa propia protege su endpoint, sus datos y su aplicación</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Enrutamiento global: ¿cómo llega el usuario a la región sana?</a:t>
            </a:r>
            <a:endParaRPr lang="en-US" sz="2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194560"/>
                <a:gridCol w="3291840"/>
                <a:gridCol w="2377440"/>
                <a:gridCol w="3200400"/>
              </a:tblGrid>
              <a:tr h="0">
                <a:tc>
                  <a:txBody>
                    <a:bodyPr/>
                    <a:lstStyle/>
                    <a:p>
                      <a:pPr indent="0" marL="0">
                        <a:buNone/>
                      </a:pPr>
                      <a:r>
                        <a:rPr lang="en-US" sz="1200" b="1" dirty="0">
                          <a:solidFill>
                            <a:srgbClr val="FFFFFF"/>
                          </a:solidFill>
                        </a:rPr>
                        <a:t>Mecanismo</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200" b="1" dirty="0">
                          <a:solidFill>
                            <a:srgbClr val="FFFFFF"/>
                          </a:solidFill>
                        </a:rPr>
                        <a:t>Ejemplos</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200" b="1" dirty="0">
                          <a:solidFill>
                            <a:srgbClr val="FFFFFF"/>
                          </a:solidFill>
                        </a:rPr>
                        <a:t>Detección y conmutación</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200" b="1" dirty="0">
                          <a:solidFill>
                            <a:srgbClr val="FFFFFF"/>
                          </a:solidFill>
                        </a:rPr>
                        <a:t>Consideraciones</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200" dirty="0">
                          <a:solidFill>
                            <a:srgbClr val="1B1F24"/>
                          </a:solidFill>
                        </a:rPr>
                        <a:t>DNS con health checks</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Route 53 failover · Traffic Manager · Cloud DNS routing policies</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Health check + TTL del registro</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Los clientes y resolvers guardan en caché: la conmutación tarda lo que el TTL o más</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200" dirty="0">
                          <a:solidFill>
                            <a:srgbClr val="1B1F24"/>
                          </a:solidFill>
                        </a:rPr>
                        <a:t>Balanceador global (anycast)</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Azure Front Door · Cloud Load Balancing global · Global Accelerator</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Segundos; la IP no cambia</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Un punto de entrada global con WAF; es otro componente en serie</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F24"/>
                          </a:solidFill>
                        </a:rPr>
                        <a:t>Gateway de IA</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API Management · Apigee · gateway propio (LOC-02)</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Por solicitud (circuit breaker)</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Ve errores 429 y 5xx del modelo; puede ser punto único de falla</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200" dirty="0">
                          <a:solidFill>
                            <a:srgbClr val="1B1F24"/>
                          </a:solidFill>
                        </a:rPr>
                        <a:t>Cliente o SDK</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Lógica de conmutación en la aplicación (AZ-G, GCP-D, AWS-E)</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Por solicitud</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Repite lógica en cada cliente; útil en prototipos</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5623560"/>
            <a:ext cx="11064240" cy="566928"/>
          </a:xfrm>
          <a:prstGeom prst="roundRect">
            <a:avLst>
              <a:gd name="adj" fmla="val 12903"/>
            </a:avLst>
          </a:prstGeom>
          <a:solidFill>
            <a:srgbClr val="2E9C8A"/>
          </a:solidFill>
          <a:ln w="12700">
            <a:solidFill>
              <a:srgbClr val="2E9C8A"/>
            </a:solidFill>
            <a:prstDash val="solid"/>
          </a:ln>
        </p:spPr>
      </p:sp>
      <p:sp>
        <p:nvSpPr>
          <p:cNvPr id="5" name="Text 2"/>
          <p:cNvSpPr txBox="1"/>
          <p:nvPr/>
        </p:nvSpPr>
        <p:spPr>
          <a:xfrm>
            <a:off x="731520" y="5623560"/>
            <a:ext cx="10698480" cy="566928"/>
          </a:xfrm>
          <a:prstGeom prst="rect">
            <a:avLst/>
          </a:prstGeom>
          <a:noFill/>
          <a:ln/>
        </p:spPr>
        <p:txBody>
          <a:bodyPr wrap="square" lIns="0" tIns="0" rIns="0" bIns="0" rtlCol="0" anchor="ctr"/>
          <a:lstStyle/>
          <a:p>
            <a:pPr indent="0" marL="0">
              <a:buNone/>
            </a:pPr>
            <a:r>
              <a:rPr lang="en-US" sz="1500" b="1" dirty="0">
                <a:solidFill>
                  <a:srgbClr val="FFFFFF"/>
                </a:solidFill>
              </a:rPr>
              <a:t>Combinación habitual: balanceador global para los usuarios + gateway por región para los modelos</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Patrones de resiliencia para la ruta de inferencia</a:t>
            </a:r>
            <a:endParaRPr lang="en-US" sz="2800" dirty="0"/>
          </a:p>
        </p:txBody>
      </p:sp>
      <p:sp>
        <p:nvSpPr>
          <p:cNvPr id="3" name="Shape 1"/>
          <p:cNvSpPr/>
          <p:nvPr/>
        </p:nvSpPr>
        <p:spPr>
          <a:xfrm>
            <a:off x="548640" y="1280160"/>
            <a:ext cx="2377440" cy="868680"/>
          </a:xfrm>
          <a:prstGeom prst="roundRect">
            <a:avLst>
              <a:gd name="adj" fmla="val 8421"/>
            </a:avLst>
          </a:prstGeom>
          <a:solidFill>
            <a:srgbClr val="DCEAF4"/>
          </a:solidFill>
          <a:ln w="12700">
            <a:solidFill>
              <a:srgbClr val="1F6F9F"/>
            </a:solidFill>
            <a:prstDash val="solid"/>
          </a:ln>
        </p:spPr>
      </p:sp>
      <p:sp>
        <p:nvSpPr>
          <p:cNvPr id="4" name="Text 2"/>
          <p:cNvSpPr txBox="1"/>
          <p:nvPr/>
        </p:nvSpPr>
        <p:spPr>
          <a:xfrm>
            <a:off x="548640" y="1280160"/>
            <a:ext cx="2377440" cy="868680"/>
          </a:xfrm>
          <a:prstGeom prst="rect">
            <a:avLst/>
          </a:prstGeom>
          <a:noFill/>
          <a:ln/>
        </p:spPr>
        <p:txBody>
          <a:bodyPr wrap="square" lIns="635" tIns="635" rIns="635" bIns="635" rtlCol="0" anchor="ctr"/>
          <a:lstStyle/>
          <a:p>
            <a:pPr algn="ctr" indent="0" marL="0">
              <a:buNone/>
            </a:pPr>
            <a:r>
              <a:rPr lang="en-US" sz="1400" b="1" dirty="0">
                <a:solidFill>
                  <a:srgbClr val="1B1F24"/>
                </a:solidFill>
              </a:rPr>
              <a:t>Timeouts</a:t>
            </a:r>
            <a:endParaRPr lang="en-US" sz="1400" dirty="0"/>
          </a:p>
        </p:txBody>
      </p:sp>
      <p:sp>
        <p:nvSpPr>
          <p:cNvPr id="5" name="Text 3"/>
          <p:cNvSpPr txBox="1"/>
          <p:nvPr/>
        </p:nvSpPr>
        <p:spPr>
          <a:xfrm>
            <a:off x="3063240" y="1280160"/>
            <a:ext cx="2926080" cy="868680"/>
          </a:xfrm>
          <a:prstGeom prst="rect">
            <a:avLst/>
          </a:prstGeom>
          <a:noFill/>
          <a:ln/>
        </p:spPr>
        <p:txBody>
          <a:bodyPr wrap="square" lIns="0" tIns="0" rIns="0" bIns="0" rtlCol="0" anchor="ctr"/>
          <a:lstStyle/>
          <a:p>
            <a:pPr algn="l" indent="0" marL="0">
              <a:buNone/>
            </a:pPr>
            <a:r>
              <a:rPr lang="en-US" sz="1300" dirty="0">
                <a:solidFill>
                  <a:srgbClr val="1B1F24"/>
                </a:solidFill>
              </a:rPr>
              <a:t>Límite de conexión y de primer byte; sin él, una región lenta retiene recursos</a:t>
            </a:r>
            <a:endParaRPr lang="en-US" sz="1300" dirty="0"/>
          </a:p>
        </p:txBody>
      </p:sp>
      <p:sp>
        <p:nvSpPr>
          <p:cNvPr id="6" name="Shape 4"/>
          <p:cNvSpPr/>
          <p:nvPr/>
        </p:nvSpPr>
        <p:spPr>
          <a:xfrm>
            <a:off x="6172200" y="1280160"/>
            <a:ext cx="2377440" cy="868680"/>
          </a:xfrm>
          <a:prstGeom prst="roundRect">
            <a:avLst>
              <a:gd name="adj" fmla="val 8421"/>
            </a:avLst>
          </a:prstGeom>
          <a:solidFill>
            <a:srgbClr val="DCEAF4"/>
          </a:solidFill>
          <a:ln w="12700">
            <a:solidFill>
              <a:srgbClr val="1F6F9F"/>
            </a:solidFill>
            <a:prstDash val="solid"/>
          </a:ln>
        </p:spPr>
      </p:sp>
      <p:sp>
        <p:nvSpPr>
          <p:cNvPr id="7" name="Text 5"/>
          <p:cNvSpPr txBox="1"/>
          <p:nvPr/>
        </p:nvSpPr>
        <p:spPr>
          <a:xfrm>
            <a:off x="6172200" y="1280160"/>
            <a:ext cx="2377440" cy="868680"/>
          </a:xfrm>
          <a:prstGeom prst="rect">
            <a:avLst/>
          </a:prstGeom>
          <a:noFill/>
          <a:ln/>
        </p:spPr>
        <p:txBody>
          <a:bodyPr wrap="square" lIns="635" tIns="635" rIns="635" bIns="635" rtlCol="0" anchor="ctr"/>
          <a:lstStyle/>
          <a:p>
            <a:pPr algn="ctr" indent="0" marL="0">
              <a:buNone/>
            </a:pPr>
            <a:r>
              <a:rPr lang="en-US" sz="1400" b="1" dirty="0">
                <a:solidFill>
                  <a:srgbClr val="1B1F24"/>
                </a:solidFill>
              </a:rPr>
              <a:t>Reintentos con backoff y jitter</a:t>
            </a:r>
            <a:endParaRPr lang="en-US" sz="1400" dirty="0"/>
          </a:p>
        </p:txBody>
      </p:sp>
      <p:sp>
        <p:nvSpPr>
          <p:cNvPr id="8" name="Text 6"/>
          <p:cNvSpPr txBox="1"/>
          <p:nvPr/>
        </p:nvSpPr>
        <p:spPr>
          <a:xfrm>
            <a:off x="8686800" y="1280160"/>
            <a:ext cx="2926080" cy="868680"/>
          </a:xfrm>
          <a:prstGeom prst="rect">
            <a:avLst/>
          </a:prstGeom>
          <a:noFill/>
          <a:ln/>
        </p:spPr>
        <p:txBody>
          <a:bodyPr wrap="square" lIns="0" tIns="0" rIns="0" bIns="0" rtlCol="0" anchor="ctr"/>
          <a:lstStyle/>
          <a:p>
            <a:pPr algn="l" indent="0" marL="0">
              <a:buNone/>
            </a:pPr>
            <a:r>
              <a:rPr lang="en-US" sz="1300" dirty="0">
                <a:solidFill>
                  <a:srgbClr val="1B1F24"/>
                </a:solidFill>
              </a:rPr>
              <a:t>Esperas crecientes y aleatorias; respetar Retry-After en 429</a:t>
            </a:r>
            <a:endParaRPr lang="en-US" sz="1300" dirty="0"/>
          </a:p>
        </p:txBody>
      </p:sp>
      <p:sp>
        <p:nvSpPr>
          <p:cNvPr id="9" name="Shape 7"/>
          <p:cNvSpPr/>
          <p:nvPr/>
        </p:nvSpPr>
        <p:spPr>
          <a:xfrm>
            <a:off x="548640" y="2359152"/>
            <a:ext cx="2377440" cy="868680"/>
          </a:xfrm>
          <a:prstGeom prst="roundRect">
            <a:avLst>
              <a:gd name="adj" fmla="val 8421"/>
            </a:avLst>
          </a:prstGeom>
          <a:solidFill>
            <a:srgbClr val="DCEAF4"/>
          </a:solidFill>
          <a:ln w="12700">
            <a:solidFill>
              <a:srgbClr val="1F6F9F"/>
            </a:solidFill>
            <a:prstDash val="solid"/>
          </a:ln>
        </p:spPr>
      </p:sp>
      <p:sp>
        <p:nvSpPr>
          <p:cNvPr id="10" name="Text 8"/>
          <p:cNvSpPr txBox="1"/>
          <p:nvPr/>
        </p:nvSpPr>
        <p:spPr>
          <a:xfrm>
            <a:off x="548640" y="2359152"/>
            <a:ext cx="2377440" cy="868680"/>
          </a:xfrm>
          <a:prstGeom prst="rect">
            <a:avLst/>
          </a:prstGeom>
          <a:noFill/>
          <a:ln/>
        </p:spPr>
        <p:txBody>
          <a:bodyPr wrap="square" lIns="635" tIns="635" rIns="635" bIns="635" rtlCol="0" anchor="ctr"/>
          <a:lstStyle/>
          <a:p>
            <a:pPr algn="ctr" indent="0" marL="0">
              <a:buNone/>
            </a:pPr>
            <a:r>
              <a:rPr lang="en-US" sz="1400" b="1" dirty="0">
                <a:solidFill>
                  <a:srgbClr val="1B1F24"/>
                </a:solidFill>
              </a:rPr>
              <a:t>Presupuesto de reintentos</a:t>
            </a:r>
            <a:endParaRPr lang="en-US" sz="1400" dirty="0"/>
          </a:p>
        </p:txBody>
      </p:sp>
      <p:sp>
        <p:nvSpPr>
          <p:cNvPr id="11" name="Text 9"/>
          <p:cNvSpPr txBox="1"/>
          <p:nvPr/>
        </p:nvSpPr>
        <p:spPr>
          <a:xfrm>
            <a:off x="3063240" y="2359152"/>
            <a:ext cx="2926080" cy="868680"/>
          </a:xfrm>
          <a:prstGeom prst="rect">
            <a:avLst/>
          </a:prstGeom>
          <a:noFill/>
          <a:ln/>
        </p:spPr>
        <p:txBody>
          <a:bodyPr wrap="square" lIns="0" tIns="0" rIns="0" bIns="0" rtlCol="0" anchor="ctr"/>
          <a:lstStyle/>
          <a:p>
            <a:pPr algn="l" indent="0" marL="0">
              <a:buNone/>
            </a:pPr>
            <a:r>
              <a:rPr lang="en-US" sz="1300" dirty="0">
                <a:solidFill>
                  <a:srgbClr val="1B1F24"/>
                </a:solidFill>
              </a:rPr>
              <a:t>Máximo de intentos por solicitud y por capa</a:t>
            </a:r>
            <a:endParaRPr lang="en-US" sz="1300" dirty="0"/>
          </a:p>
        </p:txBody>
      </p:sp>
      <p:sp>
        <p:nvSpPr>
          <p:cNvPr id="12" name="Shape 10"/>
          <p:cNvSpPr/>
          <p:nvPr/>
        </p:nvSpPr>
        <p:spPr>
          <a:xfrm>
            <a:off x="6172200" y="2359152"/>
            <a:ext cx="2377440" cy="868680"/>
          </a:xfrm>
          <a:prstGeom prst="roundRect">
            <a:avLst>
              <a:gd name="adj" fmla="val 8421"/>
            </a:avLst>
          </a:prstGeom>
          <a:solidFill>
            <a:srgbClr val="DCEAF4"/>
          </a:solidFill>
          <a:ln w="12700">
            <a:solidFill>
              <a:srgbClr val="1F6F9F"/>
            </a:solidFill>
            <a:prstDash val="solid"/>
          </a:ln>
        </p:spPr>
      </p:sp>
      <p:sp>
        <p:nvSpPr>
          <p:cNvPr id="13" name="Text 11"/>
          <p:cNvSpPr txBox="1"/>
          <p:nvPr/>
        </p:nvSpPr>
        <p:spPr>
          <a:xfrm>
            <a:off x="6172200" y="2359152"/>
            <a:ext cx="2377440" cy="868680"/>
          </a:xfrm>
          <a:prstGeom prst="rect">
            <a:avLst/>
          </a:prstGeom>
          <a:noFill/>
          <a:ln/>
        </p:spPr>
        <p:txBody>
          <a:bodyPr wrap="square" lIns="635" tIns="635" rIns="635" bIns="635" rtlCol="0" anchor="ctr"/>
          <a:lstStyle/>
          <a:p>
            <a:pPr algn="ctr" indent="0" marL="0">
              <a:buNone/>
            </a:pPr>
            <a:r>
              <a:rPr lang="en-US" sz="1400" b="1" dirty="0">
                <a:solidFill>
                  <a:srgbClr val="1B1F24"/>
                </a:solidFill>
              </a:rPr>
              <a:t>Circuit breaker</a:t>
            </a:r>
            <a:endParaRPr lang="en-US" sz="1400" dirty="0"/>
          </a:p>
        </p:txBody>
      </p:sp>
      <p:sp>
        <p:nvSpPr>
          <p:cNvPr id="14" name="Text 12"/>
          <p:cNvSpPr txBox="1"/>
          <p:nvPr/>
        </p:nvSpPr>
        <p:spPr>
          <a:xfrm>
            <a:off x="8686800" y="2359152"/>
            <a:ext cx="2926080" cy="868680"/>
          </a:xfrm>
          <a:prstGeom prst="rect">
            <a:avLst/>
          </a:prstGeom>
          <a:noFill/>
          <a:ln/>
        </p:spPr>
        <p:txBody>
          <a:bodyPr wrap="square" lIns="0" tIns="0" rIns="0" bIns="0" rtlCol="0" anchor="ctr"/>
          <a:lstStyle/>
          <a:p>
            <a:pPr algn="l" indent="0" marL="0">
              <a:buNone/>
            </a:pPr>
            <a:r>
              <a:rPr lang="en-US" sz="1300" dirty="0">
                <a:solidFill>
                  <a:srgbClr val="1B1F24"/>
                </a:solidFill>
              </a:rPr>
              <a:t>Dejar de enviar tráfico a una región que falla y probar su recuperación</a:t>
            </a:r>
            <a:endParaRPr lang="en-US" sz="1300" dirty="0"/>
          </a:p>
        </p:txBody>
      </p:sp>
      <p:sp>
        <p:nvSpPr>
          <p:cNvPr id="15" name="Shape 13"/>
          <p:cNvSpPr/>
          <p:nvPr/>
        </p:nvSpPr>
        <p:spPr>
          <a:xfrm>
            <a:off x="548640" y="3438144"/>
            <a:ext cx="2377440" cy="868680"/>
          </a:xfrm>
          <a:prstGeom prst="roundRect">
            <a:avLst>
              <a:gd name="adj" fmla="val 8421"/>
            </a:avLst>
          </a:prstGeom>
          <a:solidFill>
            <a:srgbClr val="E3F2EF"/>
          </a:solidFill>
          <a:ln w="12700">
            <a:solidFill>
              <a:srgbClr val="1F6F9F"/>
            </a:solidFill>
            <a:prstDash val="solid"/>
          </a:ln>
        </p:spPr>
      </p:sp>
      <p:sp>
        <p:nvSpPr>
          <p:cNvPr id="16" name="Text 14"/>
          <p:cNvSpPr txBox="1"/>
          <p:nvPr/>
        </p:nvSpPr>
        <p:spPr>
          <a:xfrm>
            <a:off x="548640" y="3438144"/>
            <a:ext cx="2377440" cy="868680"/>
          </a:xfrm>
          <a:prstGeom prst="rect">
            <a:avLst/>
          </a:prstGeom>
          <a:noFill/>
          <a:ln/>
        </p:spPr>
        <p:txBody>
          <a:bodyPr wrap="square" lIns="635" tIns="635" rIns="635" bIns="635" rtlCol="0" anchor="ctr"/>
          <a:lstStyle/>
          <a:p>
            <a:pPr algn="ctr" indent="0" marL="0">
              <a:buNone/>
            </a:pPr>
            <a:r>
              <a:rPr lang="en-US" sz="1400" b="1" dirty="0">
                <a:solidFill>
                  <a:srgbClr val="1B1F24"/>
                </a:solidFill>
              </a:rPr>
              <a:t>Bulkhead</a:t>
            </a:r>
            <a:endParaRPr lang="en-US" sz="1400" dirty="0"/>
          </a:p>
        </p:txBody>
      </p:sp>
      <p:sp>
        <p:nvSpPr>
          <p:cNvPr id="17" name="Text 15"/>
          <p:cNvSpPr txBox="1"/>
          <p:nvPr/>
        </p:nvSpPr>
        <p:spPr>
          <a:xfrm>
            <a:off x="3063240" y="3438144"/>
            <a:ext cx="2926080" cy="868680"/>
          </a:xfrm>
          <a:prstGeom prst="rect">
            <a:avLst/>
          </a:prstGeom>
          <a:noFill/>
          <a:ln/>
        </p:spPr>
        <p:txBody>
          <a:bodyPr wrap="square" lIns="0" tIns="0" rIns="0" bIns="0" rtlCol="0" anchor="ctr"/>
          <a:lstStyle/>
          <a:p>
            <a:pPr algn="l" indent="0" marL="0">
              <a:buNone/>
            </a:pPr>
            <a:r>
              <a:rPr lang="en-US" sz="1300" dirty="0">
                <a:solidFill>
                  <a:srgbClr val="1B1F24"/>
                </a:solidFill>
              </a:rPr>
              <a:t>Aislar capacidad por carga (online, batch) o por cliente</a:t>
            </a:r>
            <a:endParaRPr lang="en-US" sz="1300" dirty="0"/>
          </a:p>
        </p:txBody>
      </p:sp>
      <p:sp>
        <p:nvSpPr>
          <p:cNvPr id="18" name="Shape 16"/>
          <p:cNvSpPr/>
          <p:nvPr/>
        </p:nvSpPr>
        <p:spPr>
          <a:xfrm>
            <a:off x="6172200" y="3438144"/>
            <a:ext cx="2377440" cy="868680"/>
          </a:xfrm>
          <a:prstGeom prst="roundRect">
            <a:avLst>
              <a:gd name="adj" fmla="val 8421"/>
            </a:avLst>
          </a:prstGeom>
          <a:solidFill>
            <a:srgbClr val="E3F2EF"/>
          </a:solidFill>
          <a:ln w="12700">
            <a:solidFill>
              <a:srgbClr val="1F6F9F"/>
            </a:solidFill>
            <a:prstDash val="solid"/>
          </a:ln>
        </p:spPr>
      </p:sp>
      <p:sp>
        <p:nvSpPr>
          <p:cNvPr id="19" name="Text 17"/>
          <p:cNvSpPr txBox="1"/>
          <p:nvPr/>
        </p:nvSpPr>
        <p:spPr>
          <a:xfrm>
            <a:off x="6172200" y="3438144"/>
            <a:ext cx="2377440" cy="868680"/>
          </a:xfrm>
          <a:prstGeom prst="rect">
            <a:avLst/>
          </a:prstGeom>
          <a:noFill/>
          <a:ln/>
        </p:spPr>
        <p:txBody>
          <a:bodyPr wrap="square" lIns="635" tIns="635" rIns="635" bIns="635" rtlCol="0" anchor="ctr"/>
          <a:lstStyle/>
          <a:p>
            <a:pPr algn="ctr" indent="0" marL="0">
              <a:buNone/>
            </a:pPr>
            <a:r>
              <a:rPr lang="en-US" sz="1400" b="1" dirty="0">
                <a:solidFill>
                  <a:srgbClr val="1B1F24"/>
                </a:solidFill>
              </a:rPr>
              <a:t>Degradación</a:t>
            </a:r>
            <a:endParaRPr lang="en-US" sz="1400" dirty="0"/>
          </a:p>
        </p:txBody>
      </p:sp>
      <p:sp>
        <p:nvSpPr>
          <p:cNvPr id="20" name="Text 18"/>
          <p:cNvSpPr txBox="1"/>
          <p:nvPr/>
        </p:nvSpPr>
        <p:spPr>
          <a:xfrm>
            <a:off x="8686800" y="3438144"/>
            <a:ext cx="2926080" cy="868680"/>
          </a:xfrm>
          <a:prstGeom prst="rect">
            <a:avLst/>
          </a:prstGeom>
          <a:noFill/>
          <a:ln/>
        </p:spPr>
        <p:txBody>
          <a:bodyPr wrap="square" lIns="0" tIns="0" rIns="0" bIns="0" rtlCol="0" anchor="ctr"/>
          <a:lstStyle/>
          <a:p>
            <a:pPr algn="l" indent="0" marL="0">
              <a:buNone/>
            </a:pPr>
            <a:r>
              <a:rPr lang="en-US" sz="1300" dirty="0">
                <a:solidFill>
                  <a:srgbClr val="1B1F24"/>
                </a:solidFill>
              </a:rPr>
              <a:t>Modelo más pequeño, respuesta en caché o mensaje claro de indisponibilidad</a:t>
            </a:r>
            <a:endParaRPr lang="en-US" sz="1300" dirty="0"/>
          </a:p>
        </p:txBody>
      </p:sp>
      <p:sp>
        <p:nvSpPr>
          <p:cNvPr id="21" name="Shape 19"/>
          <p:cNvSpPr/>
          <p:nvPr/>
        </p:nvSpPr>
        <p:spPr>
          <a:xfrm>
            <a:off x="548640" y="4517136"/>
            <a:ext cx="2377440" cy="868680"/>
          </a:xfrm>
          <a:prstGeom prst="roundRect">
            <a:avLst>
              <a:gd name="adj" fmla="val 8421"/>
            </a:avLst>
          </a:prstGeom>
          <a:solidFill>
            <a:srgbClr val="E3F2EF"/>
          </a:solidFill>
          <a:ln w="12700">
            <a:solidFill>
              <a:srgbClr val="1F6F9F"/>
            </a:solidFill>
            <a:prstDash val="solid"/>
          </a:ln>
        </p:spPr>
      </p:sp>
      <p:sp>
        <p:nvSpPr>
          <p:cNvPr id="22" name="Text 20"/>
          <p:cNvSpPr txBox="1"/>
          <p:nvPr/>
        </p:nvSpPr>
        <p:spPr>
          <a:xfrm>
            <a:off x="548640" y="4517136"/>
            <a:ext cx="2377440" cy="868680"/>
          </a:xfrm>
          <a:prstGeom prst="rect">
            <a:avLst/>
          </a:prstGeom>
          <a:noFill/>
          <a:ln/>
        </p:spPr>
        <p:txBody>
          <a:bodyPr wrap="square" lIns="635" tIns="635" rIns="635" bIns="635" rtlCol="0" anchor="ctr"/>
          <a:lstStyle/>
          <a:p>
            <a:pPr algn="ctr" indent="0" marL="0">
              <a:buNone/>
            </a:pPr>
            <a:r>
              <a:rPr lang="en-US" sz="1400" b="1" dirty="0">
                <a:solidFill>
                  <a:srgbClr val="1B1F24"/>
                </a:solidFill>
              </a:rPr>
              <a:t>Load shedding</a:t>
            </a:r>
            <a:endParaRPr lang="en-US" sz="1400" dirty="0"/>
          </a:p>
        </p:txBody>
      </p:sp>
      <p:sp>
        <p:nvSpPr>
          <p:cNvPr id="23" name="Text 21"/>
          <p:cNvSpPr txBox="1"/>
          <p:nvPr/>
        </p:nvSpPr>
        <p:spPr>
          <a:xfrm>
            <a:off x="3063240" y="4517136"/>
            <a:ext cx="2926080" cy="868680"/>
          </a:xfrm>
          <a:prstGeom prst="rect">
            <a:avLst/>
          </a:prstGeom>
          <a:noFill/>
          <a:ln/>
        </p:spPr>
        <p:txBody>
          <a:bodyPr wrap="square" lIns="0" tIns="0" rIns="0" bIns="0" rtlCol="0" anchor="ctr"/>
          <a:lstStyle/>
          <a:p>
            <a:pPr algn="l" indent="0" marL="0">
              <a:buNone/>
            </a:pPr>
            <a:r>
              <a:rPr lang="en-US" sz="1300" dirty="0">
                <a:solidFill>
                  <a:srgbClr val="1B1F24"/>
                </a:solidFill>
              </a:rPr>
              <a:t>Rechazar con 429 o 503 lo que no se puede atender, antes de saturarse</a:t>
            </a:r>
            <a:endParaRPr lang="en-US" sz="1300" dirty="0"/>
          </a:p>
        </p:txBody>
      </p:sp>
      <p:sp>
        <p:nvSpPr>
          <p:cNvPr id="24" name="Shape 22"/>
          <p:cNvSpPr/>
          <p:nvPr/>
        </p:nvSpPr>
        <p:spPr>
          <a:xfrm>
            <a:off x="6172200" y="4517136"/>
            <a:ext cx="2377440" cy="868680"/>
          </a:xfrm>
          <a:prstGeom prst="roundRect">
            <a:avLst>
              <a:gd name="adj" fmla="val 8421"/>
            </a:avLst>
          </a:prstGeom>
          <a:solidFill>
            <a:srgbClr val="E3F2EF"/>
          </a:solidFill>
          <a:ln w="12700">
            <a:solidFill>
              <a:srgbClr val="1F6F9F"/>
            </a:solidFill>
            <a:prstDash val="solid"/>
          </a:ln>
        </p:spPr>
      </p:sp>
      <p:sp>
        <p:nvSpPr>
          <p:cNvPr id="25" name="Text 23"/>
          <p:cNvSpPr txBox="1"/>
          <p:nvPr/>
        </p:nvSpPr>
        <p:spPr>
          <a:xfrm>
            <a:off x="6172200" y="4517136"/>
            <a:ext cx="2377440" cy="868680"/>
          </a:xfrm>
          <a:prstGeom prst="rect">
            <a:avLst/>
          </a:prstGeom>
          <a:noFill/>
          <a:ln/>
        </p:spPr>
        <p:txBody>
          <a:bodyPr wrap="square" lIns="635" tIns="635" rIns="635" bIns="635" rtlCol="0" anchor="ctr"/>
          <a:lstStyle/>
          <a:p>
            <a:pPr algn="ctr" indent="0" marL="0">
              <a:buNone/>
            </a:pPr>
            <a:r>
              <a:rPr lang="en-US" sz="1400" b="1" dirty="0">
                <a:solidFill>
                  <a:srgbClr val="1B1F24"/>
                </a:solidFill>
              </a:rPr>
              <a:t>Idempotencia</a:t>
            </a:r>
            <a:endParaRPr lang="en-US" sz="1400" dirty="0"/>
          </a:p>
        </p:txBody>
      </p:sp>
      <p:sp>
        <p:nvSpPr>
          <p:cNvPr id="26" name="Text 24"/>
          <p:cNvSpPr txBox="1"/>
          <p:nvPr/>
        </p:nvSpPr>
        <p:spPr>
          <a:xfrm>
            <a:off x="8686800" y="4517136"/>
            <a:ext cx="2926080" cy="868680"/>
          </a:xfrm>
          <a:prstGeom prst="rect">
            <a:avLst/>
          </a:prstGeom>
          <a:noFill/>
          <a:ln/>
        </p:spPr>
        <p:txBody>
          <a:bodyPr wrap="square" lIns="0" tIns="0" rIns="0" bIns="0" rtlCol="0" anchor="ctr"/>
          <a:lstStyle/>
          <a:p>
            <a:pPr algn="l" indent="0" marL="0">
              <a:buNone/>
            </a:pPr>
            <a:r>
              <a:rPr lang="en-US" sz="1300" dirty="0">
                <a:solidFill>
                  <a:srgbClr val="1B1F24"/>
                </a:solidFill>
              </a:rPr>
              <a:t>Repetir sin efectos duplicados (lotes, herramientas de agentes)</a:t>
            </a:r>
            <a:endParaRPr lang="en-US" sz="1300" dirty="0"/>
          </a:p>
        </p:txBody>
      </p:sp>
      <p:sp>
        <p:nvSpPr>
          <p:cNvPr id="27" name="Text 25"/>
          <p:cNvSpPr txBox="1"/>
          <p:nvPr/>
        </p:nvSpPr>
        <p:spPr>
          <a:xfrm>
            <a:off x="548640" y="5669280"/>
            <a:ext cx="11064240" cy="457200"/>
          </a:xfrm>
          <a:prstGeom prst="rect">
            <a:avLst/>
          </a:prstGeom>
          <a:noFill/>
          <a:ln/>
        </p:spPr>
        <p:txBody>
          <a:bodyPr wrap="square" lIns="0" tIns="0" rIns="0" bIns="0" rtlCol="0" anchor="ctr"/>
          <a:lstStyle/>
          <a:p>
            <a:pPr algn="l" indent="0" marL="0">
              <a:buNone/>
            </a:pPr>
            <a:r>
              <a:rPr lang="en-US" sz="1100" i="1" dirty="0">
                <a:solidFill>
                  <a:srgbClr val="7A8794"/>
                </a:solidFill>
              </a:rPr>
              <a:t>Referencias: Nygard, «Release It!» (2.ª ed., 2018); Beyer et al., «Site Reliability Engineering» (2016), cap. 21–22.</a:t>
            </a:r>
            <a:endParaRPr lang="en-US" sz="11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Circuit breaker: tres estados</a:t>
            </a:r>
            <a:endParaRPr lang="en-US" sz="2800" dirty="0"/>
          </a:p>
        </p:txBody>
      </p:sp>
      <p:sp>
        <p:nvSpPr>
          <p:cNvPr id="3" name="Shape 1"/>
          <p:cNvSpPr/>
          <p:nvPr/>
        </p:nvSpPr>
        <p:spPr>
          <a:xfrm>
            <a:off x="1097280" y="2011680"/>
            <a:ext cx="1828800" cy="1828800"/>
          </a:xfrm>
          <a:prstGeom prst="ellipse">
            <a:avLst/>
          </a:prstGeom>
          <a:solidFill>
            <a:srgbClr val="2E9C8A"/>
          </a:solidFill>
          <a:ln w="12700">
            <a:solidFill>
              <a:srgbClr val="2E9C8A"/>
            </a:solidFill>
            <a:prstDash val="solid"/>
          </a:ln>
        </p:spPr>
      </p:sp>
      <p:sp>
        <p:nvSpPr>
          <p:cNvPr id="4" name="Text 2"/>
          <p:cNvSpPr txBox="1"/>
          <p:nvPr/>
        </p:nvSpPr>
        <p:spPr>
          <a:xfrm>
            <a:off x="1097280" y="2011680"/>
            <a:ext cx="1828800" cy="1828800"/>
          </a:xfrm>
          <a:prstGeom prst="rect">
            <a:avLst/>
          </a:prstGeom>
          <a:noFill/>
          <a:ln/>
        </p:spPr>
        <p:txBody>
          <a:bodyPr wrap="square" lIns="0" tIns="0" rIns="0" bIns="0" rtlCol="0" anchor="ctr"/>
          <a:lstStyle/>
          <a:p>
            <a:pPr algn="ctr" indent="0" marL="0">
              <a:buNone/>
            </a:pPr>
            <a:r>
              <a:rPr lang="en-US" sz="1500" b="1" dirty="0">
                <a:solidFill>
                  <a:srgbClr val="FFFFFF"/>
                </a:solidFill>
              </a:rPr>
              <a:t>Cerrado</a:t>
            </a:r>
            <a:endParaRPr lang="en-US" sz="1500" dirty="0"/>
          </a:p>
          <a:p>
            <a:pPr algn="ctr" indent="0" marL="0">
              <a:buNone/>
            </a:pPr>
            <a:r>
              <a:rPr lang="en-US" sz="1500" b="1" dirty="0">
                <a:solidFill>
                  <a:srgbClr val="FFFFFF"/>
                </a:solidFill>
              </a:rPr>
              <a:t>el tráfico fluye</a:t>
            </a:r>
            <a:endParaRPr lang="en-US" sz="1500" dirty="0"/>
          </a:p>
        </p:txBody>
      </p:sp>
      <p:sp>
        <p:nvSpPr>
          <p:cNvPr id="5" name="Shape 3"/>
          <p:cNvSpPr/>
          <p:nvPr/>
        </p:nvSpPr>
        <p:spPr>
          <a:xfrm>
            <a:off x="5166360" y="2011680"/>
            <a:ext cx="1828800" cy="1828800"/>
          </a:xfrm>
          <a:prstGeom prst="ellipse">
            <a:avLst/>
          </a:prstGeom>
          <a:solidFill>
            <a:srgbClr val="B5443A"/>
          </a:solidFill>
          <a:ln w="12700">
            <a:solidFill>
              <a:srgbClr val="B5443A"/>
            </a:solidFill>
            <a:prstDash val="solid"/>
          </a:ln>
        </p:spPr>
      </p:sp>
      <p:sp>
        <p:nvSpPr>
          <p:cNvPr id="6" name="Text 4"/>
          <p:cNvSpPr txBox="1"/>
          <p:nvPr/>
        </p:nvSpPr>
        <p:spPr>
          <a:xfrm>
            <a:off x="5166360" y="2011680"/>
            <a:ext cx="1828800" cy="1828800"/>
          </a:xfrm>
          <a:prstGeom prst="rect">
            <a:avLst/>
          </a:prstGeom>
          <a:noFill/>
          <a:ln/>
        </p:spPr>
        <p:txBody>
          <a:bodyPr wrap="square" lIns="0" tIns="0" rIns="0" bIns="0" rtlCol="0" anchor="ctr"/>
          <a:lstStyle/>
          <a:p>
            <a:pPr algn="ctr" indent="0" marL="0">
              <a:buNone/>
            </a:pPr>
            <a:r>
              <a:rPr lang="en-US" sz="1500" b="1" dirty="0">
                <a:solidFill>
                  <a:srgbClr val="FFFFFF"/>
                </a:solidFill>
              </a:rPr>
              <a:t>Abierto</a:t>
            </a:r>
            <a:endParaRPr lang="en-US" sz="1500" dirty="0"/>
          </a:p>
          <a:p>
            <a:pPr algn="ctr" indent="0" marL="0">
              <a:buNone/>
            </a:pPr>
            <a:r>
              <a:rPr lang="en-US" sz="1500" b="1" dirty="0">
                <a:solidFill>
                  <a:srgbClr val="FFFFFF"/>
                </a:solidFill>
              </a:rPr>
              <a:t>no se envía tráfico</a:t>
            </a:r>
            <a:endParaRPr lang="en-US" sz="1500" dirty="0"/>
          </a:p>
        </p:txBody>
      </p:sp>
      <p:sp>
        <p:nvSpPr>
          <p:cNvPr id="7" name="Shape 5"/>
          <p:cNvSpPr/>
          <p:nvPr/>
        </p:nvSpPr>
        <p:spPr>
          <a:xfrm>
            <a:off x="9235440" y="2011680"/>
            <a:ext cx="1828800" cy="1828800"/>
          </a:xfrm>
          <a:prstGeom prst="ellipse">
            <a:avLst/>
          </a:prstGeom>
          <a:solidFill>
            <a:srgbClr val="D98E2B"/>
          </a:solidFill>
          <a:ln w="12700">
            <a:solidFill>
              <a:srgbClr val="D98E2B"/>
            </a:solidFill>
            <a:prstDash val="solid"/>
          </a:ln>
        </p:spPr>
      </p:sp>
      <p:sp>
        <p:nvSpPr>
          <p:cNvPr id="8" name="Text 6"/>
          <p:cNvSpPr txBox="1"/>
          <p:nvPr/>
        </p:nvSpPr>
        <p:spPr>
          <a:xfrm>
            <a:off x="9235440" y="2011680"/>
            <a:ext cx="1828800" cy="1828800"/>
          </a:xfrm>
          <a:prstGeom prst="rect">
            <a:avLst/>
          </a:prstGeom>
          <a:noFill/>
          <a:ln/>
        </p:spPr>
        <p:txBody>
          <a:bodyPr wrap="square" lIns="0" tIns="0" rIns="0" bIns="0" rtlCol="0" anchor="ctr"/>
          <a:lstStyle/>
          <a:p>
            <a:pPr algn="ctr" indent="0" marL="0">
              <a:buNone/>
            </a:pPr>
            <a:r>
              <a:rPr lang="en-US" sz="1500" b="1" dirty="0">
                <a:solidFill>
                  <a:srgbClr val="FFFFFF"/>
                </a:solidFill>
              </a:rPr>
              <a:t>Semiabierto</a:t>
            </a:r>
            <a:endParaRPr lang="en-US" sz="1500" dirty="0"/>
          </a:p>
          <a:p>
            <a:pPr algn="ctr" indent="0" marL="0">
              <a:buNone/>
            </a:pPr>
            <a:r>
              <a:rPr lang="en-US" sz="1500" b="1" dirty="0">
                <a:solidFill>
                  <a:srgbClr val="FFFFFF"/>
                </a:solidFill>
              </a:rPr>
              <a:t>una prueba</a:t>
            </a:r>
            <a:endParaRPr lang="en-US" sz="1500" dirty="0"/>
          </a:p>
        </p:txBody>
      </p:sp>
      <p:sp>
        <p:nvSpPr>
          <p:cNvPr id="9" name="Shape 7"/>
          <p:cNvSpPr/>
          <p:nvPr/>
        </p:nvSpPr>
        <p:spPr>
          <a:xfrm>
            <a:off x="2926080" y="2560320"/>
            <a:ext cx="2240280" cy="914"/>
          </a:xfrm>
          <a:prstGeom prst="line">
            <a:avLst/>
          </a:prstGeom>
          <a:noFill/>
          <a:ln w="19050">
            <a:solidFill>
              <a:srgbClr val="B5443A"/>
            </a:solidFill>
            <a:prstDash val="solid"/>
            <a:tailEnd type="triangle"/>
          </a:ln>
        </p:spPr>
      </p:sp>
      <p:sp>
        <p:nvSpPr>
          <p:cNvPr id="10" name="Text 8"/>
          <p:cNvSpPr txBox="1"/>
          <p:nvPr/>
        </p:nvSpPr>
        <p:spPr>
          <a:xfrm>
            <a:off x="2971800" y="2057400"/>
            <a:ext cx="2194560" cy="457200"/>
          </a:xfrm>
          <a:prstGeom prst="rect">
            <a:avLst/>
          </a:prstGeom>
          <a:noFill/>
          <a:ln/>
        </p:spPr>
        <p:txBody>
          <a:bodyPr wrap="square" lIns="0" tIns="0" rIns="0" bIns="0" rtlCol="0" anchor="ctr"/>
          <a:lstStyle/>
          <a:p>
            <a:pPr algn="ctr" indent="0" marL="0">
              <a:buNone/>
            </a:pPr>
            <a:r>
              <a:rPr lang="en-US" sz="1200" dirty="0">
                <a:solidFill>
                  <a:srgbClr val="1B1F24"/>
                </a:solidFill>
              </a:rPr>
              <a:t>N fallas en la ventana</a:t>
            </a:r>
            <a:endParaRPr lang="en-US" sz="1200" dirty="0"/>
          </a:p>
          <a:p>
            <a:pPr algn="ctr" indent="0" marL="0">
              <a:buNone/>
            </a:pPr>
            <a:r>
              <a:rPr lang="en-US" sz="1200" dirty="0">
                <a:solidFill>
                  <a:srgbClr val="1B1F24"/>
                </a:solidFill>
              </a:rPr>
              <a:t>o 429 con Retry-After</a:t>
            </a:r>
            <a:endParaRPr lang="en-US" sz="1200" dirty="0"/>
          </a:p>
        </p:txBody>
      </p:sp>
      <p:sp>
        <p:nvSpPr>
          <p:cNvPr id="11" name="Shape 9"/>
          <p:cNvSpPr/>
          <p:nvPr/>
        </p:nvSpPr>
        <p:spPr>
          <a:xfrm>
            <a:off x="6995160" y="2560320"/>
            <a:ext cx="2240280" cy="914"/>
          </a:xfrm>
          <a:prstGeom prst="line">
            <a:avLst/>
          </a:prstGeom>
          <a:noFill/>
          <a:ln w="19050">
            <a:solidFill>
              <a:srgbClr val="D98E2B"/>
            </a:solidFill>
            <a:prstDash val="solid"/>
            <a:tailEnd type="triangle"/>
          </a:ln>
        </p:spPr>
      </p:sp>
      <p:sp>
        <p:nvSpPr>
          <p:cNvPr id="12" name="Text 10"/>
          <p:cNvSpPr txBox="1"/>
          <p:nvPr/>
        </p:nvSpPr>
        <p:spPr>
          <a:xfrm>
            <a:off x="7040880" y="2057400"/>
            <a:ext cx="2194560" cy="457200"/>
          </a:xfrm>
          <a:prstGeom prst="rect">
            <a:avLst/>
          </a:prstGeom>
          <a:noFill/>
          <a:ln/>
        </p:spPr>
        <p:txBody>
          <a:bodyPr wrap="square" lIns="0" tIns="0" rIns="0" bIns="0" rtlCol="0" anchor="ctr"/>
          <a:lstStyle/>
          <a:p>
            <a:pPr algn="ctr" indent="0" marL="0">
              <a:buNone/>
            </a:pPr>
            <a:r>
              <a:rPr lang="en-US" sz="1200" dirty="0">
                <a:solidFill>
                  <a:srgbClr val="1B1F24"/>
                </a:solidFill>
              </a:rPr>
              <a:t>vence el tiempo</a:t>
            </a:r>
            <a:endParaRPr lang="en-US" sz="1200" dirty="0"/>
          </a:p>
          <a:p>
            <a:pPr algn="ctr" indent="0" marL="0">
              <a:buNone/>
            </a:pPr>
            <a:r>
              <a:rPr lang="en-US" sz="1200" dirty="0">
                <a:solidFill>
                  <a:srgbClr val="1B1F24"/>
                </a:solidFill>
              </a:rPr>
              <a:t>de apertura</a:t>
            </a:r>
            <a:endParaRPr lang="en-US" sz="1200" dirty="0"/>
          </a:p>
        </p:txBody>
      </p:sp>
      <p:sp>
        <p:nvSpPr>
          <p:cNvPr id="13" name="Shape 11"/>
          <p:cNvSpPr/>
          <p:nvPr/>
        </p:nvSpPr>
        <p:spPr>
          <a:xfrm flipH="1">
            <a:off x="5623560" y="3840480"/>
            <a:ext cx="4069080" cy="914"/>
          </a:xfrm>
          <a:prstGeom prst="line">
            <a:avLst/>
          </a:prstGeom>
          <a:noFill/>
          <a:ln w="19050">
            <a:solidFill>
              <a:srgbClr val="B5443A"/>
            </a:solidFill>
            <a:prstDash val="dash"/>
            <a:tailEnd type="triangle"/>
          </a:ln>
        </p:spPr>
      </p:sp>
      <p:sp>
        <p:nvSpPr>
          <p:cNvPr id="14" name="Text 12"/>
          <p:cNvSpPr txBox="1"/>
          <p:nvPr/>
        </p:nvSpPr>
        <p:spPr>
          <a:xfrm>
            <a:off x="6675120" y="3886200"/>
            <a:ext cx="2194560" cy="365760"/>
          </a:xfrm>
          <a:prstGeom prst="rect">
            <a:avLst/>
          </a:prstGeom>
          <a:noFill/>
          <a:ln/>
        </p:spPr>
        <p:txBody>
          <a:bodyPr wrap="square" lIns="0" tIns="0" rIns="0" bIns="0" rtlCol="0" anchor="ctr"/>
          <a:lstStyle/>
          <a:p>
            <a:pPr algn="ctr" indent="0" marL="0">
              <a:buNone/>
            </a:pPr>
            <a:r>
              <a:rPr lang="en-US" sz="1200" dirty="0">
                <a:solidFill>
                  <a:srgbClr val="1B1F24"/>
                </a:solidFill>
              </a:rPr>
              <a:t>la prueba falla</a:t>
            </a:r>
            <a:endParaRPr lang="en-US" sz="1200" dirty="0"/>
          </a:p>
        </p:txBody>
      </p:sp>
      <p:sp>
        <p:nvSpPr>
          <p:cNvPr id="15" name="Shape 13"/>
          <p:cNvSpPr/>
          <p:nvPr/>
        </p:nvSpPr>
        <p:spPr>
          <a:xfrm>
            <a:off x="10149840" y="3840480"/>
            <a:ext cx="914" cy="640080"/>
          </a:xfrm>
          <a:prstGeom prst="line">
            <a:avLst/>
          </a:prstGeom>
          <a:noFill/>
          <a:ln w="19050">
            <a:solidFill>
              <a:srgbClr val="2E9C8A"/>
            </a:solidFill>
            <a:prstDash val="solid"/>
            <a:tailEnd type="triangle"/>
          </a:ln>
        </p:spPr>
      </p:sp>
      <p:sp>
        <p:nvSpPr>
          <p:cNvPr id="16" name="Shape 14"/>
          <p:cNvSpPr/>
          <p:nvPr/>
        </p:nvSpPr>
        <p:spPr>
          <a:xfrm flipH="1">
            <a:off x="2011680" y="4480560"/>
            <a:ext cx="8138160" cy="914"/>
          </a:xfrm>
          <a:prstGeom prst="line">
            <a:avLst/>
          </a:prstGeom>
          <a:noFill/>
          <a:ln w="19050">
            <a:solidFill>
              <a:srgbClr val="2E9C8A"/>
            </a:solidFill>
            <a:prstDash val="solid"/>
            <a:tailEnd type="triangle"/>
          </a:ln>
        </p:spPr>
      </p:sp>
      <p:sp>
        <p:nvSpPr>
          <p:cNvPr id="17" name="Shape 15"/>
          <p:cNvSpPr/>
          <p:nvPr/>
        </p:nvSpPr>
        <p:spPr>
          <a:xfrm flipV="1">
            <a:off x="2011680" y="3840480"/>
            <a:ext cx="914" cy="640080"/>
          </a:xfrm>
          <a:prstGeom prst="line">
            <a:avLst/>
          </a:prstGeom>
          <a:noFill/>
          <a:ln w="19050">
            <a:solidFill>
              <a:srgbClr val="2E9C8A"/>
            </a:solidFill>
            <a:prstDash val="solid"/>
            <a:tailEnd type="triangle"/>
          </a:ln>
        </p:spPr>
      </p:sp>
      <p:sp>
        <p:nvSpPr>
          <p:cNvPr id="18" name="Text 16"/>
          <p:cNvSpPr txBox="1"/>
          <p:nvPr/>
        </p:nvSpPr>
        <p:spPr>
          <a:xfrm>
            <a:off x="4937760" y="4526280"/>
            <a:ext cx="2377440" cy="365760"/>
          </a:xfrm>
          <a:prstGeom prst="rect">
            <a:avLst/>
          </a:prstGeom>
          <a:noFill/>
          <a:ln/>
        </p:spPr>
        <p:txBody>
          <a:bodyPr wrap="square" lIns="0" tIns="0" rIns="0" bIns="0" rtlCol="0" anchor="ctr"/>
          <a:lstStyle/>
          <a:p>
            <a:pPr algn="ctr" indent="0" marL="0">
              <a:buNone/>
            </a:pPr>
            <a:r>
              <a:rPr lang="en-US" sz="1200" dirty="0">
                <a:solidFill>
                  <a:srgbClr val="1B1F24"/>
                </a:solidFill>
              </a:rPr>
              <a:t>la prueba tiene éxito</a:t>
            </a:r>
            <a:endParaRPr lang="en-US" sz="1200" dirty="0"/>
          </a:p>
        </p:txBody>
      </p:sp>
      <p:sp>
        <p:nvSpPr>
          <p:cNvPr id="19" name="Text 17"/>
          <p:cNvSpPr txBox="1"/>
          <p:nvPr/>
        </p:nvSpPr>
        <p:spPr>
          <a:xfrm>
            <a:off x="548640" y="5029200"/>
            <a:ext cx="11064240" cy="82296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Evita insistir sobre una región caída y da tiempo a que se recupere</a:t>
            </a:r>
            <a:endParaRPr lang="en-US" sz="1500" dirty="0"/>
          </a:p>
          <a:p>
            <a:pPr marL="342900" indent="-342900">
              <a:spcAft>
                <a:spcPts val="600"/>
              </a:spcAft>
              <a:buSzPct val="100000"/>
              <a:buChar char="•"/>
            </a:pPr>
            <a:r>
              <a:rPr lang="en-US" sz="1500" dirty="0">
                <a:solidFill>
                  <a:schemeClr val="tx1"/>
                </a:solidFill>
              </a:rPr>
              <a:t>Un 429 con Retry-After abre el circuito exactamente ese tiempo (no adivinar el throttling)</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Tormentas de reintentos: la amplificación</a:t>
            </a:r>
            <a:endParaRPr lang="en-US" sz="2800" dirty="0"/>
          </a:p>
        </p:txBody>
      </p:sp>
      <p:graphicFrame>
        <p:nvGraphicFramePr>
          <p:cNvPr id="3" name="Chart 0" descr=""/>
          <p:cNvGraphicFramePr/>
          <p:nvPr/>
        </p:nvGraphicFramePr>
        <p:xfrm>
          <a:off x="548640" y="1280160"/>
          <a:ext cx="5669280" cy="42062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492240" y="1371600"/>
            <a:ext cx="5120640" cy="420624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Frontend, gateway, backend y SDK pueden reintentar cada uno por su cuenta</a:t>
            </a:r>
            <a:endParaRPr lang="en-US" sz="1500" dirty="0"/>
          </a:p>
          <a:p>
            <a:pPr marL="342900" indent="-342900">
              <a:spcAft>
                <a:spcPts val="600"/>
              </a:spcAft>
              <a:buSzPct val="100000"/>
              <a:buChar char="•"/>
            </a:pPr>
            <a:r>
              <a:rPr lang="en-US" sz="1500" dirty="0">
                <a:solidFill>
                  <a:schemeClr val="tx1"/>
                </a:solidFill>
              </a:rPr>
              <a:t>Durante un incidente, la carga se multiplica justo cuando el proveedor está limitado</a:t>
            </a:r>
            <a:endParaRPr lang="en-US" sz="1500" dirty="0"/>
          </a:p>
          <a:p>
            <a:pPr marL="342900" indent="-342900">
              <a:spcAft>
                <a:spcPts val="600"/>
              </a:spcAft>
              <a:buSzPct val="100000"/>
              <a:buChar char="•"/>
            </a:pPr>
            <a:r>
              <a:rPr lang="en-US" sz="1500" dirty="0">
                <a:solidFill>
                  <a:schemeClr val="tx1"/>
                </a:solidFill>
              </a:rPr>
              <a:t>Reintentar en una sola capa; las demás fallan rápido</a:t>
            </a:r>
            <a:endParaRPr lang="en-US" sz="1500" dirty="0"/>
          </a:p>
          <a:p>
            <a:pPr marL="342900" indent="-342900">
              <a:spcAft>
                <a:spcPts val="600"/>
              </a:spcAft>
              <a:buSzPct val="100000"/>
              <a:buChar char="•"/>
            </a:pPr>
            <a:r>
              <a:rPr lang="en-US" sz="1500" dirty="0">
                <a:solidFill>
                  <a:schemeClr val="tx1"/>
                </a:solidFill>
              </a:rPr>
              <a:t>Desactivar los reintentos automáticos del SDK cuando un gateway conmuta (AZ-G, GCP-D y AWS-E lo hacen)</a:t>
            </a:r>
            <a:endParaRPr lang="en-US" sz="1500" dirty="0"/>
          </a:p>
          <a:p>
            <a:pPr marL="342900" indent="-342900">
              <a:spcAft>
                <a:spcPts val="600"/>
              </a:spcAft>
              <a:buSzPct val="100000"/>
              <a:buChar char="•"/>
            </a:pPr>
            <a:r>
              <a:rPr lang="en-US" sz="1500" dirty="0">
                <a:solidFill>
                  <a:schemeClr val="tx1"/>
                </a:solidFill>
              </a:rPr>
              <a:t>Presupuesto global: por ejemplo, reintentos ≤ 10 % del tráfico</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Streaming y conmutación: solo antes del primer token</a:t>
            </a:r>
            <a:endParaRPr lang="en-US" sz="2800" dirty="0"/>
          </a:p>
        </p:txBody>
      </p:sp>
      <p:sp>
        <p:nvSpPr>
          <p:cNvPr id="3" name="Shape 1"/>
          <p:cNvSpPr/>
          <p:nvPr/>
        </p:nvSpPr>
        <p:spPr>
          <a:xfrm>
            <a:off x="548640" y="1371600"/>
            <a:ext cx="1737360" cy="640080"/>
          </a:xfrm>
          <a:prstGeom prst="roundRect">
            <a:avLst>
              <a:gd name="adj" fmla="val 11429"/>
            </a:avLst>
          </a:prstGeom>
          <a:solidFill>
            <a:srgbClr val="DCEAF4"/>
          </a:solidFill>
          <a:ln w="12700">
            <a:solidFill>
              <a:srgbClr val="1F6F9F"/>
            </a:solidFill>
            <a:prstDash val="solid"/>
          </a:ln>
        </p:spPr>
      </p:sp>
      <p:sp>
        <p:nvSpPr>
          <p:cNvPr id="4" name="Text 2"/>
          <p:cNvSpPr txBox="1"/>
          <p:nvPr/>
        </p:nvSpPr>
        <p:spPr>
          <a:xfrm>
            <a:off x="548640" y="1371600"/>
            <a:ext cx="1737360" cy="640080"/>
          </a:xfrm>
          <a:prstGeom prst="rect">
            <a:avLst/>
          </a:prstGeom>
          <a:noFill/>
          <a:ln/>
        </p:spPr>
        <p:txBody>
          <a:bodyPr wrap="square" lIns="635" tIns="635" rIns="635" bIns="635" rtlCol="0" anchor="ctr"/>
          <a:lstStyle/>
          <a:p>
            <a:pPr algn="ctr" indent="0" marL="0">
              <a:buNone/>
            </a:pPr>
            <a:r>
              <a:rPr lang="en-US" sz="1400" b="1" dirty="0">
                <a:solidFill>
                  <a:srgbClr val="1B1F24"/>
                </a:solidFill>
              </a:rPr>
              <a:t>Cliente</a:t>
            </a:r>
            <a:endParaRPr lang="en-US" sz="1400" dirty="0"/>
          </a:p>
        </p:txBody>
      </p:sp>
      <p:sp>
        <p:nvSpPr>
          <p:cNvPr id="5" name="Shape 3"/>
          <p:cNvSpPr/>
          <p:nvPr/>
        </p:nvSpPr>
        <p:spPr>
          <a:xfrm>
            <a:off x="3108960" y="1371600"/>
            <a:ext cx="1737360" cy="640080"/>
          </a:xfrm>
          <a:prstGeom prst="roundRect">
            <a:avLst>
              <a:gd name="adj" fmla="val 11429"/>
            </a:avLst>
          </a:prstGeom>
          <a:solidFill>
            <a:srgbClr val="F2F4F6"/>
          </a:solidFill>
          <a:ln w="12700">
            <a:solidFill>
              <a:srgbClr val="1F6F9F"/>
            </a:solidFill>
            <a:prstDash val="solid"/>
          </a:ln>
        </p:spPr>
      </p:sp>
      <p:sp>
        <p:nvSpPr>
          <p:cNvPr id="6" name="Text 4"/>
          <p:cNvSpPr txBox="1"/>
          <p:nvPr/>
        </p:nvSpPr>
        <p:spPr>
          <a:xfrm>
            <a:off x="3108960" y="1371600"/>
            <a:ext cx="1737360" cy="640080"/>
          </a:xfrm>
          <a:prstGeom prst="rect">
            <a:avLst/>
          </a:prstGeom>
          <a:noFill/>
          <a:ln/>
        </p:spPr>
        <p:txBody>
          <a:bodyPr wrap="square" lIns="635" tIns="635" rIns="635" bIns="635" rtlCol="0" anchor="ctr"/>
          <a:lstStyle/>
          <a:p>
            <a:pPr algn="ctr" indent="0" marL="0">
              <a:buNone/>
            </a:pPr>
            <a:r>
              <a:rPr lang="en-US" sz="1400" b="1" dirty="0">
                <a:solidFill>
                  <a:srgbClr val="1B1F24"/>
                </a:solidFill>
              </a:rPr>
              <a:t>Gateway</a:t>
            </a:r>
            <a:endParaRPr lang="en-US" sz="1400" dirty="0"/>
          </a:p>
        </p:txBody>
      </p:sp>
      <p:sp>
        <p:nvSpPr>
          <p:cNvPr id="7" name="Shape 5"/>
          <p:cNvSpPr/>
          <p:nvPr/>
        </p:nvSpPr>
        <p:spPr>
          <a:xfrm>
            <a:off x="5852160" y="1371600"/>
            <a:ext cx="2194560" cy="640080"/>
          </a:xfrm>
          <a:prstGeom prst="roundRect">
            <a:avLst>
              <a:gd name="adj" fmla="val 11429"/>
            </a:avLst>
          </a:prstGeom>
          <a:solidFill>
            <a:srgbClr val="F6E1DF"/>
          </a:solidFill>
          <a:ln w="12700">
            <a:solidFill>
              <a:srgbClr val="1F6F9F"/>
            </a:solidFill>
            <a:prstDash val="solid"/>
          </a:ln>
        </p:spPr>
      </p:sp>
      <p:sp>
        <p:nvSpPr>
          <p:cNvPr id="8" name="Text 6"/>
          <p:cNvSpPr txBox="1"/>
          <p:nvPr/>
        </p:nvSpPr>
        <p:spPr>
          <a:xfrm>
            <a:off x="5852160" y="1371600"/>
            <a:ext cx="2194560" cy="640080"/>
          </a:xfrm>
          <a:prstGeom prst="rect">
            <a:avLst/>
          </a:prstGeom>
          <a:noFill/>
          <a:ln/>
        </p:spPr>
        <p:txBody>
          <a:bodyPr wrap="square" lIns="635" tIns="635" rIns="635" bIns="635" rtlCol="0" anchor="ctr"/>
          <a:lstStyle/>
          <a:p>
            <a:pPr algn="ctr" indent="0" marL="0">
              <a:buNone/>
            </a:pPr>
            <a:r>
              <a:rPr lang="en-US" sz="1400" b="1" dirty="0">
                <a:solidFill>
                  <a:srgbClr val="1B1F24"/>
                </a:solidFill>
              </a:rPr>
              <a:t>Región A</a:t>
            </a:r>
            <a:endParaRPr lang="en-US" sz="1400" dirty="0"/>
          </a:p>
        </p:txBody>
      </p:sp>
      <p:sp>
        <p:nvSpPr>
          <p:cNvPr id="9" name="Shape 7"/>
          <p:cNvSpPr/>
          <p:nvPr/>
        </p:nvSpPr>
        <p:spPr>
          <a:xfrm>
            <a:off x="9052560" y="1371600"/>
            <a:ext cx="2194560" cy="640080"/>
          </a:xfrm>
          <a:prstGeom prst="roundRect">
            <a:avLst>
              <a:gd name="adj" fmla="val 11429"/>
            </a:avLst>
          </a:prstGeom>
          <a:solidFill>
            <a:srgbClr val="E3F2EF"/>
          </a:solidFill>
          <a:ln w="12700">
            <a:solidFill>
              <a:srgbClr val="1F6F9F"/>
            </a:solidFill>
            <a:prstDash val="solid"/>
          </a:ln>
        </p:spPr>
      </p:sp>
      <p:sp>
        <p:nvSpPr>
          <p:cNvPr id="10" name="Text 8"/>
          <p:cNvSpPr txBox="1"/>
          <p:nvPr/>
        </p:nvSpPr>
        <p:spPr>
          <a:xfrm>
            <a:off x="9052560" y="1371600"/>
            <a:ext cx="2194560" cy="640080"/>
          </a:xfrm>
          <a:prstGeom prst="rect">
            <a:avLst/>
          </a:prstGeom>
          <a:noFill/>
          <a:ln/>
        </p:spPr>
        <p:txBody>
          <a:bodyPr wrap="square" lIns="635" tIns="635" rIns="635" bIns="635" rtlCol="0" anchor="ctr"/>
          <a:lstStyle/>
          <a:p>
            <a:pPr algn="ctr" indent="0" marL="0">
              <a:buNone/>
            </a:pPr>
            <a:r>
              <a:rPr lang="en-US" sz="1400" b="1" dirty="0">
                <a:solidFill>
                  <a:srgbClr val="1B1F24"/>
                </a:solidFill>
              </a:rPr>
              <a:t>Región B</a:t>
            </a:r>
            <a:endParaRPr lang="en-US" sz="1400" dirty="0"/>
          </a:p>
        </p:txBody>
      </p:sp>
      <p:sp>
        <p:nvSpPr>
          <p:cNvPr id="11" name="Shape 9"/>
          <p:cNvSpPr/>
          <p:nvPr/>
        </p:nvSpPr>
        <p:spPr>
          <a:xfrm>
            <a:off x="1417320" y="2011680"/>
            <a:ext cx="914" cy="2926080"/>
          </a:xfrm>
          <a:prstGeom prst="line">
            <a:avLst/>
          </a:prstGeom>
          <a:noFill/>
          <a:ln w="12700">
            <a:solidFill>
              <a:srgbClr val="C9D1D9"/>
            </a:solidFill>
            <a:prstDash val="dash"/>
          </a:ln>
        </p:spPr>
      </p:sp>
      <p:sp>
        <p:nvSpPr>
          <p:cNvPr id="12" name="Shape 10"/>
          <p:cNvSpPr/>
          <p:nvPr/>
        </p:nvSpPr>
        <p:spPr>
          <a:xfrm>
            <a:off x="3977640" y="2011680"/>
            <a:ext cx="914" cy="2926080"/>
          </a:xfrm>
          <a:prstGeom prst="line">
            <a:avLst/>
          </a:prstGeom>
          <a:noFill/>
          <a:ln w="12700">
            <a:solidFill>
              <a:srgbClr val="C9D1D9"/>
            </a:solidFill>
            <a:prstDash val="dash"/>
          </a:ln>
        </p:spPr>
      </p:sp>
      <p:sp>
        <p:nvSpPr>
          <p:cNvPr id="13" name="Shape 11"/>
          <p:cNvSpPr/>
          <p:nvPr/>
        </p:nvSpPr>
        <p:spPr>
          <a:xfrm>
            <a:off x="6949440" y="2011680"/>
            <a:ext cx="914" cy="2926080"/>
          </a:xfrm>
          <a:prstGeom prst="line">
            <a:avLst/>
          </a:prstGeom>
          <a:noFill/>
          <a:ln w="12700">
            <a:solidFill>
              <a:srgbClr val="C9D1D9"/>
            </a:solidFill>
            <a:prstDash val="dash"/>
          </a:ln>
        </p:spPr>
      </p:sp>
      <p:sp>
        <p:nvSpPr>
          <p:cNvPr id="14" name="Shape 12"/>
          <p:cNvSpPr/>
          <p:nvPr/>
        </p:nvSpPr>
        <p:spPr>
          <a:xfrm>
            <a:off x="10149840" y="2011680"/>
            <a:ext cx="914" cy="2926080"/>
          </a:xfrm>
          <a:prstGeom prst="line">
            <a:avLst/>
          </a:prstGeom>
          <a:noFill/>
          <a:ln w="12700">
            <a:solidFill>
              <a:srgbClr val="C9D1D9"/>
            </a:solidFill>
            <a:prstDash val="dash"/>
          </a:ln>
        </p:spPr>
      </p:sp>
      <p:sp>
        <p:nvSpPr>
          <p:cNvPr id="15" name="Shape 13"/>
          <p:cNvSpPr/>
          <p:nvPr/>
        </p:nvSpPr>
        <p:spPr>
          <a:xfrm>
            <a:off x="1417320" y="2377440"/>
            <a:ext cx="2560320" cy="914"/>
          </a:xfrm>
          <a:prstGeom prst="line">
            <a:avLst/>
          </a:prstGeom>
          <a:noFill/>
          <a:ln w="19050">
            <a:solidFill>
              <a:srgbClr val="1F6F9F"/>
            </a:solidFill>
            <a:prstDash val="solid"/>
            <a:tailEnd type="triangle"/>
          </a:ln>
        </p:spPr>
      </p:sp>
      <p:sp>
        <p:nvSpPr>
          <p:cNvPr id="16" name="Text 14"/>
          <p:cNvSpPr txBox="1"/>
          <p:nvPr/>
        </p:nvSpPr>
        <p:spPr>
          <a:xfrm>
            <a:off x="1463040" y="2103120"/>
            <a:ext cx="2468880" cy="274320"/>
          </a:xfrm>
          <a:prstGeom prst="rect">
            <a:avLst/>
          </a:prstGeom>
          <a:noFill/>
          <a:ln/>
        </p:spPr>
        <p:txBody>
          <a:bodyPr wrap="square" lIns="0" tIns="0" rIns="0" bIns="0" rtlCol="0" anchor="ctr"/>
          <a:lstStyle/>
          <a:p>
            <a:pPr algn="l" indent="0" marL="0">
              <a:buNone/>
            </a:pPr>
            <a:r>
              <a:rPr lang="en-US" sz="1100" dirty="0">
                <a:solidFill>
                  <a:srgbClr val="1B1F24"/>
                </a:solidFill>
              </a:rPr>
              <a:t>POST /v1/chat/stream</a:t>
            </a:r>
            <a:endParaRPr lang="en-US" sz="1100" dirty="0"/>
          </a:p>
        </p:txBody>
      </p:sp>
      <p:sp>
        <p:nvSpPr>
          <p:cNvPr id="17" name="Shape 15"/>
          <p:cNvSpPr/>
          <p:nvPr/>
        </p:nvSpPr>
        <p:spPr>
          <a:xfrm>
            <a:off x="3977640" y="2743200"/>
            <a:ext cx="2971800" cy="914"/>
          </a:xfrm>
          <a:prstGeom prst="line">
            <a:avLst/>
          </a:prstGeom>
          <a:noFill/>
          <a:ln w="19050">
            <a:solidFill>
              <a:srgbClr val="1F6F9F"/>
            </a:solidFill>
            <a:prstDash val="solid"/>
            <a:tailEnd type="triangle"/>
          </a:ln>
        </p:spPr>
      </p:sp>
      <p:sp>
        <p:nvSpPr>
          <p:cNvPr id="18" name="Text 16"/>
          <p:cNvSpPr txBox="1"/>
          <p:nvPr/>
        </p:nvSpPr>
        <p:spPr>
          <a:xfrm>
            <a:off x="4023360" y="2468880"/>
            <a:ext cx="2834640" cy="274320"/>
          </a:xfrm>
          <a:prstGeom prst="rect">
            <a:avLst/>
          </a:prstGeom>
          <a:noFill/>
          <a:ln/>
        </p:spPr>
        <p:txBody>
          <a:bodyPr wrap="square" lIns="0" tIns="0" rIns="0" bIns="0" rtlCol="0" anchor="ctr"/>
          <a:lstStyle/>
          <a:p>
            <a:pPr algn="l" indent="0" marL="0">
              <a:buNone/>
            </a:pPr>
            <a:r>
              <a:rPr lang="en-US" sz="1100" dirty="0">
                <a:solidFill>
                  <a:srgbClr val="1B1F24"/>
                </a:solidFill>
              </a:rPr>
              <a:t>intento 1</a:t>
            </a:r>
            <a:endParaRPr lang="en-US" sz="1100" dirty="0"/>
          </a:p>
        </p:txBody>
      </p:sp>
      <p:sp>
        <p:nvSpPr>
          <p:cNvPr id="19" name="Shape 17"/>
          <p:cNvSpPr/>
          <p:nvPr/>
        </p:nvSpPr>
        <p:spPr>
          <a:xfrm flipH="1">
            <a:off x="3977640" y="3108960"/>
            <a:ext cx="2971800" cy="914"/>
          </a:xfrm>
          <a:prstGeom prst="line">
            <a:avLst/>
          </a:prstGeom>
          <a:noFill/>
          <a:ln w="19050">
            <a:solidFill>
              <a:srgbClr val="B5443A"/>
            </a:solidFill>
            <a:prstDash val="solid"/>
            <a:tailEnd type="triangle"/>
          </a:ln>
        </p:spPr>
      </p:sp>
      <p:sp>
        <p:nvSpPr>
          <p:cNvPr id="20" name="Text 18"/>
          <p:cNvSpPr txBox="1"/>
          <p:nvPr/>
        </p:nvSpPr>
        <p:spPr>
          <a:xfrm>
            <a:off x="4023360" y="2834640"/>
            <a:ext cx="2834640" cy="274320"/>
          </a:xfrm>
          <a:prstGeom prst="rect">
            <a:avLst/>
          </a:prstGeom>
          <a:noFill/>
          <a:ln/>
        </p:spPr>
        <p:txBody>
          <a:bodyPr wrap="square" lIns="0" tIns="0" rIns="0" bIns="0" rtlCol="0" anchor="ctr"/>
          <a:lstStyle/>
          <a:p>
            <a:pPr algn="l" indent="0" marL="0">
              <a:buNone/>
            </a:pPr>
            <a:r>
              <a:rPr lang="en-US" sz="1100" dirty="0">
                <a:solidFill>
                  <a:srgbClr val="B5443A"/>
                </a:solidFill>
              </a:rPr>
              <a:t>503 o timeout antes del primer byte</a:t>
            </a:r>
            <a:endParaRPr lang="en-US" sz="1100" dirty="0"/>
          </a:p>
        </p:txBody>
      </p:sp>
      <p:sp>
        <p:nvSpPr>
          <p:cNvPr id="21" name="Shape 19"/>
          <p:cNvSpPr/>
          <p:nvPr/>
        </p:nvSpPr>
        <p:spPr>
          <a:xfrm>
            <a:off x="3977640" y="3520440"/>
            <a:ext cx="6172200" cy="914"/>
          </a:xfrm>
          <a:prstGeom prst="line">
            <a:avLst/>
          </a:prstGeom>
          <a:noFill/>
          <a:ln w="19050">
            <a:solidFill>
              <a:srgbClr val="1F6F9F"/>
            </a:solidFill>
            <a:prstDash val="solid"/>
            <a:tailEnd type="triangle"/>
          </a:ln>
        </p:spPr>
      </p:sp>
      <p:sp>
        <p:nvSpPr>
          <p:cNvPr id="22" name="Text 20"/>
          <p:cNvSpPr txBox="1"/>
          <p:nvPr/>
        </p:nvSpPr>
        <p:spPr>
          <a:xfrm>
            <a:off x="4023360" y="3246120"/>
            <a:ext cx="6035040" cy="274320"/>
          </a:xfrm>
          <a:prstGeom prst="rect">
            <a:avLst/>
          </a:prstGeom>
          <a:noFill/>
          <a:ln/>
        </p:spPr>
        <p:txBody>
          <a:bodyPr wrap="square" lIns="0" tIns="0" rIns="0" bIns="0" rtlCol="0" anchor="ctr"/>
          <a:lstStyle/>
          <a:p>
            <a:pPr algn="l" indent="0" marL="0">
              <a:buNone/>
            </a:pPr>
            <a:r>
              <a:rPr lang="en-US" sz="1100" dirty="0">
                <a:solidFill>
                  <a:srgbClr val="1B1F24"/>
                </a:solidFill>
              </a:rPr>
              <a:t>intento 2 en la región B</a:t>
            </a:r>
            <a:endParaRPr lang="en-US" sz="1100" dirty="0"/>
          </a:p>
        </p:txBody>
      </p:sp>
      <p:sp>
        <p:nvSpPr>
          <p:cNvPr id="23" name="Shape 21"/>
          <p:cNvSpPr/>
          <p:nvPr/>
        </p:nvSpPr>
        <p:spPr>
          <a:xfrm flipH="1">
            <a:off x="3977640" y="3931920"/>
            <a:ext cx="6172200" cy="914"/>
          </a:xfrm>
          <a:prstGeom prst="line">
            <a:avLst/>
          </a:prstGeom>
          <a:noFill/>
          <a:ln w="19050">
            <a:solidFill>
              <a:srgbClr val="2E9C8A"/>
            </a:solidFill>
            <a:prstDash val="solid"/>
            <a:tailEnd type="triangle"/>
          </a:ln>
        </p:spPr>
      </p:sp>
      <p:sp>
        <p:nvSpPr>
          <p:cNvPr id="24" name="Text 22"/>
          <p:cNvSpPr txBox="1"/>
          <p:nvPr/>
        </p:nvSpPr>
        <p:spPr>
          <a:xfrm>
            <a:off x="4023360" y="3657600"/>
            <a:ext cx="6035040" cy="274320"/>
          </a:xfrm>
          <a:prstGeom prst="rect">
            <a:avLst/>
          </a:prstGeom>
          <a:noFill/>
          <a:ln/>
        </p:spPr>
        <p:txBody>
          <a:bodyPr wrap="square" lIns="0" tIns="0" rIns="0" bIns="0" rtlCol="0" anchor="ctr"/>
          <a:lstStyle/>
          <a:p>
            <a:pPr algn="l" indent="0" marL="0">
              <a:buNone/>
            </a:pPr>
            <a:r>
              <a:rPr lang="en-US" sz="1100" dirty="0">
                <a:solidFill>
                  <a:srgbClr val="2E9C8A"/>
                </a:solidFill>
              </a:rPr>
              <a:t>tokens</a:t>
            </a:r>
            <a:endParaRPr lang="en-US" sz="1100" dirty="0"/>
          </a:p>
        </p:txBody>
      </p:sp>
      <p:sp>
        <p:nvSpPr>
          <p:cNvPr id="25" name="Shape 23"/>
          <p:cNvSpPr/>
          <p:nvPr/>
        </p:nvSpPr>
        <p:spPr>
          <a:xfrm flipH="1">
            <a:off x="1417320" y="4297680"/>
            <a:ext cx="2560320" cy="914"/>
          </a:xfrm>
          <a:prstGeom prst="line">
            <a:avLst/>
          </a:prstGeom>
          <a:noFill/>
          <a:ln w="19050">
            <a:solidFill>
              <a:srgbClr val="2E9C8A"/>
            </a:solidFill>
            <a:prstDash val="solid"/>
            <a:tailEnd type="triangle"/>
          </a:ln>
        </p:spPr>
      </p:sp>
      <p:sp>
        <p:nvSpPr>
          <p:cNvPr id="26" name="Text 24"/>
          <p:cNvSpPr txBox="1"/>
          <p:nvPr/>
        </p:nvSpPr>
        <p:spPr>
          <a:xfrm>
            <a:off x="1463040" y="4023360"/>
            <a:ext cx="2468880" cy="274320"/>
          </a:xfrm>
          <a:prstGeom prst="rect">
            <a:avLst/>
          </a:prstGeom>
          <a:noFill/>
          <a:ln/>
        </p:spPr>
        <p:txBody>
          <a:bodyPr wrap="square" lIns="0" tIns="0" rIns="0" bIns="0" rtlCol="0" anchor="ctr"/>
          <a:lstStyle/>
          <a:p>
            <a:pPr algn="l" indent="0" marL="0">
              <a:buNone/>
            </a:pPr>
            <a:r>
              <a:rPr lang="en-US" sz="1100" dirty="0">
                <a:solidFill>
                  <a:srgbClr val="2E9C8A"/>
                </a:solidFill>
              </a:rPr>
              <a:t>evento region + tokens</a:t>
            </a:r>
            <a:endParaRPr lang="en-US" sz="1100" dirty="0"/>
          </a:p>
        </p:txBody>
      </p:sp>
      <p:sp>
        <p:nvSpPr>
          <p:cNvPr id="27" name="Text 25"/>
          <p:cNvSpPr txBox="1"/>
          <p:nvPr/>
        </p:nvSpPr>
        <p:spPr>
          <a:xfrm>
            <a:off x="548640" y="5074920"/>
            <a:ext cx="11064240" cy="82296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Si la región falla después del primer token, conmutar duplicaría o mezclaría texto: se informa el error</a:t>
            </a:r>
            <a:endParaRPr lang="en-US" sz="1500" dirty="0"/>
          </a:p>
          <a:p>
            <a:pPr marL="342900" indent="-342900">
              <a:spcAft>
                <a:spcPts val="600"/>
              </a:spcAft>
              <a:buSzPct val="100000"/>
              <a:buChar char="•"/>
            </a:pPr>
            <a:r>
              <a:rPr lang="en-US" sz="1500" dirty="0">
                <a:solidFill>
                  <a:schemeClr val="tx1"/>
                </a:solidFill>
              </a:rPr>
              <a:t>El estado de la conversación debe estar fuera de la región para que la siguiente pregunta funcione en B</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El gateway de IA: ventajas y riesgos</a:t>
            </a:r>
            <a:endParaRPr lang="en-US" sz="2800" dirty="0"/>
          </a:p>
        </p:txBody>
      </p:sp>
      <p:sp>
        <p:nvSpPr>
          <p:cNvPr id="3" name="Shape 1"/>
          <p:cNvSpPr/>
          <p:nvPr/>
        </p:nvSpPr>
        <p:spPr>
          <a:xfrm>
            <a:off x="548640" y="1325880"/>
            <a:ext cx="5394960" cy="548640"/>
          </a:xfrm>
          <a:prstGeom prst="roundRect">
            <a:avLst>
              <a:gd name="adj" fmla="val 13333"/>
            </a:avLst>
          </a:prstGeom>
          <a:solidFill>
            <a:srgbClr val="E3F2EF"/>
          </a:solidFill>
          <a:ln w="12700">
            <a:solidFill>
              <a:srgbClr val="1F6F9F"/>
            </a:solidFill>
            <a:prstDash val="solid"/>
          </a:ln>
        </p:spPr>
      </p:sp>
      <p:sp>
        <p:nvSpPr>
          <p:cNvPr id="4" name="Text 2"/>
          <p:cNvSpPr txBox="1"/>
          <p:nvPr/>
        </p:nvSpPr>
        <p:spPr>
          <a:xfrm>
            <a:off x="548640" y="1325880"/>
            <a:ext cx="5394960" cy="548640"/>
          </a:xfrm>
          <a:prstGeom prst="rect">
            <a:avLst/>
          </a:prstGeom>
          <a:noFill/>
          <a:ln/>
        </p:spPr>
        <p:txBody>
          <a:bodyPr wrap="square" lIns="635" tIns="635" rIns="635" bIns="635" rtlCol="0" anchor="ctr"/>
          <a:lstStyle/>
          <a:p>
            <a:pPr algn="ctr" indent="0" marL="0">
              <a:buNone/>
            </a:pPr>
            <a:r>
              <a:rPr lang="en-US" sz="1600" b="1" dirty="0">
                <a:solidFill>
                  <a:srgbClr val="1B1F24"/>
                </a:solidFill>
              </a:rPr>
              <a:t>Lo que aporta</a:t>
            </a:r>
            <a:endParaRPr lang="en-US" sz="1600" dirty="0"/>
          </a:p>
        </p:txBody>
      </p:sp>
      <p:sp>
        <p:nvSpPr>
          <p:cNvPr id="5" name="Text 3"/>
          <p:cNvSpPr txBox="1"/>
          <p:nvPr/>
        </p:nvSpPr>
        <p:spPr>
          <a:xfrm>
            <a:off x="548640" y="1965960"/>
            <a:ext cx="5394960" cy="329184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Conmutación y circuit breaker en un solo lugar</a:t>
            </a:r>
            <a:endParaRPr lang="en-US" sz="1500" dirty="0"/>
          </a:p>
          <a:p>
            <a:pPr marL="342900" indent="-342900">
              <a:spcAft>
                <a:spcPts val="600"/>
              </a:spcAft>
              <a:buSzPct val="100000"/>
              <a:buChar char="•"/>
            </a:pPr>
            <a:r>
              <a:rPr lang="en-US" sz="1500" dirty="0">
                <a:solidFill>
                  <a:schemeClr val="tx1"/>
                </a:solidFill>
              </a:rPr>
              <a:t>Límites de tokens por cliente (p. ej., llm-token-limit en APIM)</a:t>
            </a:r>
            <a:endParaRPr lang="en-US" sz="1500" dirty="0"/>
          </a:p>
          <a:p>
            <a:pPr marL="342900" indent="-342900">
              <a:spcAft>
                <a:spcPts val="600"/>
              </a:spcAft>
              <a:buSzPct val="100000"/>
              <a:buChar char="•"/>
            </a:pPr>
            <a:r>
              <a:rPr lang="en-US" sz="1500" dirty="0">
                <a:solidFill>
                  <a:schemeClr val="tx1"/>
                </a:solidFill>
              </a:rPr>
              <a:t>Observabilidad central: tokens, latencia, región</a:t>
            </a:r>
            <a:endParaRPr lang="en-US" sz="1500" dirty="0"/>
          </a:p>
          <a:p>
            <a:pPr marL="342900" indent="-342900">
              <a:spcAft>
                <a:spcPts val="600"/>
              </a:spcAft>
              <a:buSzPct val="100000"/>
              <a:buChar char="•"/>
            </a:pPr>
            <a:r>
              <a:rPr lang="en-US" sz="1500" dirty="0">
                <a:solidFill>
                  <a:schemeClr val="tx1"/>
                </a:solidFill>
              </a:rPr>
              <a:t>Prioridad entre cargas y entre despliegues (PTU primero, pago por uso después)</a:t>
            </a:r>
            <a:endParaRPr lang="en-US" sz="1500" dirty="0"/>
          </a:p>
          <a:p>
            <a:pPr marL="342900" indent="-342900">
              <a:spcAft>
                <a:spcPts val="600"/>
              </a:spcAft>
              <a:buSzPct val="100000"/>
              <a:buChar char="•"/>
            </a:pPr>
            <a:r>
              <a:rPr lang="en-US" sz="1500" dirty="0">
                <a:solidFill>
                  <a:schemeClr val="tx1"/>
                </a:solidFill>
              </a:rPr>
              <a:t>Contrato propio: cambiar de proveedor sin tocar clientes</a:t>
            </a:r>
            <a:endParaRPr lang="en-US" sz="1500" dirty="0"/>
          </a:p>
        </p:txBody>
      </p:sp>
      <p:sp>
        <p:nvSpPr>
          <p:cNvPr id="6" name="Shape 4"/>
          <p:cNvSpPr/>
          <p:nvPr/>
        </p:nvSpPr>
        <p:spPr>
          <a:xfrm>
            <a:off x="6217920" y="1325880"/>
            <a:ext cx="5394960" cy="548640"/>
          </a:xfrm>
          <a:prstGeom prst="roundRect">
            <a:avLst>
              <a:gd name="adj" fmla="val 13333"/>
            </a:avLst>
          </a:prstGeom>
          <a:solidFill>
            <a:srgbClr val="F6E1DF"/>
          </a:solidFill>
          <a:ln w="12700">
            <a:solidFill>
              <a:srgbClr val="1F6F9F"/>
            </a:solidFill>
            <a:prstDash val="solid"/>
          </a:ln>
        </p:spPr>
      </p:sp>
      <p:sp>
        <p:nvSpPr>
          <p:cNvPr id="7" name="Text 5"/>
          <p:cNvSpPr txBox="1"/>
          <p:nvPr/>
        </p:nvSpPr>
        <p:spPr>
          <a:xfrm>
            <a:off x="6217920" y="1325880"/>
            <a:ext cx="5394960" cy="548640"/>
          </a:xfrm>
          <a:prstGeom prst="rect">
            <a:avLst/>
          </a:prstGeom>
          <a:noFill/>
          <a:ln/>
        </p:spPr>
        <p:txBody>
          <a:bodyPr wrap="square" lIns="635" tIns="635" rIns="635" bIns="635" rtlCol="0" anchor="ctr"/>
          <a:lstStyle/>
          <a:p>
            <a:pPr algn="ctr" indent="0" marL="0">
              <a:buNone/>
            </a:pPr>
            <a:r>
              <a:rPr lang="en-US" sz="1600" b="1" dirty="0">
                <a:solidFill>
                  <a:srgbClr val="1B1F24"/>
                </a:solidFill>
              </a:rPr>
              <a:t>Lo que arriesga</a:t>
            </a:r>
            <a:endParaRPr lang="en-US" sz="1600" dirty="0"/>
          </a:p>
        </p:txBody>
      </p:sp>
      <p:sp>
        <p:nvSpPr>
          <p:cNvPr id="8" name="Text 6"/>
          <p:cNvSpPr txBox="1"/>
          <p:nvPr/>
        </p:nvSpPr>
        <p:spPr>
          <a:xfrm>
            <a:off x="6217920" y="1965960"/>
            <a:ext cx="5394960" cy="329184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Nuevo componente en serie: su disponibilidad es el techo</a:t>
            </a:r>
            <a:endParaRPr lang="en-US" sz="1500" dirty="0"/>
          </a:p>
          <a:p>
            <a:pPr marL="342900" indent="-342900">
              <a:spcAft>
                <a:spcPts val="600"/>
              </a:spcAft>
              <a:buSzPct val="100000"/>
              <a:buChar char="•"/>
            </a:pPr>
            <a:r>
              <a:rPr lang="en-US" sz="1500" dirty="0">
                <a:solidFill>
                  <a:schemeClr val="tx1"/>
                </a:solidFill>
              </a:rPr>
              <a:t>Si vive en una sola región, vuelve a ser punto único de falla</a:t>
            </a:r>
            <a:endParaRPr lang="en-US" sz="1500" dirty="0"/>
          </a:p>
          <a:p>
            <a:pPr marL="342900" indent="-342900">
              <a:spcAft>
                <a:spcPts val="600"/>
              </a:spcAft>
              <a:buSzPct val="100000"/>
              <a:buChar char="•"/>
            </a:pPr>
            <a:r>
              <a:rPr lang="en-US" sz="1500" dirty="0">
                <a:solidFill>
                  <a:schemeClr val="tx1"/>
                </a:solidFill>
              </a:rPr>
              <a:t>Latencia adicional por salto</a:t>
            </a:r>
            <a:endParaRPr lang="en-US" sz="1500" dirty="0"/>
          </a:p>
          <a:p>
            <a:pPr marL="342900" indent="-342900">
              <a:spcAft>
                <a:spcPts val="600"/>
              </a:spcAft>
              <a:buSzPct val="100000"/>
              <a:buChar char="•"/>
            </a:pPr>
            <a:r>
              <a:rPr lang="en-US" sz="1500" dirty="0">
                <a:solidFill>
                  <a:schemeClr val="tx1"/>
                </a:solidFill>
              </a:rPr>
              <a:t>Un gateway unificado entre jurisdicciones puede violar la residencia</a:t>
            </a:r>
            <a:endParaRPr lang="en-US" sz="1500" dirty="0"/>
          </a:p>
          <a:p>
            <a:pPr marL="342900" indent="-342900">
              <a:spcAft>
                <a:spcPts val="600"/>
              </a:spcAft>
              <a:buSzPct val="100000"/>
              <a:buChar char="•"/>
            </a:pPr>
            <a:r>
              <a:rPr lang="en-US" sz="1500" dirty="0">
                <a:solidFill>
                  <a:schemeClr val="tx1"/>
                </a:solidFill>
              </a:rPr>
              <a:t>Más superficie de ataque y más operación</a:t>
            </a:r>
            <a:endParaRPr lang="en-US" sz="1500" dirty="0"/>
          </a:p>
        </p:txBody>
      </p:sp>
      <p:sp>
        <p:nvSpPr>
          <p:cNvPr id="9" name="Shape 7"/>
          <p:cNvSpPr/>
          <p:nvPr/>
        </p:nvSpPr>
        <p:spPr>
          <a:xfrm>
            <a:off x="548640" y="5623560"/>
            <a:ext cx="11064240" cy="566928"/>
          </a:xfrm>
          <a:prstGeom prst="roundRect">
            <a:avLst>
              <a:gd name="adj" fmla="val 12903"/>
            </a:avLst>
          </a:prstGeom>
          <a:solidFill>
            <a:srgbClr val="13324B"/>
          </a:solidFill>
          <a:ln w="12700">
            <a:solidFill>
              <a:srgbClr val="13324B"/>
            </a:solidFill>
            <a:prstDash val="solid"/>
          </a:ln>
        </p:spPr>
      </p:sp>
      <p:sp>
        <p:nvSpPr>
          <p:cNvPr id="10" name="Text 8"/>
          <p:cNvSpPr txBox="1"/>
          <p:nvPr/>
        </p:nvSpPr>
        <p:spPr>
          <a:xfrm>
            <a:off x="731520" y="5623560"/>
            <a:ext cx="10698480" cy="566928"/>
          </a:xfrm>
          <a:prstGeom prst="rect">
            <a:avLst/>
          </a:prstGeom>
          <a:noFill/>
          <a:ln/>
        </p:spPr>
        <p:txBody>
          <a:bodyPr wrap="square" lIns="0" tIns="0" rIns="0" bIns="0" rtlCol="0" anchor="ctr"/>
          <a:lstStyle/>
          <a:p>
            <a:pPr indent="0" marL="0">
              <a:buNone/>
            </a:pPr>
            <a:r>
              <a:rPr lang="en-US" sz="1500" b="1" dirty="0">
                <a:solidFill>
                  <a:srgbClr val="FFFFFF"/>
                </a:solidFill>
              </a:rPr>
              <a:t>Microsoft: no implementar un gateway unificado entre regiones geopolíticas cuando aplica residencia de datos</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Probar la conmutación antes del incidente</a:t>
            </a:r>
            <a:endParaRPr lang="en-US" sz="2800" dirty="0"/>
          </a:p>
        </p:txBody>
      </p:sp>
      <p:sp>
        <p:nvSpPr>
          <p:cNvPr id="3" name="Shape 1"/>
          <p:cNvSpPr/>
          <p:nvPr/>
        </p:nvSpPr>
        <p:spPr>
          <a:xfrm>
            <a:off x="548640" y="1463040"/>
            <a:ext cx="2560320" cy="1371600"/>
          </a:xfrm>
          <a:prstGeom prst="roundRect">
            <a:avLst>
              <a:gd name="adj" fmla="val 5333"/>
            </a:avLst>
          </a:prstGeom>
          <a:solidFill>
            <a:srgbClr val="DCEAF4"/>
          </a:solidFill>
          <a:ln w="12700">
            <a:solidFill>
              <a:srgbClr val="1F6F9F"/>
            </a:solidFill>
            <a:prstDash val="solid"/>
          </a:ln>
        </p:spPr>
      </p:sp>
      <p:sp>
        <p:nvSpPr>
          <p:cNvPr id="4" name="Text 2"/>
          <p:cNvSpPr txBox="1"/>
          <p:nvPr/>
        </p:nvSpPr>
        <p:spPr>
          <a:xfrm>
            <a:off x="548640" y="1463040"/>
            <a:ext cx="2560320" cy="1371600"/>
          </a:xfrm>
          <a:prstGeom prst="rect">
            <a:avLst/>
          </a:prstGeom>
          <a:noFill/>
          <a:ln/>
        </p:spPr>
        <p:txBody>
          <a:bodyPr wrap="square" lIns="635" tIns="635" rIns="635" bIns="635" rtlCol="0" anchor="ctr"/>
          <a:lstStyle/>
          <a:p>
            <a:pPr algn="ctr" indent="0" marL="0">
              <a:buNone/>
            </a:pPr>
            <a:r>
              <a:rPr lang="en-US" sz="1300" dirty="0">
                <a:solidFill>
                  <a:srgbClr val="1B1F24"/>
                </a:solidFill>
              </a:rPr>
              <a:t>Definir hipótesis</a:t>
            </a:r>
            <a:endParaRPr lang="en-US" sz="1300" dirty="0"/>
          </a:p>
          <a:p>
            <a:pPr algn="ctr" indent="0" marL="0">
              <a:buNone/>
            </a:pPr>
            <a:r>
              <a:rPr lang="en-US" sz="1300" dirty="0">
                <a:solidFill>
                  <a:srgbClr val="1B1F24"/>
                </a:solidFill>
              </a:rPr>
              <a:t>«si cae A, p95 &lt; 3 s</a:t>
            </a:r>
            <a:endParaRPr lang="en-US" sz="1300" dirty="0"/>
          </a:p>
          <a:p>
            <a:pPr algn="ctr" indent="0" marL="0">
              <a:buNone/>
            </a:pPr>
            <a:r>
              <a:rPr lang="en-US" sz="1300" dirty="0">
                <a:solidFill>
                  <a:srgbClr val="1B1F24"/>
                </a:solidFill>
              </a:rPr>
              <a:t>y errores &lt; 1 %»</a:t>
            </a:r>
            <a:endParaRPr lang="en-US" sz="1300" dirty="0"/>
          </a:p>
        </p:txBody>
      </p:sp>
      <p:sp>
        <p:nvSpPr>
          <p:cNvPr id="5" name="Shape 3"/>
          <p:cNvSpPr/>
          <p:nvPr/>
        </p:nvSpPr>
        <p:spPr>
          <a:xfrm>
            <a:off x="3108960" y="2148840"/>
            <a:ext cx="274320" cy="914"/>
          </a:xfrm>
          <a:prstGeom prst="line">
            <a:avLst/>
          </a:prstGeom>
          <a:noFill/>
          <a:ln w="19050">
            <a:solidFill>
              <a:srgbClr val="7A8794"/>
            </a:solidFill>
            <a:prstDash val="solid"/>
            <a:tailEnd type="triangle"/>
          </a:ln>
        </p:spPr>
      </p:sp>
      <p:sp>
        <p:nvSpPr>
          <p:cNvPr id="6" name="Shape 4"/>
          <p:cNvSpPr/>
          <p:nvPr/>
        </p:nvSpPr>
        <p:spPr>
          <a:xfrm>
            <a:off x="3383280" y="1463040"/>
            <a:ext cx="2560320" cy="1371600"/>
          </a:xfrm>
          <a:prstGeom prst="roundRect">
            <a:avLst>
              <a:gd name="adj" fmla="val 5333"/>
            </a:avLst>
          </a:prstGeom>
          <a:solidFill>
            <a:srgbClr val="F6E1DF"/>
          </a:solidFill>
          <a:ln w="12700">
            <a:solidFill>
              <a:srgbClr val="1F6F9F"/>
            </a:solidFill>
            <a:prstDash val="solid"/>
          </a:ln>
        </p:spPr>
      </p:sp>
      <p:sp>
        <p:nvSpPr>
          <p:cNvPr id="7" name="Text 5"/>
          <p:cNvSpPr txBox="1"/>
          <p:nvPr/>
        </p:nvSpPr>
        <p:spPr>
          <a:xfrm>
            <a:off x="3383280" y="1463040"/>
            <a:ext cx="2560320" cy="1371600"/>
          </a:xfrm>
          <a:prstGeom prst="rect">
            <a:avLst/>
          </a:prstGeom>
          <a:noFill/>
          <a:ln/>
        </p:spPr>
        <p:txBody>
          <a:bodyPr wrap="square" lIns="635" tIns="635" rIns="635" bIns="635" rtlCol="0" anchor="ctr"/>
          <a:lstStyle/>
          <a:p>
            <a:pPr algn="ctr" indent="0" marL="0">
              <a:buNone/>
            </a:pPr>
            <a:r>
              <a:rPr lang="en-US" sz="1300" dirty="0">
                <a:solidFill>
                  <a:srgbClr val="1B1F24"/>
                </a:solidFill>
              </a:rPr>
              <a:t>Inyectar la falla</a:t>
            </a:r>
            <a:endParaRPr lang="en-US" sz="1300" dirty="0"/>
          </a:p>
          <a:p>
            <a:pPr algn="ctr" indent="0" marL="0">
              <a:buNone/>
            </a:pPr>
            <a:r>
              <a:rPr lang="en-US" sz="1300" dirty="0">
                <a:solidFill>
                  <a:srgbClr val="1B1F24"/>
                </a:solidFill>
              </a:rPr>
              <a:t>caída, lentitud, 429</a:t>
            </a:r>
            <a:endParaRPr lang="en-US" sz="1300" dirty="0"/>
          </a:p>
        </p:txBody>
      </p:sp>
      <p:sp>
        <p:nvSpPr>
          <p:cNvPr id="8" name="Shape 6"/>
          <p:cNvSpPr/>
          <p:nvPr/>
        </p:nvSpPr>
        <p:spPr>
          <a:xfrm>
            <a:off x="5943600" y="2148840"/>
            <a:ext cx="274320" cy="914"/>
          </a:xfrm>
          <a:prstGeom prst="line">
            <a:avLst/>
          </a:prstGeom>
          <a:noFill/>
          <a:ln w="19050">
            <a:solidFill>
              <a:srgbClr val="7A8794"/>
            </a:solidFill>
            <a:prstDash val="solid"/>
            <a:tailEnd type="triangle"/>
          </a:ln>
        </p:spPr>
      </p:sp>
      <p:sp>
        <p:nvSpPr>
          <p:cNvPr id="9" name="Shape 7"/>
          <p:cNvSpPr/>
          <p:nvPr/>
        </p:nvSpPr>
        <p:spPr>
          <a:xfrm>
            <a:off x="6217920" y="1463040"/>
            <a:ext cx="2560320" cy="1371600"/>
          </a:xfrm>
          <a:prstGeom prst="roundRect">
            <a:avLst>
              <a:gd name="adj" fmla="val 5333"/>
            </a:avLst>
          </a:prstGeom>
          <a:solidFill>
            <a:srgbClr val="F2F4F6"/>
          </a:solidFill>
          <a:ln w="12700">
            <a:solidFill>
              <a:srgbClr val="1F6F9F"/>
            </a:solidFill>
            <a:prstDash val="solid"/>
          </a:ln>
        </p:spPr>
      </p:sp>
      <p:sp>
        <p:nvSpPr>
          <p:cNvPr id="10" name="Text 8"/>
          <p:cNvSpPr txBox="1"/>
          <p:nvPr/>
        </p:nvSpPr>
        <p:spPr>
          <a:xfrm>
            <a:off x="6217920" y="1463040"/>
            <a:ext cx="2560320" cy="1371600"/>
          </a:xfrm>
          <a:prstGeom prst="rect">
            <a:avLst/>
          </a:prstGeom>
          <a:noFill/>
          <a:ln/>
        </p:spPr>
        <p:txBody>
          <a:bodyPr wrap="square" lIns="635" tIns="635" rIns="635" bIns="635" rtlCol="0" anchor="ctr"/>
          <a:lstStyle/>
          <a:p>
            <a:pPr algn="ctr" indent="0" marL="0">
              <a:buNone/>
            </a:pPr>
            <a:r>
              <a:rPr lang="en-US" sz="1300" dirty="0">
                <a:solidFill>
                  <a:srgbClr val="1B1F24"/>
                </a:solidFill>
              </a:rPr>
              <a:t>Medir detección,</a:t>
            </a:r>
            <a:endParaRPr lang="en-US" sz="1300" dirty="0"/>
          </a:p>
          <a:p>
            <a:pPr algn="ctr" indent="0" marL="0">
              <a:buNone/>
            </a:pPr>
            <a:r>
              <a:rPr lang="en-US" sz="1300" dirty="0">
                <a:solidFill>
                  <a:srgbClr val="1B1F24"/>
                </a:solidFill>
              </a:rPr>
              <a:t>conmutación y</a:t>
            </a:r>
            <a:endParaRPr lang="en-US" sz="1300" dirty="0"/>
          </a:p>
          <a:p>
            <a:pPr algn="ctr" indent="0" marL="0">
              <a:buNone/>
            </a:pPr>
            <a:r>
              <a:rPr lang="en-US" sz="1300" dirty="0">
                <a:solidFill>
                  <a:srgbClr val="1B1F24"/>
                </a:solidFill>
              </a:rPr>
              <a:t>recuperación</a:t>
            </a:r>
            <a:endParaRPr lang="en-US" sz="1300" dirty="0"/>
          </a:p>
        </p:txBody>
      </p:sp>
      <p:sp>
        <p:nvSpPr>
          <p:cNvPr id="11" name="Shape 9"/>
          <p:cNvSpPr/>
          <p:nvPr/>
        </p:nvSpPr>
        <p:spPr>
          <a:xfrm>
            <a:off x="8778240" y="2148840"/>
            <a:ext cx="274320" cy="914"/>
          </a:xfrm>
          <a:prstGeom prst="line">
            <a:avLst/>
          </a:prstGeom>
          <a:noFill/>
          <a:ln w="19050">
            <a:solidFill>
              <a:srgbClr val="7A8794"/>
            </a:solidFill>
            <a:prstDash val="solid"/>
            <a:tailEnd type="triangle"/>
          </a:ln>
        </p:spPr>
      </p:sp>
      <p:sp>
        <p:nvSpPr>
          <p:cNvPr id="12" name="Shape 10"/>
          <p:cNvSpPr/>
          <p:nvPr/>
        </p:nvSpPr>
        <p:spPr>
          <a:xfrm>
            <a:off x="9052560" y="1463040"/>
            <a:ext cx="2560320" cy="1371600"/>
          </a:xfrm>
          <a:prstGeom prst="roundRect">
            <a:avLst>
              <a:gd name="adj" fmla="val 5333"/>
            </a:avLst>
          </a:prstGeom>
          <a:solidFill>
            <a:srgbClr val="E3F2EF"/>
          </a:solidFill>
          <a:ln w="12700">
            <a:solidFill>
              <a:srgbClr val="1F6F9F"/>
            </a:solidFill>
            <a:prstDash val="solid"/>
          </a:ln>
        </p:spPr>
      </p:sp>
      <p:sp>
        <p:nvSpPr>
          <p:cNvPr id="13" name="Text 11"/>
          <p:cNvSpPr txBox="1"/>
          <p:nvPr/>
        </p:nvSpPr>
        <p:spPr>
          <a:xfrm>
            <a:off x="9052560" y="1463040"/>
            <a:ext cx="2560320" cy="1371600"/>
          </a:xfrm>
          <a:prstGeom prst="rect">
            <a:avLst/>
          </a:prstGeom>
          <a:noFill/>
          <a:ln/>
        </p:spPr>
        <p:txBody>
          <a:bodyPr wrap="square" lIns="635" tIns="635" rIns="635" bIns="635" rtlCol="0" anchor="ctr"/>
          <a:lstStyle/>
          <a:p>
            <a:pPr algn="ctr" indent="0" marL="0">
              <a:buNone/>
            </a:pPr>
            <a:r>
              <a:rPr lang="en-US" sz="1300" dirty="0">
                <a:solidFill>
                  <a:srgbClr val="1B1F24"/>
                </a:solidFill>
              </a:rPr>
              <a:t>Corregir y</a:t>
            </a:r>
            <a:endParaRPr lang="en-US" sz="1300" dirty="0"/>
          </a:p>
          <a:p>
            <a:pPr algn="ctr" indent="0" marL="0">
              <a:buNone/>
            </a:pPr>
            <a:r>
              <a:rPr lang="en-US" sz="1300" dirty="0">
                <a:solidFill>
                  <a:srgbClr val="1B1F24"/>
                </a:solidFill>
              </a:rPr>
              <a:t>automatizar</a:t>
            </a:r>
            <a:endParaRPr lang="en-US" sz="1300" dirty="0"/>
          </a:p>
          <a:p>
            <a:pPr algn="ctr" indent="0" marL="0">
              <a:buNone/>
            </a:pPr>
            <a:r>
              <a:rPr lang="en-US" sz="1300" dirty="0">
                <a:solidFill>
                  <a:srgbClr val="1B1F24"/>
                </a:solidFill>
              </a:rPr>
              <a:t>el ensayo</a:t>
            </a:r>
            <a:endParaRPr lang="en-US" sz="1300" dirty="0"/>
          </a:p>
        </p:txBody>
      </p:sp>
      <p:sp>
        <p:nvSpPr>
          <p:cNvPr id="14" name="Text 12"/>
          <p:cNvSpPr txBox="1"/>
          <p:nvPr/>
        </p:nvSpPr>
        <p:spPr>
          <a:xfrm>
            <a:off x="548640" y="3200400"/>
            <a:ext cx="11064240" cy="237744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chemeClr val="tx1"/>
                </a:solidFill>
              </a:rPr>
              <a:t>Microsoft recomienda verificar periódicamente (por ejemplo, cada trimestre) despliegues, conexiones, RBAC, DNS y una prueba de punta a punta en la región secundaria</a:t>
            </a:r>
            <a:endParaRPr lang="en-US" sz="1600" dirty="0"/>
          </a:p>
          <a:p>
            <a:pPr marL="342900" indent="-342900">
              <a:spcAft>
                <a:spcPts val="600"/>
              </a:spcAft>
              <a:buSzPct val="100000"/>
              <a:buChar char="•"/>
            </a:pPr>
            <a:r>
              <a:rPr lang="en-US" sz="1600" dirty="0">
                <a:solidFill>
                  <a:schemeClr val="tx1"/>
                </a:solidFill>
              </a:rPr>
              <a:t>Una secundaria que nunca recibió tráfico no está probada: cuota, permisos o versión del modelo pueden diferir</a:t>
            </a:r>
            <a:endParaRPr lang="en-US" sz="1600" dirty="0"/>
          </a:p>
          <a:p>
            <a:pPr marL="342900" indent="-342900">
              <a:spcAft>
                <a:spcPts val="600"/>
              </a:spcAft>
              <a:buSzPct val="100000"/>
              <a:buChar char="•"/>
            </a:pPr>
            <a:r>
              <a:rPr lang="en-US" sz="1600" dirty="0">
                <a:solidFill>
                  <a:schemeClr val="tx1"/>
                </a:solidFill>
              </a:rPr>
              <a:t>Las pruebas se hacen primero en un entorno de laboratorio (LOC-02) y luego como game days controlados</a:t>
            </a:r>
            <a:endParaRPr lang="en-US" sz="16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Demo 2 · Falla regional bajo carga (LOC-02)</a:t>
            </a:r>
            <a:endParaRPr lang="en-US" sz="2800" dirty="0"/>
          </a:p>
        </p:txBody>
      </p:sp>
      <p:graphicFrame>
        <p:nvGraphicFramePr>
          <p:cNvPr id="3" name="Chart 0" descr=""/>
          <p:cNvGraphicFramePr/>
          <p:nvPr/>
        </p:nvGraphicFramePr>
        <p:xfrm>
          <a:off x="548640" y="1280160"/>
          <a:ext cx="6766560" cy="42062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589520" y="1371600"/>
            <a:ext cx="4023360" cy="411480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120 solicitudes, 0 errores, 3 conmutaciones</a:t>
            </a:r>
            <a:endParaRPr lang="en-US" sz="1500" dirty="0"/>
          </a:p>
          <a:p>
            <a:pPr marL="342900" indent="-342900">
              <a:spcAft>
                <a:spcPts val="600"/>
              </a:spcAft>
              <a:buSzPct val="100000"/>
              <a:buChar char="•"/>
            </a:pPr>
            <a:r>
              <a:rPr lang="en-US" sz="1500" dirty="0">
                <a:solidFill>
                  <a:schemeClr val="tx1"/>
                </a:solidFill>
              </a:rPr>
              <a:t>La primaria vuelve 4–6 s después de recuperarse: circuito abierto (15 s) e intervalo del health check (5 s)</a:t>
            </a:r>
            <a:endParaRPr lang="en-US" sz="1500" dirty="0"/>
          </a:p>
          <a:p>
            <a:pPr marL="342900" indent="-342900">
              <a:spcAft>
                <a:spcPts val="600"/>
              </a:spcAft>
              <a:buSzPct val="100000"/>
              <a:buChar char="•"/>
            </a:pPr>
            <a:r>
              <a:rPr lang="en-US" sz="1500" dirty="0">
                <a:solidFill>
                  <a:schemeClr val="tx1"/>
                </a:solidFill>
              </a:rPr>
              <a:t>Pregunta: ¿qué detectó primero la falla, el health check o el circuit breaker?</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371600"/>
          </a:xfrm>
          <a:prstGeom prst="rect">
            <a:avLst/>
          </a:prstGeom>
          <a:noFill/>
          <a:ln/>
        </p:spPr>
        <p:txBody>
          <a:bodyPr wrap="square" rtlCol="0"/>
          <a:lstStyle/>
          <a:p>
            <a:pPr algn="l" indent="0" marL="0">
              <a:buNone/>
            </a:pPr>
            <a:r>
              <a:rPr lang="en-US" sz="3800" b="1" dirty="0">
                <a:solidFill>
                  <a:schemeClr val="bg1"/>
                </a:solidFill>
              </a:rPr>
              <a:t>Unidad C · Selección de servicios gestionados según el caso de uso</a:t>
            </a:r>
            <a:endParaRPr lang="en-US" sz="3800" dirty="0"/>
          </a:p>
        </p:txBody>
      </p:sp>
      <p:sp>
        <p:nvSpPr>
          <p:cNvPr id="3" name="Text 0"/>
          <p:cNvSpPr/>
          <p:nvPr>
            <p:ph idx="101" type="body" hasCustomPrompt="1"/>
          </p:nvPr>
        </p:nvSpPr>
        <p:spPr>
          <a:xfrm>
            <a:off x="731520" y="3474720"/>
            <a:ext cx="10698480" cy="1371600"/>
          </a:xfrm>
          <a:prstGeom prst="rect">
            <a:avLst/>
          </a:prstGeom>
          <a:noFill/>
          <a:ln/>
        </p:spPr>
        <p:txBody>
          <a:bodyPr wrap="square" rtlCol="0"/>
          <a:lstStyle/>
          <a:p>
            <a:pPr indent="0" marL="0">
              <a:buNone/>
            </a:pPr>
            <a:r>
              <a:rPr lang="en-US" sz="2000" dirty="0">
                <a:solidFill>
                  <a:schemeClr val="bg2"/>
                </a:solidFill>
              </a:rPr>
              <a:t>¿Con qué criterios se elige el servicio, el tipo de despliegue y la modalidad de consumo?</a:t>
            </a:r>
            <a:endParaRPr lang="en-US" sz="20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Criterios de selección</a:t>
            </a:r>
            <a:endParaRPr lang="en-US" sz="28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645920"/>
                <a:gridCol w="2468880"/>
                <a:gridCol w="6949440"/>
              </a:tblGrid>
              <a:tr h="0">
                <a:tc>
                  <a:txBody>
                    <a:bodyPr/>
                    <a:lstStyle/>
                    <a:p>
                      <a:pPr indent="0" marL="0">
                        <a:buNone/>
                      </a:pPr>
                      <a:r>
                        <a:rPr lang="en-US" sz="1300" b="1" dirty="0">
                          <a:solidFill>
                            <a:srgbClr val="FFFFFF"/>
                          </a:solidFill>
                        </a:rPr>
                        <a:t>Familia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Criterio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Pregunta de diseño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300" dirty="0">
                          <a:solidFill>
                            <a:srgbClr val="1B1F24"/>
                          </a:solidFill>
                        </a:rPr>
                        <a:t>Funcional</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Modelos y capacidades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¿Está el modelo (y la versión) que necesito, con herramientas, JSON estructurado y contexto suficiente?</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Ubicación</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Regiones y residencia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¿Dónde se procesa y dónde se almacena? ¿Hay una segunda región con el mismo modelo?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24"/>
                          </a:solidFill>
                        </a:rPr>
                        <a:t>Rendimiento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Latencia, cuota y throughput</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¿La cuota cubre el pico en tokens por minuto? ¿Qué latencia p95 obtengo?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Economía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Modalidad de consumo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¿Pago por token, prioridad, flex, batch, reservado o GPU propia?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24"/>
                          </a:solidFill>
                        </a:rPr>
                        <a:t>Confiabilidad</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SLA y madurez</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¿Es GA o vista previa? ¿Qué SLA publica el proveedor para esa modalidad?</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Seguridad</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Red, identidad, cifrado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¿Endpoints privados, identidad sin secretos, claves propias, registro de auditoría?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24"/>
                          </a:solidFill>
                        </a:rPr>
                        <a:t>Operación</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Ecosistema y habilidades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¿Qué nube usa ya la institución y qué sabe operar el equipo?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Estrategia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Portabilidad</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¿Qué tan costoso es cambiar? ¿Uso APIs y estándares compatibles?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Árbol de decisión de la modalidad de consumo</a:t>
            </a:r>
            <a:endParaRPr lang="en-US" sz="2800" dirty="0"/>
          </a:p>
        </p:txBody>
      </p:sp>
      <p:sp>
        <p:nvSpPr>
          <p:cNvPr id="3" name="Shape 1"/>
          <p:cNvSpPr/>
          <p:nvPr/>
        </p:nvSpPr>
        <p:spPr>
          <a:xfrm>
            <a:off x="548640" y="1371600"/>
            <a:ext cx="2926080" cy="731520"/>
          </a:xfrm>
          <a:prstGeom prst="roundRect">
            <a:avLst>
              <a:gd name="adj" fmla="val 10000"/>
            </a:avLst>
          </a:prstGeom>
          <a:solidFill>
            <a:srgbClr val="13324B"/>
          </a:solidFill>
          <a:ln w="12700">
            <a:solidFill>
              <a:srgbClr val="13324B"/>
            </a:solidFill>
            <a:prstDash val="solid"/>
          </a:ln>
        </p:spPr>
      </p:sp>
      <p:sp>
        <p:nvSpPr>
          <p:cNvPr id="4" name="Text 2"/>
          <p:cNvSpPr txBox="1"/>
          <p:nvPr/>
        </p:nvSpPr>
        <p:spPr>
          <a:xfrm>
            <a:off x="548640" y="1371600"/>
            <a:ext cx="2926080" cy="731520"/>
          </a:xfrm>
          <a:prstGeom prst="rect">
            <a:avLst/>
          </a:prstGeom>
          <a:noFill/>
          <a:ln/>
        </p:spPr>
        <p:txBody>
          <a:bodyPr wrap="square" lIns="635" tIns="635" rIns="635" bIns="635" rtlCol="0" anchor="ctr"/>
          <a:lstStyle/>
          <a:p>
            <a:pPr algn="ctr" indent="0" marL="0">
              <a:buNone/>
            </a:pPr>
            <a:r>
              <a:rPr lang="en-US" sz="1400" b="1" dirty="0">
                <a:solidFill>
                  <a:srgbClr val="FFFFFF"/>
                </a:solidFill>
              </a:rPr>
              <a:t>¿Alguien espera la respuesta?</a:t>
            </a:r>
            <a:endParaRPr lang="en-US" sz="1400" dirty="0"/>
          </a:p>
        </p:txBody>
      </p:sp>
      <p:sp>
        <p:nvSpPr>
          <p:cNvPr id="5" name="Shape 3"/>
          <p:cNvSpPr/>
          <p:nvPr/>
        </p:nvSpPr>
        <p:spPr>
          <a:xfrm>
            <a:off x="4023360" y="1371600"/>
            <a:ext cx="3291840" cy="731520"/>
          </a:xfrm>
          <a:prstGeom prst="roundRect">
            <a:avLst>
              <a:gd name="adj" fmla="val 10000"/>
            </a:avLst>
          </a:prstGeom>
          <a:solidFill>
            <a:srgbClr val="13324B"/>
          </a:solidFill>
          <a:ln w="12700">
            <a:solidFill>
              <a:srgbClr val="13324B"/>
            </a:solidFill>
            <a:prstDash val="solid"/>
          </a:ln>
        </p:spPr>
      </p:sp>
      <p:sp>
        <p:nvSpPr>
          <p:cNvPr id="6" name="Text 4"/>
          <p:cNvSpPr txBox="1"/>
          <p:nvPr/>
        </p:nvSpPr>
        <p:spPr>
          <a:xfrm>
            <a:off x="4023360" y="1371600"/>
            <a:ext cx="3291840" cy="731520"/>
          </a:xfrm>
          <a:prstGeom prst="rect">
            <a:avLst/>
          </a:prstGeom>
          <a:noFill/>
          <a:ln/>
        </p:spPr>
        <p:txBody>
          <a:bodyPr wrap="square" lIns="635" tIns="635" rIns="635" bIns="635" rtlCol="0" anchor="ctr"/>
          <a:lstStyle/>
          <a:p>
            <a:pPr algn="ctr" indent="0" marL="0">
              <a:buNone/>
            </a:pPr>
            <a:r>
              <a:rPr lang="en-US" sz="1400" b="1" dirty="0">
                <a:solidFill>
                  <a:srgbClr val="FFFFFF"/>
                </a:solidFill>
              </a:rPr>
              <a:t>¿Carga sostenida y predecible?</a:t>
            </a:r>
            <a:endParaRPr lang="en-US" sz="1400" dirty="0"/>
          </a:p>
        </p:txBody>
      </p:sp>
      <p:sp>
        <p:nvSpPr>
          <p:cNvPr id="7" name="Shape 5"/>
          <p:cNvSpPr/>
          <p:nvPr/>
        </p:nvSpPr>
        <p:spPr>
          <a:xfrm>
            <a:off x="7863840" y="1371600"/>
            <a:ext cx="3749040" cy="731520"/>
          </a:xfrm>
          <a:prstGeom prst="roundRect">
            <a:avLst>
              <a:gd name="adj" fmla="val 10000"/>
            </a:avLst>
          </a:prstGeom>
          <a:solidFill>
            <a:srgbClr val="E3F2EF"/>
          </a:solidFill>
          <a:ln w="12700">
            <a:solidFill>
              <a:srgbClr val="1F6F9F"/>
            </a:solidFill>
            <a:prstDash val="solid"/>
          </a:ln>
        </p:spPr>
      </p:sp>
      <p:sp>
        <p:nvSpPr>
          <p:cNvPr id="8" name="Text 6"/>
          <p:cNvSpPr txBox="1"/>
          <p:nvPr/>
        </p:nvSpPr>
        <p:spPr>
          <a:xfrm>
            <a:off x="7863840" y="1371600"/>
            <a:ext cx="3749040" cy="731520"/>
          </a:xfrm>
          <a:prstGeom prst="rect">
            <a:avLst/>
          </a:prstGeom>
          <a:noFill/>
          <a:ln/>
        </p:spPr>
        <p:txBody>
          <a:bodyPr wrap="square" lIns="635" tIns="635" rIns="635" bIns="635" rtlCol="0" anchor="ctr"/>
          <a:lstStyle/>
          <a:p>
            <a:pPr algn="ctr" indent="0" marL="0">
              <a:buNone/>
            </a:pPr>
            <a:r>
              <a:rPr lang="en-US" sz="1300" dirty="0">
                <a:solidFill>
                  <a:srgbClr val="1B1F24"/>
                </a:solidFill>
              </a:rPr>
              <a:t>Reservada: PTU · Provisioned Throughput · Reserved</a:t>
            </a:r>
            <a:endParaRPr lang="en-US" sz="1300" dirty="0"/>
          </a:p>
        </p:txBody>
      </p:sp>
      <p:sp>
        <p:nvSpPr>
          <p:cNvPr id="9" name="Shape 7"/>
          <p:cNvSpPr/>
          <p:nvPr/>
        </p:nvSpPr>
        <p:spPr>
          <a:xfrm>
            <a:off x="7863840" y="2377440"/>
            <a:ext cx="3749040" cy="731520"/>
          </a:xfrm>
          <a:prstGeom prst="roundRect">
            <a:avLst>
              <a:gd name="adj" fmla="val 10000"/>
            </a:avLst>
          </a:prstGeom>
          <a:solidFill>
            <a:srgbClr val="DCEAF4"/>
          </a:solidFill>
          <a:ln w="12700">
            <a:solidFill>
              <a:srgbClr val="1F6F9F"/>
            </a:solidFill>
            <a:prstDash val="solid"/>
          </a:ln>
        </p:spPr>
      </p:sp>
      <p:sp>
        <p:nvSpPr>
          <p:cNvPr id="10" name="Text 8"/>
          <p:cNvSpPr txBox="1"/>
          <p:nvPr/>
        </p:nvSpPr>
        <p:spPr>
          <a:xfrm>
            <a:off x="7863840" y="2377440"/>
            <a:ext cx="3749040" cy="731520"/>
          </a:xfrm>
          <a:prstGeom prst="rect">
            <a:avLst/>
          </a:prstGeom>
          <a:noFill/>
          <a:ln/>
        </p:spPr>
        <p:txBody>
          <a:bodyPr wrap="square" lIns="635" tIns="635" rIns="635" bIns="635" rtlCol="0" anchor="ctr"/>
          <a:lstStyle/>
          <a:p>
            <a:pPr algn="ctr" indent="0" marL="0">
              <a:buNone/>
            </a:pPr>
            <a:r>
              <a:rPr lang="en-US" sz="1300" dirty="0">
                <a:solidFill>
                  <a:srgbClr val="1B1F24"/>
                </a:solidFill>
              </a:rPr>
              <a:t>Estándar o prioritaria por solicitud</a:t>
            </a:r>
            <a:endParaRPr lang="en-US" sz="1300" dirty="0"/>
          </a:p>
        </p:txBody>
      </p:sp>
      <p:sp>
        <p:nvSpPr>
          <p:cNvPr id="11" name="Shape 9"/>
          <p:cNvSpPr/>
          <p:nvPr/>
        </p:nvSpPr>
        <p:spPr>
          <a:xfrm>
            <a:off x="548640" y="3108960"/>
            <a:ext cx="2926080" cy="731520"/>
          </a:xfrm>
          <a:prstGeom prst="roundRect">
            <a:avLst>
              <a:gd name="adj" fmla="val 10000"/>
            </a:avLst>
          </a:prstGeom>
          <a:solidFill>
            <a:srgbClr val="13324B"/>
          </a:solidFill>
          <a:ln w="12700">
            <a:solidFill>
              <a:srgbClr val="13324B"/>
            </a:solidFill>
            <a:prstDash val="solid"/>
          </a:ln>
        </p:spPr>
      </p:sp>
      <p:sp>
        <p:nvSpPr>
          <p:cNvPr id="12" name="Text 10"/>
          <p:cNvSpPr txBox="1"/>
          <p:nvPr/>
        </p:nvSpPr>
        <p:spPr>
          <a:xfrm>
            <a:off x="548640" y="3108960"/>
            <a:ext cx="2926080" cy="731520"/>
          </a:xfrm>
          <a:prstGeom prst="rect">
            <a:avLst/>
          </a:prstGeom>
          <a:noFill/>
          <a:ln/>
        </p:spPr>
        <p:txBody>
          <a:bodyPr wrap="square" lIns="635" tIns="635" rIns="635" bIns="635" rtlCol="0" anchor="ctr"/>
          <a:lstStyle/>
          <a:p>
            <a:pPr algn="ctr" indent="0" marL="0">
              <a:buNone/>
            </a:pPr>
            <a:r>
              <a:rPr lang="en-US" sz="1400" b="1" dirty="0">
                <a:solidFill>
                  <a:srgbClr val="FFFFFF"/>
                </a:solidFill>
              </a:rPr>
              <a:t>¿Plazo menor que 24 h?</a:t>
            </a:r>
            <a:endParaRPr lang="en-US" sz="1400" dirty="0"/>
          </a:p>
        </p:txBody>
      </p:sp>
      <p:sp>
        <p:nvSpPr>
          <p:cNvPr id="13" name="Shape 11"/>
          <p:cNvSpPr/>
          <p:nvPr/>
        </p:nvSpPr>
        <p:spPr>
          <a:xfrm>
            <a:off x="4023360" y="3108960"/>
            <a:ext cx="3291840" cy="731520"/>
          </a:xfrm>
          <a:prstGeom prst="roundRect">
            <a:avLst>
              <a:gd name="adj" fmla="val 10000"/>
            </a:avLst>
          </a:prstGeom>
          <a:solidFill>
            <a:srgbClr val="FBEFD9"/>
          </a:solidFill>
          <a:ln w="12700">
            <a:solidFill>
              <a:srgbClr val="1F6F9F"/>
            </a:solidFill>
            <a:prstDash val="solid"/>
          </a:ln>
        </p:spPr>
      </p:sp>
      <p:sp>
        <p:nvSpPr>
          <p:cNvPr id="14" name="Text 12"/>
          <p:cNvSpPr txBox="1"/>
          <p:nvPr/>
        </p:nvSpPr>
        <p:spPr>
          <a:xfrm>
            <a:off x="4023360" y="3108960"/>
            <a:ext cx="3291840" cy="731520"/>
          </a:xfrm>
          <a:prstGeom prst="rect">
            <a:avLst/>
          </a:prstGeom>
          <a:noFill/>
          <a:ln/>
        </p:spPr>
        <p:txBody>
          <a:bodyPr wrap="square" lIns="635" tIns="635" rIns="635" bIns="635" rtlCol="0" anchor="ctr"/>
          <a:lstStyle/>
          <a:p>
            <a:pPr algn="ctr" indent="0" marL="0">
              <a:buNone/>
            </a:pPr>
            <a:r>
              <a:rPr lang="en-US" sz="1300" dirty="0">
                <a:solidFill>
                  <a:srgbClr val="1B1F24"/>
                </a:solidFill>
              </a:rPr>
              <a:t>Flex o cola propia con workers</a:t>
            </a:r>
            <a:endParaRPr lang="en-US" sz="1300" dirty="0"/>
          </a:p>
        </p:txBody>
      </p:sp>
      <p:sp>
        <p:nvSpPr>
          <p:cNvPr id="15" name="Shape 13"/>
          <p:cNvSpPr/>
          <p:nvPr/>
        </p:nvSpPr>
        <p:spPr>
          <a:xfrm>
            <a:off x="4023360" y="4114800"/>
            <a:ext cx="3291840" cy="731520"/>
          </a:xfrm>
          <a:prstGeom prst="roundRect">
            <a:avLst>
              <a:gd name="adj" fmla="val 10000"/>
            </a:avLst>
          </a:prstGeom>
          <a:solidFill>
            <a:srgbClr val="FBEFD9"/>
          </a:solidFill>
          <a:ln w="12700">
            <a:solidFill>
              <a:srgbClr val="1F6F9F"/>
            </a:solidFill>
            <a:prstDash val="solid"/>
          </a:ln>
        </p:spPr>
      </p:sp>
      <p:sp>
        <p:nvSpPr>
          <p:cNvPr id="16" name="Text 14"/>
          <p:cNvSpPr txBox="1"/>
          <p:nvPr/>
        </p:nvSpPr>
        <p:spPr>
          <a:xfrm>
            <a:off x="4023360" y="4114800"/>
            <a:ext cx="3291840" cy="731520"/>
          </a:xfrm>
          <a:prstGeom prst="rect">
            <a:avLst/>
          </a:prstGeom>
          <a:noFill/>
          <a:ln/>
        </p:spPr>
        <p:txBody>
          <a:bodyPr wrap="square" lIns="635" tIns="635" rIns="635" bIns="635" rtlCol="0" anchor="ctr"/>
          <a:lstStyle/>
          <a:p>
            <a:pPr algn="ctr" indent="0" marL="0">
              <a:buNone/>
            </a:pPr>
            <a:r>
              <a:rPr lang="en-US" sz="1300" dirty="0">
                <a:solidFill>
                  <a:srgbClr val="1B1F24"/>
                </a:solidFill>
              </a:rPr>
              <a:t>Batch gestionado (−50 %)</a:t>
            </a:r>
            <a:endParaRPr lang="en-US" sz="1300" dirty="0"/>
          </a:p>
        </p:txBody>
      </p:sp>
      <p:sp>
        <p:nvSpPr>
          <p:cNvPr id="17" name="Shape 15"/>
          <p:cNvSpPr/>
          <p:nvPr/>
        </p:nvSpPr>
        <p:spPr>
          <a:xfrm>
            <a:off x="7863840" y="3657600"/>
            <a:ext cx="3749040" cy="1188720"/>
          </a:xfrm>
          <a:prstGeom prst="roundRect">
            <a:avLst>
              <a:gd name="adj" fmla="val 6154"/>
            </a:avLst>
          </a:prstGeom>
          <a:solidFill>
            <a:srgbClr val="F2F4F6"/>
          </a:solidFill>
          <a:ln w="12700">
            <a:solidFill>
              <a:srgbClr val="1F6F9F"/>
            </a:solidFill>
            <a:prstDash val="solid"/>
          </a:ln>
        </p:spPr>
      </p:sp>
      <p:sp>
        <p:nvSpPr>
          <p:cNvPr id="18" name="Text 16"/>
          <p:cNvSpPr txBox="1"/>
          <p:nvPr/>
        </p:nvSpPr>
        <p:spPr>
          <a:xfrm>
            <a:off x="7863840" y="3657600"/>
            <a:ext cx="3749040" cy="1188720"/>
          </a:xfrm>
          <a:prstGeom prst="rect">
            <a:avLst/>
          </a:prstGeom>
          <a:noFill/>
          <a:ln/>
        </p:spPr>
        <p:txBody>
          <a:bodyPr wrap="square" lIns="635" tIns="635" rIns="635" bIns="635" rtlCol="0" anchor="ctr"/>
          <a:lstStyle/>
          <a:p>
            <a:pPr algn="ctr" indent="0" marL="0">
              <a:buNone/>
            </a:pPr>
            <a:r>
              <a:rPr lang="en-US" sz="1200" dirty="0">
                <a:solidFill>
                  <a:srgbClr val="1B1F24"/>
                </a:solidFill>
              </a:rPr>
              <a:t>Transversal: ¿datos restringidos?</a:t>
            </a:r>
            <a:endParaRPr lang="en-US" sz="1200" dirty="0"/>
          </a:p>
          <a:p>
            <a:pPr algn="ctr" indent="0" marL="0">
              <a:buNone/>
            </a:pPr>
            <a:r>
              <a:rPr lang="en-US" sz="1200" dirty="0">
                <a:solidFill>
                  <a:srgbClr val="1B1F24"/>
                </a:solidFill>
              </a:rPr>
              <a:t>→ Data Zone, regional o perfil geográfico</a:t>
            </a:r>
            <a:endParaRPr lang="en-US" sz="1200" dirty="0"/>
          </a:p>
          <a:p>
            <a:pPr algn="ctr" indent="0" marL="0">
              <a:buNone/>
            </a:pPr>
            <a:r>
              <a:rPr lang="en-US" sz="1200" dirty="0">
                <a:solidFill>
                  <a:srgbClr val="1B1F24"/>
                </a:solidFill>
              </a:rPr>
              <a:t>¿modelo propio u open-weight ajustado?</a:t>
            </a:r>
            <a:endParaRPr lang="en-US" sz="1200" dirty="0"/>
          </a:p>
          <a:p>
            <a:pPr algn="ctr" indent="0" marL="0">
              <a:buNone/>
            </a:pPr>
            <a:r>
              <a:rPr lang="en-US" sz="1200" dirty="0">
                <a:solidFill>
                  <a:srgbClr val="1B1F24"/>
                </a:solidFill>
              </a:rPr>
              <a:t>→ autogestionado o modelos importados</a:t>
            </a:r>
            <a:endParaRPr lang="en-US" sz="1200" dirty="0"/>
          </a:p>
        </p:txBody>
      </p:sp>
      <p:sp>
        <p:nvSpPr>
          <p:cNvPr id="19" name="Shape 17"/>
          <p:cNvSpPr/>
          <p:nvPr/>
        </p:nvSpPr>
        <p:spPr>
          <a:xfrm>
            <a:off x="3474720" y="1737360"/>
            <a:ext cx="548640" cy="914"/>
          </a:xfrm>
          <a:prstGeom prst="line">
            <a:avLst/>
          </a:prstGeom>
          <a:noFill/>
          <a:ln w="19050">
            <a:solidFill>
              <a:srgbClr val="1F6F9F"/>
            </a:solidFill>
            <a:prstDash val="solid"/>
            <a:tailEnd type="triangle"/>
          </a:ln>
        </p:spPr>
      </p:sp>
      <p:sp>
        <p:nvSpPr>
          <p:cNvPr id="20" name="Text 18"/>
          <p:cNvSpPr txBox="1"/>
          <p:nvPr/>
        </p:nvSpPr>
        <p:spPr>
          <a:xfrm>
            <a:off x="3474720" y="1371600"/>
            <a:ext cx="548640" cy="320040"/>
          </a:xfrm>
          <a:prstGeom prst="rect">
            <a:avLst/>
          </a:prstGeom>
          <a:noFill/>
          <a:ln/>
        </p:spPr>
        <p:txBody>
          <a:bodyPr wrap="square" lIns="0" tIns="0" rIns="0" bIns="0" rtlCol="0" anchor="ctr"/>
          <a:lstStyle/>
          <a:p>
            <a:pPr algn="ctr" indent="0" marL="0">
              <a:buNone/>
            </a:pPr>
            <a:r>
              <a:rPr lang="en-US" sz="1200" b="1" dirty="0">
                <a:solidFill>
                  <a:srgbClr val="1F6F9F"/>
                </a:solidFill>
              </a:rPr>
              <a:t>sí</a:t>
            </a:r>
            <a:endParaRPr lang="en-US" sz="1200" dirty="0"/>
          </a:p>
        </p:txBody>
      </p:sp>
      <p:sp>
        <p:nvSpPr>
          <p:cNvPr id="21" name="Shape 19"/>
          <p:cNvSpPr/>
          <p:nvPr/>
        </p:nvSpPr>
        <p:spPr>
          <a:xfrm>
            <a:off x="7315200" y="1737360"/>
            <a:ext cx="548640" cy="914"/>
          </a:xfrm>
          <a:prstGeom prst="line">
            <a:avLst/>
          </a:prstGeom>
          <a:noFill/>
          <a:ln w="19050">
            <a:solidFill>
              <a:srgbClr val="1F6F9F"/>
            </a:solidFill>
            <a:prstDash val="solid"/>
            <a:tailEnd type="triangle"/>
          </a:ln>
        </p:spPr>
      </p:sp>
      <p:sp>
        <p:nvSpPr>
          <p:cNvPr id="22" name="Text 20"/>
          <p:cNvSpPr txBox="1"/>
          <p:nvPr/>
        </p:nvSpPr>
        <p:spPr>
          <a:xfrm>
            <a:off x="7315200" y="1371600"/>
            <a:ext cx="548640" cy="320040"/>
          </a:xfrm>
          <a:prstGeom prst="rect">
            <a:avLst/>
          </a:prstGeom>
          <a:noFill/>
          <a:ln/>
        </p:spPr>
        <p:txBody>
          <a:bodyPr wrap="square" lIns="0" tIns="0" rIns="0" bIns="0" rtlCol="0" anchor="ctr"/>
          <a:lstStyle/>
          <a:p>
            <a:pPr algn="ctr" indent="0" marL="0">
              <a:buNone/>
            </a:pPr>
            <a:r>
              <a:rPr lang="en-US" sz="1200" b="1" dirty="0">
                <a:solidFill>
                  <a:srgbClr val="1F6F9F"/>
                </a:solidFill>
              </a:rPr>
              <a:t>sí</a:t>
            </a:r>
            <a:endParaRPr lang="en-US" sz="1200" dirty="0"/>
          </a:p>
        </p:txBody>
      </p:sp>
      <p:sp>
        <p:nvSpPr>
          <p:cNvPr id="23" name="Shape 21"/>
          <p:cNvSpPr/>
          <p:nvPr/>
        </p:nvSpPr>
        <p:spPr>
          <a:xfrm>
            <a:off x="5669280" y="2103120"/>
            <a:ext cx="2194560" cy="640080"/>
          </a:xfrm>
          <a:prstGeom prst="line">
            <a:avLst/>
          </a:prstGeom>
          <a:noFill/>
          <a:ln w="19050">
            <a:solidFill>
              <a:srgbClr val="7A8794"/>
            </a:solidFill>
            <a:prstDash val="solid"/>
            <a:tailEnd type="triangle"/>
          </a:ln>
        </p:spPr>
      </p:sp>
      <p:sp>
        <p:nvSpPr>
          <p:cNvPr id="24" name="Text 22"/>
          <p:cNvSpPr txBox="1"/>
          <p:nvPr/>
        </p:nvSpPr>
        <p:spPr>
          <a:xfrm>
            <a:off x="5760720" y="2240280"/>
            <a:ext cx="548640" cy="274320"/>
          </a:xfrm>
          <a:prstGeom prst="rect">
            <a:avLst/>
          </a:prstGeom>
          <a:noFill/>
          <a:ln/>
        </p:spPr>
        <p:txBody>
          <a:bodyPr wrap="square" lIns="0" tIns="0" rIns="0" bIns="0" rtlCol="0" anchor="ctr"/>
          <a:lstStyle/>
          <a:p>
            <a:pPr algn="l" indent="0" marL="0">
              <a:buNone/>
            </a:pPr>
            <a:r>
              <a:rPr lang="en-US" sz="1100" b="1" dirty="0">
                <a:solidFill>
                  <a:srgbClr val="7A8794"/>
                </a:solidFill>
              </a:rPr>
              <a:t>no</a:t>
            </a:r>
            <a:endParaRPr lang="en-US" sz="1100" dirty="0"/>
          </a:p>
        </p:txBody>
      </p:sp>
      <p:sp>
        <p:nvSpPr>
          <p:cNvPr id="25" name="Shape 23"/>
          <p:cNvSpPr/>
          <p:nvPr/>
        </p:nvSpPr>
        <p:spPr>
          <a:xfrm>
            <a:off x="2011680" y="2103120"/>
            <a:ext cx="914" cy="1005840"/>
          </a:xfrm>
          <a:prstGeom prst="line">
            <a:avLst/>
          </a:prstGeom>
          <a:noFill/>
          <a:ln w="19050">
            <a:solidFill>
              <a:srgbClr val="7A8794"/>
            </a:solidFill>
            <a:prstDash val="solid"/>
            <a:tailEnd type="triangle"/>
          </a:ln>
        </p:spPr>
      </p:sp>
      <p:sp>
        <p:nvSpPr>
          <p:cNvPr id="26" name="Text 24"/>
          <p:cNvSpPr txBox="1"/>
          <p:nvPr/>
        </p:nvSpPr>
        <p:spPr>
          <a:xfrm>
            <a:off x="2103120" y="2468880"/>
            <a:ext cx="548640" cy="274320"/>
          </a:xfrm>
          <a:prstGeom prst="rect">
            <a:avLst/>
          </a:prstGeom>
          <a:noFill/>
          <a:ln/>
        </p:spPr>
        <p:txBody>
          <a:bodyPr wrap="square" lIns="0" tIns="0" rIns="0" bIns="0" rtlCol="0" anchor="ctr"/>
          <a:lstStyle/>
          <a:p>
            <a:pPr algn="l" indent="0" marL="0">
              <a:buNone/>
            </a:pPr>
            <a:r>
              <a:rPr lang="en-US" sz="1100" b="1" dirty="0">
                <a:solidFill>
                  <a:srgbClr val="7A8794"/>
                </a:solidFill>
              </a:rPr>
              <a:t>no</a:t>
            </a:r>
            <a:endParaRPr lang="en-US" sz="1100" dirty="0"/>
          </a:p>
        </p:txBody>
      </p:sp>
      <p:sp>
        <p:nvSpPr>
          <p:cNvPr id="27" name="Shape 25"/>
          <p:cNvSpPr/>
          <p:nvPr/>
        </p:nvSpPr>
        <p:spPr>
          <a:xfrm>
            <a:off x="3474720" y="3474720"/>
            <a:ext cx="548640" cy="914"/>
          </a:xfrm>
          <a:prstGeom prst="line">
            <a:avLst/>
          </a:prstGeom>
          <a:noFill/>
          <a:ln w="19050">
            <a:solidFill>
              <a:srgbClr val="1F6F9F"/>
            </a:solidFill>
            <a:prstDash val="solid"/>
            <a:tailEnd type="triangle"/>
          </a:ln>
        </p:spPr>
      </p:sp>
      <p:sp>
        <p:nvSpPr>
          <p:cNvPr id="28" name="Text 26"/>
          <p:cNvSpPr txBox="1"/>
          <p:nvPr/>
        </p:nvSpPr>
        <p:spPr>
          <a:xfrm>
            <a:off x="3474720" y="3108960"/>
            <a:ext cx="548640" cy="320040"/>
          </a:xfrm>
          <a:prstGeom prst="rect">
            <a:avLst/>
          </a:prstGeom>
          <a:noFill/>
          <a:ln/>
        </p:spPr>
        <p:txBody>
          <a:bodyPr wrap="square" lIns="0" tIns="0" rIns="0" bIns="0" rtlCol="0" anchor="ctr"/>
          <a:lstStyle/>
          <a:p>
            <a:pPr algn="ctr" indent="0" marL="0">
              <a:buNone/>
            </a:pPr>
            <a:r>
              <a:rPr lang="en-US" sz="1200" b="1" dirty="0">
                <a:solidFill>
                  <a:srgbClr val="1F6F9F"/>
                </a:solidFill>
              </a:rPr>
              <a:t>sí</a:t>
            </a:r>
            <a:endParaRPr lang="en-US" sz="1200" dirty="0"/>
          </a:p>
        </p:txBody>
      </p:sp>
      <p:sp>
        <p:nvSpPr>
          <p:cNvPr id="29" name="Shape 27"/>
          <p:cNvSpPr/>
          <p:nvPr/>
        </p:nvSpPr>
        <p:spPr>
          <a:xfrm>
            <a:off x="2011680" y="3840480"/>
            <a:ext cx="2011680" cy="640080"/>
          </a:xfrm>
          <a:prstGeom prst="line">
            <a:avLst/>
          </a:prstGeom>
          <a:noFill/>
          <a:ln w="19050">
            <a:solidFill>
              <a:srgbClr val="7A8794"/>
            </a:solidFill>
            <a:prstDash val="solid"/>
            <a:tailEnd type="triangle"/>
          </a:ln>
        </p:spPr>
      </p:sp>
      <p:sp>
        <p:nvSpPr>
          <p:cNvPr id="30" name="Text 28"/>
          <p:cNvSpPr txBox="1"/>
          <p:nvPr/>
        </p:nvSpPr>
        <p:spPr>
          <a:xfrm>
            <a:off x="2194560" y="4160520"/>
            <a:ext cx="548640" cy="274320"/>
          </a:xfrm>
          <a:prstGeom prst="rect">
            <a:avLst/>
          </a:prstGeom>
          <a:noFill/>
          <a:ln/>
        </p:spPr>
        <p:txBody>
          <a:bodyPr wrap="square" lIns="0" tIns="0" rIns="0" bIns="0" rtlCol="0" anchor="ctr"/>
          <a:lstStyle/>
          <a:p>
            <a:pPr algn="l" indent="0" marL="0">
              <a:buNone/>
            </a:pPr>
            <a:r>
              <a:rPr lang="en-US" sz="1100" b="1" dirty="0">
                <a:solidFill>
                  <a:srgbClr val="7A8794"/>
                </a:solidFill>
              </a:rPr>
              <a:t>no</a:t>
            </a:r>
            <a:endParaRPr lang="en-US" sz="1100" dirty="0"/>
          </a:p>
        </p:txBody>
      </p:sp>
      <p:sp>
        <p:nvSpPr>
          <p:cNvPr id="31" name="Text 29"/>
          <p:cNvSpPr txBox="1"/>
          <p:nvPr/>
        </p:nvSpPr>
        <p:spPr>
          <a:xfrm>
            <a:off x="548640" y="5120640"/>
            <a:ext cx="11064240" cy="457200"/>
          </a:xfrm>
          <a:prstGeom prst="rect">
            <a:avLst/>
          </a:prstGeom>
          <a:noFill/>
          <a:ln/>
        </p:spPr>
        <p:txBody>
          <a:bodyPr wrap="square" lIns="0" tIns="0" rIns="0" bIns="0" rtlCol="0" anchor="ctr"/>
          <a:lstStyle/>
          <a:p>
            <a:pPr algn="l" indent="0" marL="0">
              <a:buNone/>
            </a:pPr>
            <a:r>
              <a:rPr lang="en-US" sz="1200" i="1" dirty="0">
                <a:solidFill>
                  <a:srgbClr val="7A8794"/>
                </a:solidFill>
              </a:rPr>
              <a:t>La guía de costos de Bedrock sugiere evaluar la capacidad reservada cuando la carga sostenida supera aproximadamente el 40 % del costo on-demand; calcule su propio punto de equilibrio.</a:t>
            </a:r>
            <a:endParaRPr lang="en-US" sz="1200" dirty="0"/>
          </a:p>
        </p:txBody>
      </p:sp>
      <p:sp>
        <p:nvSpPr>
          <p:cNvPr id="32" name="Shape 30"/>
          <p:cNvSpPr/>
          <p:nvPr/>
        </p:nvSpPr>
        <p:spPr>
          <a:xfrm>
            <a:off x="548640" y="5623560"/>
            <a:ext cx="11064240" cy="566928"/>
          </a:xfrm>
          <a:prstGeom prst="roundRect">
            <a:avLst>
              <a:gd name="adj" fmla="val 12903"/>
            </a:avLst>
          </a:prstGeom>
          <a:solidFill>
            <a:srgbClr val="2E9C8A"/>
          </a:solidFill>
          <a:ln w="12700">
            <a:solidFill>
              <a:srgbClr val="2E9C8A"/>
            </a:solidFill>
            <a:prstDash val="solid"/>
          </a:ln>
        </p:spPr>
      </p:sp>
      <p:sp>
        <p:nvSpPr>
          <p:cNvPr id="33" name="Text 31"/>
          <p:cNvSpPr txBox="1"/>
          <p:nvPr/>
        </p:nvSpPr>
        <p:spPr>
          <a:xfrm>
            <a:off x="731520" y="5623560"/>
            <a:ext cx="10698480" cy="566928"/>
          </a:xfrm>
          <a:prstGeom prst="rect">
            <a:avLst/>
          </a:prstGeom>
          <a:noFill/>
          <a:ln/>
        </p:spPr>
        <p:txBody>
          <a:bodyPr wrap="square" lIns="0" tIns="0" rIns="0" bIns="0" rtlCol="0" anchor="ctr"/>
          <a:lstStyle/>
          <a:p>
            <a:pPr indent="0" marL="0">
              <a:buNone/>
            </a:pPr>
            <a:r>
              <a:rPr lang="en-US" sz="1500" b="1" dirty="0">
                <a:solidFill>
                  <a:srgbClr val="FFFFFF"/>
                </a:solidFill>
              </a:rPr>
              <a:t>Una misma aplicación suele combinar dos o tres modalidades</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Mapa de servicios por caso de uso (20-oct-2026)</a:t>
            </a:r>
            <a:endParaRPr lang="en-US" sz="28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103120"/>
                <a:gridCol w="3108960"/>
                <a:gridCol w="2926080"/>
                <a:gridCol w="2926080"/>
              </a:tblGrid>
              <a:tr h="0">
                <a:tc>
                  <a:txBody>
                    <a:bodyPr/>
                    <a:lstStyle/>
                    <a:p>
                      <a:pPr indent="0" marL="0">
                        <a:buNone/>
                      </a:pPr>
                      <a:r>
                        <a:rPr lang="en-US" sz="1200" b="1" dirty="0">
                          <a:solidFill>
                            <a:srgbClr val="FFFFFF"/>
                          </a:solidFill>
                        </a:rPr>
                        <a:t>Caso de uso</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200" b="1" dirty="0">
                          <a:solidFill>
                            <a:srgbClr val="FFFFFF"/>
                          </a:solidFill>
                        </a:rPr>
                        <a:t>Microsoft Azure</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200" b="1" dirty="0">
                          <a:solidFill>
                            <a:srgbClr val="FFFFFF"/>
                          </a:solidFill>
                        </a:rPr>
                        <a:t>Google Cloud</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200" b="1" dirty="0">
                          <a:solidFill>
                            <a:srgbClr val="FFFFFF"/>
                          </a:solidFill>
                        </a:rPr>
                        <a:t>AWS</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200" dirty="0">
                          <a:solidFill>
                            <a:srgbClr val="1B1F24"/>
                          </a:solidFill>
                        </a:rPr>
                        <a:t>Conversación online</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Foundry · Global/Data Zone/Standard; Priority processing</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Gemini en Agent Platform · global, multirregional o regional</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Bedrock on-demand · CRIS · Priority</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200" dirty="0">
                          <a:solidFill>
                            <a:srgbClr val="1B1F24"/>
                          </a:solidFill>
                        </a:rPr>
                        <a:t>Lote nocturno</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Azure OpenAI Batch (Global o Data Zone Batch)</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Gemini batch inference (Cloud Storage, BigQuery)</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Bedrock batch inference (S3)</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F24"/>
                          </a:solidFill>
                        </a:rPr>
                        <a:t>Plazo intermedio</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Flex processing · Service Bus + Container Apps</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Flex PayGo · Pub/Sub + Cloud Run</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Flex · SQS + Lambda o ECS</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200" dirty="0">
                          <a:solidFill>
                            <a:srgbClr val="1B1F24"/>
                          </a:solidFill>
                        </a:rPr>
                        <a:t>Carga sostenida alta</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Provisioned (PTU) Global, Data Zone o regional</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Provisioned Throughput</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Reserved tier</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F24"/>
                          </a:solidFill>
                        </a:rPr>
                        <a:t>Gateway de IA</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API Management</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Apigee o gateway en Cloud Run</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API Gateway + Lambda o gateway en ECS</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200" dirty="0">
                          <a:solidFill>
                            <a:srgbClr val="1B1F24"/>
                          </a:solidFill>
                        </a:rPr>
                        <a:t>Enrutamiento global</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Front Door · Traffic Manager</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Cloud Load Balancing global · Cloud DNS</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Route 53 · Global Accelerator · CloudFront</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F24"/>
                          </a:solidFill>
                        </a:rPr>
                        <a:t>Modelo autogestionado</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AKS · Container Apps con GPU</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GKE · Cloud Run con GPU</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EKS · ECS · SageMaker</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Azure: tipo de despliegue = residencia + precio + SLA</a:t>
            </a:r>
            <a:endParaRPr lang="en-US" sz="28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377440"/>
                <a:gridCol w="3108960"/>
                <a:gridCol w="2651760"/>
                <a:gridCol w="2926080"/>
              </a:tblGrid>
              <a:tr h="0">
                <a:tc>
                  <a:txBody>
                    <a:bodyPr/>
                    <a:lstStyle/>
                    <a:p>
                      <a:pPr indent="0" marL="0">
                        <a:buNone/>
                      </a:pP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Standard (pago por token)</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Provisioned (PTU)</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Batch</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300" dirty="0">
                          <a:solidFill>
                            <a:srgbClr val="1B1F24"/>
                          </a:solidFill>
                        </a:rPr>
                        <a:t>Global</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Inferencia en cualquier región; mayor cuota predeterminada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Capacidad reservada, latencia más estable</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−50 % frente a Global Standard; objetivo 24 h</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Data Zone (EE. UU., UE, APAC)</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Inferencia dentro de la zona de datos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Reservada dentro de la zona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−50 %; dentro de la zona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24"/>
                          </a:solidFill>
                        </a:rPr>
                        <a:t>Regional (Standard)</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Inferencia dentro de la geografía elegida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Reservada en la región</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4" name="Text 1"/>
          <p:cNvSpPr txBox="1"/>
          <p:nvPr/>
        </p:nvSpPr>
        <p:spPr>
          <a:xfrm>
            <a:off x="548640" y="3200400"/>
            <a:ext cx="11064240" cy="237744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Los datos en reposo permanecen en la geografía designada en todos los tipos</a:t>
            </a:r>
            <a:endParaRPr lang="en-US" sz="1500" dirty="0"/>
          </a:p>
          <a:p>
            <a:pPr marL="342900" indent="-342900">
              <a:spcAft>
                <a:spcPts val="600"/>
              </a:spcAft>
              <a:buSzPct val="100000"/>
              <a:buChar char="•"/>
            </a:pPr>
            <a:r>
              <a:rPr lang="en-US" sz="1500" dirty="0">
                <a:solidFill>
                  <a:schemeClr val="tx1"/>
                </a:solidFill>
              </a:rPr>
              <a:t>Con Global y Data Zone Standard, si la región primaria se interrumpe, se afecta todo el tráfico enrutado a ella</a:t>
            </a:r>
            <a:endParaRPr lang="en-US" sz="1500" dirty="0"/>
          </a:p>
          <a:p>
            <a:pPr marL="342900" indent="-342900">
              <a:spcAft>
                <a:spcPts val="600"/>
              </a:spcAft>
              <a:buSzPct val="100000"/>
              <a:buChar char="•"/>
            </a:pPr>
            <a:r>
              <a:rPr lang="en-US" sz="1500" dirty="0">
                <a:solidFill>
                  <a:schemeClr val="tx1"/>
                </a:solidFill>
              </a:rPr>
              <a:t>Priority processing: atributo del despliegue o de la solicitud (Global Standard y Data Zone Standard US)</a:t>
            </a:r>
            <a:endParaRPr lang="en-US" sz="1500" dirty="0"/>
          </a:p>
          <a:p>
            <a:pPr marL="342900" indent="-342900">
              <a:spcAft>
                <a:spcPts val="600"/>
              </a:spcAft>
              <a:buSzPct val="100000"/>
              <a:buChar char="•"/>
            </a:pPr>
            <a:r>
              <a:rPr lang="en-US" sz="1500" dirty="0">
                <a:solidFill>
                  <a:schemeClr val="tx1"/>
                </a:solidFill>
              </a:rPr>
              <a:t>Developer: sin SLA ni garantía de residencia; solo para evaluar modelos ajustados</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Google Cloud: ubicación del endpoint y modalidad de consumo</a:t>
            </a:r>
            <a:endParaRPr lang="en-US" sz="28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743200"/>
                <a:gridCol w="4572000"/>
                <a:gridCol w="3749040"/>
              </a:tblGrid>
              <a:tr h="0">
                <a:tc>
                  <a:txBody>
                    <a:bodyPr/>
                    <a:lstStyle/>
                    <a:p>
                      <a:pPr indent="0" marL="0">
                        <a:buNone/>
                      </a:pPr>
                      <a:r>
                        <a:rPr lang="en-US" sz="1300" b="1" dirty="0">
                          <a:solidFill>
                            <a:srgbClr val="FFFFFF"/>
                          </a:solidFill>
                        </a:rPr>
                        <a:t>Ubicación del endpoint</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Dónde se procesa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Uso típico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300" dirty="0">
                          <a:solidFill>
                            <a:srgbClr val="1B1F24"/>
                          </a:solidFill>
                        </a:rPr>
                        <a:t>Global</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Cualquier ubicación de Google Cloud; sin garantías de residencia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Máxima disponibilidad cuando no hay restricción de datos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Multirregional (us, eu)</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Dentro de la jurisdicción; eu excluye Reino Unido y Suiza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Residencia con más capacidad que una región</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24"/>
                          </a:solidFill>
                        </a:rPr>
                        <a:t>Regional (p. ej., us-central1)</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Dentro de la jurisdicción de la región</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Residencia estricta; menor disponibilidad</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graphicFrame>
        <p:nvGraphicFramePr>
          <p:cNvPr id="75" name="Table 1"/>
          <p:cNvGraphicFramePr>
            <a:graphicFrameLocks noGrp="1"/>
          </p:cNvGraphicFramePr>
          <p:nvPr>
            <p:extLst>
              <p:ext uri="{D42A27DB-BD31-4B8C-83A1-F6EECF244321}">
                <p14:modId xmlns:p14="http://schemas.microsoft.com/office/powerpoint/2010/main" val="1579011935"/>
              </p:ext>
            </p:extLst>
          </p:nvPr>
        </p:nvGraphicFramePr>
        <p:xfrm>
          <a:off x="548640" y="3429000"/>
          <a:ext cx="6400800" cy="914400"/>
        </p:xfrm>
        <a:graphic>
          <a:graphicData uri="http://schemas.openxmlformats.org/drawingml/2006/table">
            <a:tbl>
              <a:tblPr/>
              <a:tblGrid>
                <a:gridCol w="2377440"/>
                <a:gridCol w="4023360"/>
              </a:tblGrid>
              <a:tr h="0">
                <a:tc>
                  <a:txBody>
                    <a:bodyPr/>
                    <a:lstStyle/>
                    <a:p>
                      <a:pPr indent="0" marL="0">
                        <a:buNone/>
                      </a:pPr>
                      <a:r>
                        <a:rPr lang="en-US" sz="1300" b="1" dirty="0">
                          <a:solidFill>
                            <a:srgbClr val="FFFFFF"/>
                          </a:solidFill>
                        </a:rPr>
                        <a:t>Modalidad</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Para qué</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300" dirty="0">
                          <a:solidFill>
                            <a:srgbClr val="1B1F24"/>
                          </a:solidFill>
                        </a:rPr>
                        <a:t>Standard PayGo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Tráfico general</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Priority PayGo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Cargas críticas con tráfico fluctuante</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24"/>
                          </a:solidFill>
                        </a:rPr>
                        <a:t>Flex PayGo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Cargas no críticas tolerantes a la latencia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Provisioned Throughput</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Capacidad reservada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24"/>
                          </a:solidFill>
                        </a:rPr>
                        <a:t>Batch inference</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Lotes desde Cloud Storage o BigQuery, −50 %</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5" name="Shape 1"/>
          <p:cNvSpPr/>
          <p:nvPr/>
        </p:nvSpPr>
        <p:spPr>
          <a:xfrm>
            <a:off x="7223760" y="3429000"/>
            <a:ext cx="4389120" cy="2011680"/>
          </a:xfrm>
          <a:prstGeom prst="roundRect">
            <a:avLst>
              <a:gd name="adj" fmla="val 3636"/>
            </a:avLst>
          </a:prstGeom>
          <a:solidFill>
            <a:srgbClr val="FBEFD9"/>
          </a:solidFill>
          <a:ln w="12700">
            <a:solidFill>
              <a:srgbClr val="D98E2B"/>
            </a:solidFill>
            <a:prstDash val="solid"/>
          </a:ln>
        </p:spPr>
      </p:sp>
      <p:sp>
        <p:nvSpPr>
          <p:cNvPr id="6" name="Text 2"/>
          <p:cNvSpPr txBox="1"/>
          <p:nvPr/>
        </p:nvSpPr>
        <p:spPr>
          <a:xfrm>
            <a:off x="7223760" y="3429000"/>
            <a:ext cx="4389120" cy="2011680"/>
          </a:xfrm>
          <a:prstGeom prst="rect">
            <a:avLst/>
          </a:prstGeom>
          <a:noFill/>
          <a:ln/>
        </p:spPr>
        <p:txBody>
          <a:bodyPr wrap="square" lIns="635" tIns="635" rIns="635" bIns="635" rtlCol="0" anchor="ctr"/>
          <a:lstStyle/>
          <a:p>
            <a:pPr algn="ctr" indent="0" marL="0">
              <a:buNone/>
            </a:pPr>
            <a:r>
              <a:rPr lang="en-US" sz="1300" dirty="0">
                <a:solidFill>
                  <a:srgbClr val="1B1F24"/>
                </a:solidFill>
              </a:rPr>
              <a:t>Los modelos anteriores a Gemini 3 no se admiten en los endpoints multirregionales jurisdiccionales.</a:t>
            </a:r>
            <a:endParaRPr lang="en-US" sz="1300" dirty="0"/>
          </a:p>
          <a:p>
            <a:pPr algn="ctr" indent="0" marL="0">
              <a:buNone/>
            </a:pPr>
            <a:r>
              <a:rPr lang="en-US" sz="1300" dirty="0">
                <a:solidFill>
                  <a:srgbClr val="1B1F24"/>
                </a:solidFill>
              </a:rPr>
              <a:t>Gemini 2.5 tiene retiro anunciado: actualice los laboratorios de la Sesión 1.</a:t>
            </a:r>
            <a:endParaRPr lang="en-US" sz="13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AWS: perfiles de inferencia y niveles de servicio</a:t>
            </a:r>
            <a:endParaRPr lang="en-US" sz="28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926080"/>
                <a:gridCol w="3931920"/>
                <a:gridCol w="4206240"/>
              </a:tblGrid>
              <a:tr h="0">
                <a:tc>
                  <a:txBody>
                    <a:bodyPr/>
                    <a:lstStyle/>
                    <a:p>
                      <a:pPr indent="0" marL="0">
                        <a:buNone/>
                      </a:pPr>
                      <a:r>
                        <a:rPr lang="en-US" sz="1300" b="1" dirty="0">
                          <a:solidFill>
                            <a:srgbClr val="FFFFFF"/>
                          </a:solidFill>
                        </a:rPr>
                        <a:t>Opción</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Comportamiento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Consideraciones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300" dirty="0">
                          <a:solidFill>
                            <a:srgbClr val="1B1F24"/>
                          </a:solidFill>
                        </a:rPr>
                        <a:t>Modelo en una región</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Se procesa en la región de origen</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Máximo control de residencia; capacidad de una región</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Perfil geográfico (us., eu., jp., au.)</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Bedrock elige una región dentro de la geografía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IAM y SCP deben permitir todas las regiones de destino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24"/>
                          </a:solidFill>
                        </a:rPr>
                        <a:t>Perfil global (global.)</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Cualquier región comercial</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Mayor capacidad; sin restricción geográfica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Niveles Priority, Standard, Flex</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Se elige por solicitud con service_tier</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Comparten la cuota on-demand</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24"/>
                          </a:solidFill>
                        </a:rPr>
                        <a:t>Reserved</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Capacidad de tokens por minuto reservada por 1 o 3 meses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Mínimos de 100.000 TPM de entrada y 10.000 de salida; desborda a Standard</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Batch</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S3 → trabajo → S3</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Mínimo 100 registros; −50 %</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5623560"/>
            <a:ext cx="11064240" cy="566928"/>
          </a:xfrm>
          <a:prstGeom prst="roundRect">
            <a:avLst>
              <a:gd name="adj" fmla="val 12903"/>
            </a:avLst>
          </a:prstGeom>
          <a:solidFill>
            <a:srgbClr val="D98E2B"/>
          </a:solidFill>
          <a:ln w="12700">
            <a:solidFill>
              <a:srgbClr val="D98E2B"/>
            </a:solidFill>
            <a:prstDash val="solid"/>
          </a:ln>
        </p:spPr>
      </p:sp>
      <p:sp>
        <p:nvSpPr>
          <p:cNvPr id="5" name="Text 2"/>
          <p:cNvSpPr txBox="1"/>
          <p:nvPr/>
        </p:nvSpPr>
        <p:spPr>
          <a:xfrm>
            <a:off x="731520" y="5623560"/>
            <a:ext cx="10698480" cy="566928"/>
          </a:xfrm>
          <a:prstGeom prst="rect">
            <a:avLst/>
          </a:prstGeom>
          <a:noFill/>
          <a:ln/>
        </p:spPr>
        <p:txBody>
          <a:bodyPr wrap="square" lIns="0" tIns="0" rIns="0" bIns="0" rtlCol="0" anchor="ctr"/>
          <a:lstStyle/>
          <a:p>
            <a:pPr indent="0" marL="0">
              <a:buNone/>
            </a:pPr>
            <a:r>
              <a:rPr lang="en-US" sz="1500" b="1" dirty="0">
                <a:solidFill>
                  <a:srgbClr val="FFFFFF"/>
                </a:solidFill>
              </a:rPr>
              <a:t>El plan Free de AWS no admite funciones multirregión ni entre regiones: para CRIS use el plan Paid con presupuesto</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Gestionado vs. autogestionado en una topología multi-región</a:t>
            </a:r>
            <a:endParaRPr lang="en-US" sz="28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743200"/>
                <a:gridCol w="4114800"/>
                <a:gridCol w="4206240"/>
              </a:tblGrid>
              <a:tr h="0">
                <a:tc>
                  <a:txBody>
                    <a:bodyPr/>
                    <a:lstStyle/>
                    <a:p>
                      <a:pPr indent="0" marL="0">
                        <a:buNone/>
                      </a:pPr>
                      <a:r>
                        <a:rPr lang="en-US" sz="1300" b="1" dirty="0">
                          <a:solidFill>
                            <a:srgbClr val="FFFFFF"/>
                          </a:solidFill>
                        </a:rPr>
                        <a:t>Aspecto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Modelo gestionado (API)</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Modelo autogestionado (GPU propia)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300" dirty="0">
                          <a:solidFill>
                            <a:srgbClr val="1B1F24"/>
                          </a:solidFill>
                        </a:rPr>
                        <a:t>Región secundaria en espera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Despliegue sin tráfico: sin cargo por tokens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GPU encendida = costo por hora; apagada = arranque en frío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Capacidad en el incidente</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Cuota de la suscripción o proyecto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Disponibilidad de GPU en la región secundaria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24"/>
                          </a:solidFill>
                        </a:rPr>
                        <a:t>Conmutación</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Cambio de endpoint o capa del proveedor</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Cambio de clúster; pesos e imágenes replicados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Versión del modelo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Decide el proveedor (retiros programados)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Decide usted (fija los pesos)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24"/>
                          </a:solidFill>
                        </a:rPr>
                        <a:t>Residencia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Según tipo de despliegue o endpoint</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Total: usted elige dónde corre</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4" name="Text 1"/>
          <p:cNvSpPr txBox="1"/>
          <p:nvPr/>
        </p:nvSpPr>
        <p:spPr>
          <a:xfrm>
            <a:off x="548640" y="4206240"/>
            <a:ext cx="11064240" cy="137160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Con el caso de la Sesión 1: 2 instancias L4 24/7 en Cloud Run ≈ US$1.507 al mes; el asistente con gpt-5-mini ≈ US$67,50 al mes</a:t>
            </a:r>
            <a:endParaRPr lang="en-US" sz="1500" dirty="0"/>
          </a:p>
          <a:p>
            <a:pPr marL="342900" indent="-342900">
              <a:spcAft>
                <a:spcPts val="600"/>
              </a:spcAft>
              <a:buSzPct val="100000"/>
              <a:buChar char="•"/>
            </a:pPr>
            <a:r>
              <a:rPr lang="en-US" sz="1500" dirty="0">
                <a:solidFill>
                  <a:schemeClr val="tx1"/>
                </a:solidFill>
              </a:rPr>
              <a:t>La redundancia multi-región amplía esa diferencia: duplicar GPU duplica el costo fijo</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Portabilidad: reducir el costo de cambiar</a:t>
            </a:r>
            <a:endParaRPr lang="en-US" sz="2800" dirty="0"/>
          </a:p>
        </p:txBody>
      </p:sp>
      <p:sp>
        <p:nvSpPr>
          <p:cNvPr id="3" name="Shape 1"/>
          <p:cNvSpPr/>
          <p:nvPr/>
        </p:nvSpPr>
        <p:spPr>
          <a:xfrm>
            <a:off x="548640" y="1463040"/>
            <a:ext cx="2560320" cy="1188720"/>
          </a:xfrm>
          <a:prstGeom prst="roundRect">
            <a:avLst>
              <a:gd name="adj" fmla="val 6154"/>
            </a:avLst>
          </a:prstGeom>
          <a:solidFill>
            <a:srgbClr val="DCEAF4"/>
          </a:solidFill>
          <a:ln w="12700">
            <a:solidFill>
              <a:srgbClr val="1F6F9F"/>
            </a:solidFill>
            <a:prstDash val="solid"/>
          </a:ln>
        </p:spPr>
      </p:sp>
      <p:sp>
        <p:nvSpPr>
          <p:cNvPr id="4" name="Text 2"/>
          <p:cNvSpPr txBox="1"/>
          <p:nvPr/>
        </p:nvSpPr>
        <p:spPr>
          <a:xfrm>
            <a:off x="548640" y="1463040"/>
            <a:ext cx="2560320" cy="1188720"/>
          </a:xfrm>
          <a:prstGeom prst="rect">
            <a:avLst/>
          </a:prstGeom>
          <a:noFill/>
          <a:ln/>
        </p:spPr>
        <p:txBody>
          <a:bodyPr wrap="square" lIns="635" tIns="635" rIns="635" bIns="635" rtlCol="0" anchor="ctr"/>
          <a:lstStyle/>
          <a:p>
            <a:pPr algn="ctr" indent="0" marL="0">
              <a:buNone/>
            </a:pPr>
            <a:r>
              <a:rPr lang="en-US" sz="1300" dirty="0">
                <a:solidFill>
                  <a:srgbClr val="1B1F24"/>
                </a:solidFill>
              </a:rPr>
              <a:t>Clientes</a:t>
            </a:r>
            <a:endParaRPr lang="en-US" sz="1300" dirty="0"/>
          </a:p>
          <a:p>
            <a:pPr algn="ctr" indent="0" marL="0">
              <a:buNone/>
            </a:pPr>
            <a:r>
              <a:rPr lang="en-US" sz="1300" dirty="0">
                <a:solidFill>
                  <a:srgbClr val="1B1F24"/>
                </a:solidFill>
              </a:rPr>
              <a:t>(web, móvil, agentes)</a:t>
            </a:r>
            <a:endParaRPr lang="en-US" sz="1300" dirty="0"/>
          </a:p>
        </p:txBody>
      </p:sp>
      <p:sp>
        <p:nvSpPr>
          <p:cNvPr id="5" name="Shape 3"/>
          <p:cNvSpPr/>
          <p:nvPr/>
        </p:nvSpPr>
        <p:spPr>
          <a:xfrm>
            <a:off x="3108960" y="2057400"/>
            <a:ext cx="274320" cy="914"/>
          </a:xfrm>
          <a:prstGeom prst="line">
            <a:avLst/>
          </a:prstGeom>
          <a:noFill/>
          <a:ln w="19050">
            <a:solidFill>
              <a:srgbClr val="7A8794"/>
            </a:solidFill>
            <a:prstDash val="solid"/>
            <a:tailEnd type="triangle"/>
          </a:ln>
        </p:spPr>
      </p:sp>
      <p:sp>
        <p:nvSpPr>
          <p:cNvPr id="6" name="Shape 4"/>
          <p:cNvSpPr/>
          <p:nvPr/>
        </p:nvSpPr>
        <p:spPr>
          <a:xfrm>
            <a:off x="3383280" y="1463040"/>
            <a:ext cx="2560320" cy="1188720"/>
          </a:xfrm>
          <a:prstGeom prst="roundRect">
            <a:avLst>
              <a:gd name="adj" fmla="val 6154"/>
            </a:avLst>
          </a:prstGeom>
          <a:solidFill>
            <a:srgbClr val="E3F2EF"/>
          </a:solidFill>
          <a:ln w="12700">
            <a:solidFill>
              <a:srgbClr val="1F6F9F"/>
            </a:solidFill>
            <a:prstDash val="solid"/>
          </a:ln>
        </p:spPr>
      </p:sp>
      <p:sp>
        <p:nvSpPr>
          <p:cNvPr id="7" name="Text 5"/>
          <p:cNvSpPr txBox="1"/>
          <p:nvPr/>
        </p:nvSpPr>
        <p:spPr>
          <a:xfrm>
            <a:off x="3383280" y="1463040"/>
            <a:ext cx="2560320" cy="1188720"/>
          </a:xfrm>
          <a:prstGeom prst="rect">
            <a:avLst/>
          </a:prstGeom>
          <a:noFill/>
          <a:ln/>
        </p:spPr>
        <p:txBody>
          <a:bodyPr wrap="square" lIns="635" tIns="635" rIns="635" bIns="635" rtlCol="0" anchor="ctr"/>
          <a:lstStyle/>
          <a:p>
            <a:pPr algn="ctr" indent="0" marL="0">
              <a:buNone/>
            </a:pPr>
            <a:r>
              <a:rPr lang="en-US" sz="1300" dirty="0">
                <a:solidFill>
                  <a:srgbClr val="1B1F24"/>
                </a:solidFill>
              </a:rPr>
              <a:t>Contrato propio</a:t>
            </a:r>
            <a:endParaRPr lang="en-US" sz="1300" dirty="0"/>
          </a:p>
          <a:p>
            <a:pPr algn="ctr" indent="0" marL="0">
              <a:buNone/>
            </a:pPr>
            <a:r>
              <a:rPr lang="en-US" sz="1300" dirty="0">
                <a:solidFill>
                  <a:srgbClr val="1B1F24"/>
                </a:solidFill>
              </a:rPr>
              <a:t>/v1/chat · /v1/batches</a:t>
            </a:r>
            <a:endParaRPr lang="en-US" sz="1300" dirty="0"/>
          </a:p>
        </p:txBody>
      </p:sp>
      <p:sp>
        <p:nvSpPr>
          <p:cNvPr id="8" name="Shape 6"/>
          <p:cNvSpPr/>
          <p:nvPr/>
        </p:nvSpPr>
        <p:spPr>
          <a:xfrm>
            <a:off x="5943600" y="2057400"/>
            <a:ext cx="274320" cy="914"/>
          </a:xfrm>
          <a:prstGeom prst="line">
            <a:avLst/>
          </a:prstGeom>
          <a:noFill/>
          <a:ln w="19050">
            <a:solidFill>
              <a:srgbClr val="7A8794"/>
            </a:solidFill>
            <a:prstDash val="solid"/>
            <a:tailEnd type="triangle"/>
          </a:ln>
        </p:spPr>
      </p:sp>
      <p:sp>
        <p:nvSpPr>
          <p:cNvPr id="9" name="Shape 7"/>
          <p:cNvSpPr/>
          <p:nvPr/>
        </p:nvSpPr>
        <p:spPr>
          <a:xfrm>
            <a:off x="6217920" y="1463040"/>
            <a:ext cx="2560320" cy="1188720"/>
          </a:xfrm>
          <a:prstGeom prst="roundRect">
            <a:avLst>
              <a:gd name="adj" fmla="val 6154"/>
            </a:avLst>
          </a:prstGeom>
          <a:solidFill>
            <a:srgbClr val="F2F4F6"/>
          </a:solidFill>
          <a:ln w="12700">
            <a:solidFill>
              <a:srgbClr val="1F6F9F"/>
            </a:solidFill>
            <a:prstDash val="solid"/>
          </a:ln>
        </p:spPr>
      </p:sp>
      <p:sp>
        <p:nvSpPr>
          <p:cNvPr id="10" name="Text 8"/>
          <p:cNvSpPr txBox="1"/>
          <p:nvPr/>
        </p:nvSpPr>
        <p:spPr>
          <a:xfrm>
            <a:off x="6217920" y="1463040"/>
            <a:ext cx="2560320" cy="1188720"/>
          </a:xfrm>
          <a:prstGeom prst="rect">
            <a:avLst/>
          </a:prstGeom>
          <a:noFill/>
          <a:ln/>
        </p:spPr>
        <p:txBody>
          <a:bodyPr wrap="square" lIns="635" tIns="635" rIns="635" bIns="635" rtlCol="0" anchor="ctr"/>
          <a:lstStyle/>
          <a:p>
            <a:pPr algn="ctr" indent="0" marL="0">
              <a:buNone/>
            </a:pPr>
            <a:r>
              <a:rPr lang="en-US" sz="1300" dirty="0">
                <a:solidFill>
                  <a:srgbClr val="1B1F24"/>
                </a:solidFill>
              </a:rPr>
              <a:t>Gateway con</a:t>
            </a:r>
            <a:endParaRPr lang="en-US" sz="1300" dirty="0"/>
          </a:p>
          <a:p>
            <a:pPr algn="ctr" indent="0" marL="0">
              <a:buNone/>
            </a:pPr>
            <a:r>
              <a:rPr lang="en-US" sz="1300" dirty="0">
                <a:solidFill>
                  <a:srgbClr val="1B1F24"/>
                </a:solidFill>
              </a:rPr>
              <a:t>adaptadores</a:t>
            </a:r>
            <a:endParaRPr lang="en-US" sz="1300" dirty="0"/>
          </a:p>
        </p:txBody>
      </p:sp>
      <p:sp>
        <p:nvSpPr>
          <p:cNvPr id="11" name="Shape 9"/>
          <p:cNvSpPr/>
          <p:nvPr/>
        </p:nvSpPr>
        <p:spPr>
          <a:xfrm>
            <a:off x="8778240" y="2057400"/>
            <a:ext cx="274320" cy="914"/>
          </a:xfrm>
          <a:prstGeom prst="line">
            <a:avLst/>
          </a:prstGeom>
          <a:noFill/>
          <a:ln w="19050">
            <a:solidFill>
              <a:srgbClr val="7A8794"/>
            </a:solidFill>
            <a:prstDash val="solid"/>
            <a:tailEnd type="triangle"/>
          </a:ln>
        </p:spPr>
      </p:sp>
      <p:sp>
        <p:nvSpPr>
          <p:cNvPr id="12" name="Shape 10"/>
          <p:cNvSpPr/>
          <p:nvPr/>
        </p:nvSpPr>
        <p:spPr>
          <a:xfrm>
            <a:off x="9052560" y="1463040"/>
            <a:ext cx="2560320" cy="1188720"/>
          </a:xfrm>
          <a:prstGeom prst="roundRect">
            <a:avLst>
              <a:gd name="adj" fmla="val 6154"/>
            </a:avLst>
          </a:prstGeom>
          <a:solidFill>
            <a:srgbClr val="FBEFD9"/>
          </a:solidFill>
          <a:ln w="12700">
            <a:solidFill>
              <a:srgbClr val="1F6F9F"/>
            </a:solidFill>
            <a:prstDash val="solid"/>
          </a:ln>
        </p:spPr>
      </p:sp>
      <p:sp>
        <p:nvSpPr>
          <p:cNvPr id="13" name="Text 11"/>
          <p:cNvSpPr txBox="1"/>
          <p:nvPr/>
        </p:nvSpPr>
        <p:spPr>
          <a:xfrm>
            <a:off x="9052560" y="1463040"/>
            <a:ext cx="2560320" cy="1188720"/>
          </a:xfrm>
          <a:prstGeom prst="rect">
            <a:avLst/>
          </a:prstGeom>
          <a:noFill/>
          <a:ln/>
        </p:spPr>
        <p:txBody>
          <a:bodyPr wrap="square" lIns="635" tIns="635" rIns="635" bIns="635" rtlCol="0" anchor="ctr"/>
          <a:lstStyle/>
          <a:p>
            <a:pPr algn="ctr" indent="0" marL="0">
              <a:buNone/>
            </a:pPr>
            <a:r>
              <a:rPr lang="en-US" sz="1300" dirty="0">
                <a:solidFill>
                  <a:srgbClr val="1B1F24"/>
                </a:solidFill>
              </a:rPr>
              <a:t>Foundry · Agent Platform</a:t>
            </a:r>
            <a:endParaRPr lang="en-US" sz="1300" dirty="0"/>
          </a:p>
          <a:p>
            <a:pPr algn="ctr" indent="0" marL="0">
              <a:buNone/>
            </a:pPr>
            <a:r>
              <a:rPr lang="en-US" sz="1300" dirty="0">
                <a:solidFill>
                  <a:srgbClr val="1B1F24"/>
                </a:solidFill>
              </a:rPr>
              <a:t>· Bedrock · Ollama</a:t>
            </a:r>
            <a:endParaRPr lang="en-US" sz="1300" dirty="0"/>
          </a:p>
        </p:txBody>
      </p:sp>
      <p:sp>
        <p:nvSpPr>
          <p:cNvPr id="14" name="Text 12"/>
          <p:cNvSpPr txBox="1"/>
          <p:nvPr/>
        </p:nvSpPr>
        <p:spPr>
          <a:xfrm>
            <a:off x="548640" y="2926080"/>
            <a:ext cx="11064240" cy="265176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chemeClr val="tx1"/>
                </a:solidFill>
              </a:rPr>
              <a:t>Contrato de API propio (Sesión 1): los clientes no conocen al proveedor</a:t>
            </a:r>
            <a:endParaRPr lang="en-US" sz="1600" dirty="0"/>
          </a:p>
          <a:p>
            <a:pPr marL="342900" indent="-342900">
              <a:spcAft>
                <a:spcPts val="600"/>
              </a:spcAft>
              <a:buSzPct val="100000"/>
              <a:buChar char="•"/>
            </a:pPr>
            <a:r>
              <a:rPr lang="en-US" sz="1600" dirty="0">
                <a:solidFill>
                  <a:schemeClr val="tx1"/>
                </a:solidFill>
              </a:rPr>
              <a:t>APIs compatibles con Chat Completions: el mismo gateway de LOC-02 habla con Ollama, con Foundry (/openai/v1) o con un simulador</a:t>
            </a:r>
            <a:endParaRPr lang="en-US" sz="1600" dirty="0"/>
          </a:p>
          <a:p>
            <a:pPr marL="342900" indent="-342900">
              <a:spcAft>
                <a:spcPts val="600"/>
              </a:spcAft>
              <a:buSzPct val="100000"/>
              <a:buChar char="•"/>
            </a:pPr>
            <a:r>
              <a:rPr lang="en-US" sz="1600" dirty="0">
                <a:solidFill>
                  <a:schemeClr val="tx1"/>
                </a:solidFill>
              </a:rPr>
              <a:t>Formatos de lote equivalentes: un generador produce los tres formatos (lote_pqrs.py)</a:t>
            </a:r>
            <a:endParaRPr lang="en-US" sz="1600" dirty="0"/>
          </a:p>
          <a:p>
            <a:pPr marL="342900" indent="-342900">
              <a:spcAft>
                <a:spcPts val="600"/>
              </a:spcAft>
              <a:buSzPct val="100000"/>
              <a:buChar char="•"/>
            </a:pPr>
            <a:r>
              <a:rPr lang="en-US" sz="1600" dirty="0">
                <a:solidFill>
                  <a:schemeClr val="tx1"/>
                </a:solidFill>
              </a:rPr>
              <a:t>OpenTelemetry con convenciones GenAI: la misma telemetría en cualquier nube</a:t>
            </a:r>
            <a:endParaRPr lang="en-US" sz="1600" dirty="0"/>
          </a:p>
          <a:p>
            <a:pPr marL="342900" indent="-342900">
              <a:spcAft>
                <a:spcPts val="600"/>
              </a:spcAft>
              <a:buSzPct val="100000"/>
              <a:buChar char="•"/>
            </a:pPr>
            <a:r>
              <a:rPr lang="en-US" sz="1600" dirty="0">
                <a:solidFill>
                  <a:schemeClr val="tx1"/>
                </a:solidFill>
              </a:rPr>
              <a:t>El lock-in no desaparece: cuotas, identidad, red y datos siguen siendo propios de cada nube</a:t>
            </a:r>
            <a:endParaRPr lang="en-US" sz="16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Demo 3 · Azure: dos regiones y conmutación (AZ-G)</a:t>
            </a:r>
            <a:endParaRPr lang="en-US" sz="2800" dirty="0"/>
          </a:p>
        </p:txBody>
      </p:sp>
      <p:sp>
        <p:nvSpPr>
          <p:cNvPr id="3" name="Shape 1"/>
          <p:cNvSpPr/>
          <p:nvPr/>
        </p:nvSpPr>
        <p:spPr>
          <a:xfrm>
            <a:off x="548640" y="1463040"/>
            <a:ext cx="2560320" cy="1371600"/>
          </a:xfrm>
          <a:prstGeom prst="roundRect">
            <a:avLst>
              <a:gd name="adj" fmla="val 5333"/>
            </a:avLst>
          </a:prstGeom>
          <a:solidFill>
            <a:srgbClr val="DCEAF4"/>
          </a:solidFill>
          <a:ln w="12700">
            <a:solidFill>
              <a:srgbClr val="1F6F9F"/>
            </a:solidFill>
            <a:prstDash val="solid"/>
          </a:ln>
        </p:spPr>
      </p:sp>
      <p:sp>
        <p:nvSpPr>
          <p:cNvPr id="4" name="Text 2"/>
          <p:cNvSpPr txBox="1"/>
          <p:nvPr/>
        </p:nvSpPr>
        <p:spPr>
          <a:xfrm>
            <a:off x="548640" y="1463040"/>
            <a:ext cx="2560320" cy="1371600"/>
          </a:xfrm>
          <a:prstGeom prst="rect">
            <a:avLst/>
          </a:prstGeom>
          <a:noFill/>
          <a:ln/>
        </p:spPr>
        <p:txBody>
          <a:bodyPr wrap="square" lIns="635" tIns="635" rIns="635" bIns="635" rtlCol="0" anchor="ctr"/>
          <a:lstStyle/>
          <a:p>
            <a:pPr algn="ctr" indent="0" marL="0">
              <a:buNone/>
            </a:pPr>
            <a:r>
              <a:rPr lang="en-US" sz="1300" dirty="0">
                <a:solidFill>
                  <a:srgbClr val="1B1F24"/>
                </a:solidFill>
              </a:rPr>
              <a:t>Portal: cuota por</a:t>
            </a:r>
            <a:endParaRPr lang="en-US" sz="1300" dirty="0"/>
          </a:p>
          <a:p>
            <a:pPr algn="ctr" indent="0" marL="0">
              <a:buNone/>
            </a:pPr>
            <a:r>
              <a:rPr lang="en-US" sz="1300" dirty="0">
                <a:solidFill>
                  <a:srgbClr val="1B1F24"/>
                </a:solidFill>
              </a:rPr>
              <a:t>suscripción</a:t>
            </a:r>
            <a:endParaRPr lang="en-US" sz="1300" dirty="0"/>
          </a:p>
          <a:p>
            <a:pPr algn="ctr" indent="0" marL="0">
              <a:buNone/>
            </a:pPr>
            <a:r>
              <a:rPr lang="en-US" sz="1300" dirty="0">
                <a:solidFill>
                  <a:srgbClr val="1B1F24"/>
                </a:solidFill>
              </a:rPr>
              <a:t>(AZ-G.1)</a:t>
            </a:r>
            <a:endParaRPr lang="en-US" sz="1300" dirty="0"/>
          </a:p>
        </p:txBody>
      </p:sp>
      <p:sp>
        <p:nvSpPr>
          <p:cNvPr id="5" name="Shape 3"/>
          <p:cNvSpPr/>
          <p:nvPr/>
        </p:nvSpPr>
        <p:spPr>
          <a:xfrm>
            <a:off x="3108960" y="2148840"/>
            <a:ext cx="274320" cy="914"/>
          </a:xfrm>
          <a:prstGeom prst="line">
            <a:avLst/>
          </a:prstGeom>
          <a:noFill/>
          <a:ln w="19050">
            <a:solidFill>
              <a:srgbClr val="7A8794"/>
            </a:solidFill>
            <a:prstDash val="solid"/>
            <a:tailEnd type="triangle"/>
          </a:ln>
        </p:spPr>
      </p:sp>
      <p:sp>
        <p:nvSpPr>
          <p:cNvPr id="6" name="Shape 4"/>
          <p:cNvSpPr/>
          <p:nvPr/>
        </p:nvSpPr>
        <p:spPr>
          <a:xfrm>
            <a:off x="3383280" y="1463040"/>
            <a:ext cx="2560320" cy="1371600"/>
          </a:xfrm>
          <a:prstGeom prst="roundRect">
            <a:avLst>
              <a:gd name="adj" fmla="val 5333"/>
            </a:avLst>
          </a:prstGeom>
          <a:solidFill>
            <a:srgbClr val="F2F4F6"/>
          </a:solidFill>
          <a:ln w="12700">
            <a:solidFill>
              <a:srgbClr val="1F6F9F"/>
            </a:solidFill>
            <a:prstDash val="solid"/>
          </a:ln>
        </p:spPr>
      </p:sp>
      <p:sp>
        <p:nvSpPr>
          <p:cNvPr id="7" name="Text 5"/>
          <p:cNvSpPr txBox="1"/>
          <p:nvPr/>
        </p:nvSpPr>
        <p:spPr>
          <a:xfrm>
            <a:off x="3383280" y="1463040"/>
            <a:ext cx="2560320" cy="1371600"/>
          </a:xfrm>
          <a:prstGeom prst="rect">
            <a:avLst/>
          </a:prstGeom>
          <a:noFill/>
          <a:ln/>
        </p:spPr>
        <p:txBody>
          <a:bodyPr wrap="square" lIns="635" tIns="635" rIns="635" bIns="635" rtlCol="0" anchor="ctr"/>
          <a:lstStyle/>
          <a:p>
            <a:pPr algn="ctr" indent="0" marL="0">
              <a:buNone/>
            </a:pPr>
            <a:r>
              <a:rPr lang="en-US" sz="1300" dirty="0">
                <a:solidFill>
                  <a:srgbClr val="1B1F24"/>
                </a:solidFill>
              </a:rPr>
              <a:t>Dos recursos Foundry</a:t>
            </a:r>
            <a:endParaRPr lang="en-US" sz="1300" dirty="0"/>
          </a:p>
          <a:p>
            <a:pPr algn="ctr" indent="0" marL="0">
              <a:buNone/>
            </a:pPr>
            <a:r>
              <a:rPr lang="en-US" sz="1300" dirty="0">
                <a:solidFill>
                  <a:srgbClr val="1B1F24"/>
                </a:solidFill>
              </a:rPr>
              <a:t>East US 2 y</a:t>
            </a:r>
            <a:endParaRPr lang="en-US" sz="1300" dirty="0"/>
          </a:p>
          <a:p>
            <a:pPr algn="ctr" indent="0" marL="0">
              <a:buNone/>
            </a:pPr>
            <a:r>
              <a:rPr lang="en-US" sz="1300" dirty="0">
                <a:solidFill>
                  <a:srgbClr val="1B1F24"/>
                </a:solidFill>
              </a:rPr>
              <a:t>Sweden Central (AZ-G.2)</a:t>
            </a:r>
            <a:endParaRPr lang="en-US" sz="1300" dirty="0"/>
          </a:p>
        </p:txBody>
      </p:sp>
      <p:sp>
        <p:nvSpPr>
          <p:cNvPr id="8" name="Shape 6"/>
          <p:cNvSpPr/>
          <p:nvPr/>
        </p:nvSpPr>
        <p:spPr>
          <a:xfrm>
            <a:off x="5943600" y="2148840"/>
            <a:ext cx="274320" cy="914"/>
          </a:xfrm>
          <a:prstGeom prst="line">
            <a:avLst/>
          </a:prstGeom>
          <a:noFill/>
          <a:ln w="19050">
            <a:solidFill>
              <a:srgbClr val="7A8794"/>
            </a:solidFill>
            <a:prstDash val="solid"/>
            <a:tailEnd type="triangle"/>
          </a:ln>
        </p:spPr>
      </p:sp>
      <p:sp>
        <p:nvSpPr>
          <p:cNvPr id="9" name="Shape 7"/>
          <p:cNvSpPr/>
          <p:nvPr/>
        </p:nvSpPr>
        <p:spPr>
          <a:xfrm>
            <a:off x="6217920" y="1463040"/>
            <a:ext cx="2560320" cy="1371600"/>
          </a:xfrm>
          <a:prstGeom prst="roundRect">
            <a:avLst>
              <a:gd name="adj" fmla="val 5333"/>
            </a:avLst>
          </a:prstGeom>
          <a:solidFill>
            <a:srgbClr val="E3F2EF"/>
          </a:solidFill>
          <a:ln w="12700">
            <a:solidFill>
              <a:srgbClr val="1F6F9F"/>
            </a:solidFill>
            <a:prstDash val="solid"/>
          </a:ln>
        </p:spPr>
      </p:sp>
      <p:sp>
        <p:nvSpPr>
          <p:cNvPr id="10" name="Text 8"/>
          <p:cNvSpPr txBox="1"/>
          <p:nvPr/>
        </p:nvSpPr>
        <p:spPr>
          <a:xfrm>
            <a:off x="6217920" y="1463040"/>
            <a:ext cx="2560320" cy="1371600"/>
          </a:xfrm>
          <a:prstGeom prst="rect">
            <a:avLst/>
          </a:prstGeom>
          <a:noFill/>
          <a:ln/>
        </p:spPr>
        <p:txBody>
          <a:bodyPr wrap="square" lIns="635" tIns="635" rIns="635" bIns="635" rtlCol="0" anchor="ctr"/>
          <a:lstStyle/>
          <a:p>
            <a:pPr algn="ctr" indent="0" marL="0">
              <a:buNone/>
            </a:pPr>
            <a:r>
              <a:rPr lang="en-US" sz="1300" dirty="0">
                <a:solidFill>
                  <a:srgbClr val="1B1F24"/>
                </a:solidFill>
              </a:rPr>
              <a:t>online_failover.py</a:t>
            </a:r>
            <a:endParaRPr lang="en-US" sz="1300" dirty="0"/>
          </a:p>
          <a:p>
            <a:pPr algn="ctr" indent="0" marL="0">
              <a:buNone/>
            </a:pPr>
            <a:r>
              <a:rPr lang="en-US" sz="1300" dirty="0">
                <a:solidFill>
                  <a:srgbClr val="1B1F24"/>
                </a:solidFill>
              </a:rPr>
              <a:t>10 repeticiones</a:t>
            </a:r>
            <a:endParaRPr lang="en-US" sz="1300" dirty="0"/>
          </a:p>
          <a:p>
            <a:pPr algn="ctr" indent="0" marL="0">
              <a:buNone/>
            </a:pPr>
            <a:r>
              <a:rPr lang="en-US" sz="1300" dirty="0">
                <a:solidFill>
                  <a:srgbClr val="1B1F24"/>
                </a:solidFill>
              </a:rPr>
              <a:t>(AZ-G.4)</a:t>
            </a:r>
            <a:endParaRPr lang="en-US" sz="1300" dirty="0"/>
          </a:p>
        </p:txBody>
      </p:sp>
      <p:sp>
        <p:nvSpPr>
          <p:cNvPr id="11" name="Shape 9"/>
          <p:cNvSpPr/>
          <p:nvPr/>
        </p:nvSpPr>
        <p:spPr>
          <a:xfrm>
            <a:off x="8778240" y="2148840"/>
            <a:ext cx="274320" cy="914"/>
          </a:xfrm>
          <a:prstGeom prst="line">
            <a:avLst/>
          </a:prstGeom>
          <a:noFill/>
          <a:ln w="19050">
            <a:solidFill>
              <a:srgbClr val="7A8794"/>
            </a:solidFill>
            <a:prstDash val="solid"/>
            <a:tailEnd type="triangle"/>
          </a:ln>
        </p:spPr>
      </p:sp>
      <p:sp>
        <p:nvSpPr>
          <p:cNvPr id="12" name="Shape 10"/>
          <p:cNvSpPr/>
          <p:nvPr/>
        </p:nvSpPr>
        <p:spPr>
          <a:xfrm>
            <a:off x="9052560" y="1463040"/>
            <a:ext cx="2560320" cy="1371600"/>
          </a:xfrm>
          <a:prstGeom prst="roundRect">
            <a:avLst>
              <a:gd name="adj" fmla="val 5333"/>
            </a:avLst>
          </a:prstGeom>
          <a:solidFill>
            <a:srgbClr val="F6E1DF"/>
          </a:solidFill>
          <a:ln w="12700">
            <a:solidFill>
              <a:srgbClr val="1F6F9F"/>
            </a:solidFill>
            <a:prstDash val="solid"/>
          </a:ln>
        </p:spPr>
      </p:sp>
      <p:sp>
        <p:nvSpPr>
          <p:cNvPr id="13" name="Text 11"/>
          <p:cNvSpPr txBox="1"/>
          <p:nvPr/>
        </p:nvSpPr>
        <p:spPr>
          <a:xfrm>
            <a:off x="9052560" y="1463040"/>
            <a:ext cx="2560320" cy="1371600"/>
          </a:xfrm>
          <a:prstGeom prst="rect">
            <a:avLst/>
          </a:prstGeom>
          <a:noFill/>
          <a:ln/>
        </p:spPr>
        <p:txBody>
          <a:bodyPr wrap="square" lIns="635" tIns="635" rIns="635" bIns="635" rtlCol="0" anchor="ctr"/>
          <a:lstStyle/>
          <a:p>
            <a:pPr algn="ctr" indent="0" marL="0">
              <a:buNone/>
            </a:pPr>
            <a:r>
              <a:rPr lang="en-US" sz="1300" dirty="0">
                <a:solidFill>
                  <a:srgbClr val="1B1F24"/>
                </a:solidFill>
              </a:rPr>
              <a:t>Primaria inválida:</a:t>
            </a:r>
            <a:endParaRPr lang="en-US" sz="1300" dirty="0"/>
          </a:p>
          <a:p>
            <a:pPr algn="ctr" indent="0" marL="0">
              <a:buNone/>
            </a:pPr>
            <a:r>
              <a:rPr lang="en-US" sz="1300" dirty="0">
                <a:solidFill>
                  <a:srgbClr val="1B1F24"/>
                </a:solidFill>
              </a:rPr>
              <a:t>conmutación</a:t>
            </a:r>
            <a:endParaRPr lang="en-US" sz="1300" dirty="0"/>
          </a:p>
          <a:p>
            <a:pPr algn="ctr" indent="0" marL="0">
              <a:buNone/>
            </a:pPr>
            <a:r>
              <a:rPr lang="en-US" sz="1300" dirty="0">
                <a:solidFill>
                  <a:srgbClr val="1B1F24"/>
                </a:solidFill>
              </a:rPr>
              <a:t>(AZ-G.5)</a:t>
            </a:r>
            <a:endParaRPr lang="en-US" sz="1300" dirty="0"/>
          </a:p>
        </p:txBody>
      </p:sp>
      <p:sp>
        <p:nvSpPr>
          <p:cNvPr id="14" name="Text 12"/>
          <p:cNvSpPr txBox="1"/>
          <p:nvPr/>
        </p:nvSpPr>
        <p:spPr>
          <a:xfrm>
            <a:off x="548640" y="3108960"/>
            <a:ext cx="11064240" cy="237744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chemeClr val="tx1"/>
                </a:solidFill>
              </a:rPr>
              <a:t>Prediga: con la primaria inaccesible, ¿cuántos intentos verá en la primera y en la segunda solicitud?</a:t>
            </a:r>
            <a:endParaRPr lang="en-US" sz="1600" dirty="0"/>
          </a:p>
          <a:p>
            <a:pPr marL="342900" indent="-342900">
              <a:spcAft>
                <a:spcPts val="600"/>
              </a:spcAft>
              <a:buSzPct val="100000"/>
              <a:buChar char="•"/>
            </a:pPr>
            <a:r>
              <a:rPr lang="en-US" sz="1600" dirty="0">
                <a:solidFill>
                  <a:schemeClr val="tx1"/>
                </a:solidFill>
              </a:rPr>
              <a:t>Observe: la segunda región responde, pero ambas comparten la cuota de Global Standard de la suscripción</a:t>
            </a:r>
            <a:endParaRPr lang="en-US" sz="1600" dirty="0"/>
          </a:p>
          <a:p>
            <a:pPr marL="342900" indent="-342900">
              <a:spcAft>
                <a:spcPts val="600"/>
              </a:spcAft>
              <a:buSzPct val="100000"/>
              <a:buChar char="•"/>
            </a:pPr>
            <a:r>
              <a:rPr lang="en-US" sz="1600" dirty="0">
                <a:solidFill>
                  <a:schemeClr val="tx1"/>
                </a:solidFill>
              </a:rPr>
              <a:t>Si hay suscripción de pago: mostrar Azure OpenAI Batch con el mismo lote (AZ-G.6)</a:t>
            </a:r>
            <a:endParaRPr lang="en-US" sz="1600" dirty="0"/>
          </a:p>
        </p:txBody>
      </p:sp>
      <p:sp>
        <p:nvSpPr>
          <p:cNvPr id="15" name="Shape 13"/>
          <p:cNvSpPr/>
          <p:nvPr/>
        </p:nvSpPr>
        <p:spPr>
          <a:xfrm>
            <a:off x="548640" y="5623560"/>
            <a:ext cx="11064240" cy="566928"/>
          </a:xfrm>
          <a:prstGeom prst="roundRect">
            <a:avLst>
              <a:gd name="adj" fmla="val 12903"/>
            </a:avLst>
          </a:prstGeom>
          <a:solidFill>
            <a:srgbClr val="7A8794"/>
          </a:solidFill>
          <a:ln w="12700">
            <a:solidFill>
              <a:srgbClr val="7A8794"/>
            </a:solidFill>
            <a:prstDash val="solid"/>
          </a:ln>
        </p:spPr>
      </p:sp>
      <p:sp>
        <p:nvSpPr>
          <p:cNvPr id="16" name="Text 14"/>
          <p:cNvSpPr txBox="1"/>
          <p:nvPr/>
        </p:nvSpPr>
        <p:spPr>
          <a:xfrm>
            <a:off x="731520" y="5623560"/>
            <a:ext cx="10698480" cy="566928"/>
          </a:xfrm>
          <a:prstGeom prst="rect">
            <a:avLst/>
          </a:prstGeom>
          <a:noFill/>
          <a:ln/>
        </p:spPr>
        <p:txBody>
          <a:bodyPr wrap="square" lIns="0" tIns="0" rIns="0" bIns="0" rtlCol="0" anchor="ctr"/>
          <a:lstStyle/>
          <a:p>
            <a:pPr indent="0" marL="0">
              <a:buNone/>
            </a:pPr>
            <a:r>
              <a:rPr lang="en-US" sz="1500" b="1" dirty="0">
                <a:solidFill>
                  <a:srgbClr val="FFFFFF"/>
                </a:solidFill>
              </a:rPr>
              <a:t>Plan B: grabación del docente + pruebas sin red del laboratorio (pytest)</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371600"/>
          </a:xfrm>
          <a:prstGeom prst="rect">
            <a:avLst/>
          </a:prstGeom>
          <a:noFill/>
          <a:ln/>
        </p:spPr>
        <p:txBody>
          <a:bodyPr wrap="square" rtlCol="0"/>
          <a:lstStyle/>
          <a:p>
            <a:pPr algn="l" indent="0" marL="0">
              <a:buNone/>
            </a:pPr>
            <a:r>
              <a:rPr lang="en-US" sz="3800" b="1" dirty="0">
                <a:solidFill>
                  <a:schemeClr val="bg1"/>
                </a:solidFill>
              </a:rPr>
              <a:t>Unidad D · Seguridad, residencia y costo de la redundancia</a:t>
            </a:r>
            <a:endParaRPr lang="en-US" sz="3800" dirty="0"/>
          </a:p>
        </p:txBody>
      </p:sp>
      <p:sp>
        <p:nvSpPr>
          <p:cNvPr id="3" name="Text 0"/>
          <p:cNvSpPr/>
          <p:nvPr>
            <p:ph idx="101" type="body" hasCustomPrompt="1"/>
          </p:nvPr>
        </p:nvSpPr>
        <p:spPr>
          <a:xfrm>
            <a:off x="731520" y="3474720"/>
            <a:ext cx="10698480" cy="1371600"/>
          </a:xfrm>
          <a:prstGeom prst="rect">
            <a:avLst/>
          </a:prstGeom>
          <a:noFill/>
          <a:ln/>
        </p:spPr>
        <p:txBody>
          <a:bodyPr wrap="square" rtlCol="0"/>
          <a:lstStyle/>
          <a:p>
            <a:pPr indent="0" marL="0">
              <a:buNone/>
            </a:pPr>
            <a:r>
              <a:rPr lang="en-US" sz="2000" dirty="0">
                <a:solidFill>
                  <a:schemeClr val="bg2"/>
                </a:solidFill>
              </a:rPr>
              <a:t>¿Qué se rompe en seguridad y en presupuesto cuando el sistema se vuelve multi-región?</a:t>
            </a:r>
            <a:endParaRPr lang="en-US" sz="20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Residencia de datos: qué viaja y qué se queda</a:t>
            </a:r>
            <a:endParaRPr lang="en-US" sz="28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840480"/>
                <a:gridCol w="4114800"/>
                <a:gridCol w="3108960"/>
              </a:tblGrid>
              <a:tr h="0">
                <a:tc>
                  <a:txBody>
                    <a:bodyPr/>
                    <a:lstStyle/>
                    <a:p>
                      <a:pPr indent="0" marL="0">
                        <a:buNone/>
                      </a:pPr>
                      <a:r>
                        <a:rPr lang="en-US" sz="1300" b="1" dirty="0">
                          <a:solidFill>
                            <a:srgbClr val="FFFFFF"/>
                          </a:solidFill>
                        </a:rPr>
                        <a:t>Mecanismo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Inferencia (datos en uso)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Datos en reposo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300" dirty="0">
                          <a:solidFill>
                            <a:srgbClr val="1B1F24"/>
                          </a:solidFill>
                        </a:rPr>
                        <a:t>Azure Global / Data Zone / Standard</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Cualquier región / zona de datos / geografía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Geografía designada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Google endpoint global / multirregional / regional</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Cualquier ubicación / jurisdicción / región</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Ubicación del recurso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24"/>
                          </a:solidFill>
                        </a:rPr>
                        <a:t>AWS perfil global / geográfico / región</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Cualquier región comercial / geografía / región</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Región de origen (logs, configuración)</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4" name="Text 1"/>
          <p:cNvSpPr txBox="1"/>
          <p:nvPr/>
        </p:nvSpPr>
        <p:spPr>
          <a:xfrm>
            <a:off x="548640" y="3108960"/>
            <a:ext cx="11064240" cy="246888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chemeClr val="tx1"/>
                </a:solidFill>
              </a:rPr>
              <a:t>Defina la clasificación de los datos antes de elegir el tipo de despliegue</a:t>
            </a:r>
            <a:endParaRPr lang="en-US" sz="1600" dirty="0"/>
          </a:p>
          <a:p>
            <a:pPr marL="342900" indent="-342900">
              <a:spcAft>
                <a:spcPts val="600"/>
              </a:spcAft>
              <a:buSzPct val="100000"/>
              <a:buChar char="•"/>
            </a:pPr>
            <a:r>
              <a:rPr lang="en-US" sz="1600" dirty="0">
                <a:solidFill>
                  <a:schemeClr val="tx1"/>
                </a:solidFill>
              </a:rPr>
              <a:t>Las PQRS contienen datos personales: la base legal y las transferencias deben revisarse con la oficina jurídica (Ley 1581 de 2012)</a:t>
            </a:r>
            <a:endParaRPr lang="en-US" sz="1600" dirty="0"/>
          </a:p>
          <a:p>
            <a:pPr marL="342900" indent="-342900">
              <a:spcAft>
                <a:spcPts val="600"/>
              </a:spcAft>
              <a:buSzPct val="100000"/>
              <a:buChar char="•"/>
            </a:pPr>
            <a:r>
              <a:rPr lang="en-US" sz="1600" dirty="0">
                <a:solidFill>
                  <a:schemeClr val="tx1"/>
                </a:solidFill>
              </a:rPr>
              <a:t>Documente en un ADR la combinación elegida y por qué es compatible con la política institucional</a:t>
            </a:r>
            <a:endParaRPr lang="en-US" sz="16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Seguridad en una topología multi-región</a:t>
            </a:r>
            <a:endParaRPr lang="en-US" sz="2800" dirty="0"/>
          </a:p>
        </p:txBody>
      </p:sp>
      <p:sp>
        <p:nvSpPr>
          <p:cNvPr id="3" name="Shape 1"/>
          <p:cNvSpPr/>
          <p:nvPr/>
        </p:nvSpPr>
        <p:spPr>
          <a:xfrm>
            <a:off x="548640" y="1325880"/>
            <a:ext cx="1920240" cy="1188720"/>
          </a:xfrm>
          <a:prstGeom prst="roundRect">
            <a:avLst>
              <a:gd name="adj" fmla="val 6154"/>
            </a:avLst>
          </a:prstGeom>
          <a:solidFill>
            <a:srgbClr val="DCEAF4"/>
          </a:solidFill>
          <a:ln w="12700">
            <a:solidFill>
              <a:srgbClr val="1F6F9F"/>
            </a:solidFill>
            <a:prstDash val="solid"/>
          </a:ln>
        </p:spPr>
      </p:sp>
      <p:sp>
        <p:nvSpPr>
          <p:cNvPr id="4" name="Text 2"/>
          <p:cNvSpPr txBox="1"/>
          <p:nvPr/>
        </p:nvSpPr>
        <p:spPr>
          <a:xfrm>
            <a:off x="548640" y="1325880"/>
            <a:ext cx="1920240" cy="1188720"/>
          </a:xfrm>
          <a:prstGeom prst="rect">
            <a:avLst/>
          </a:prstGeom>
          <a:noFill/>
          <a:ln/>
        </p:spPr>
        <p:txBody>
          <a:bodyPr wrap="square" lIns="635" tIns="635" rIns="635" bIns="635" rtlCol="0" anchor="ctr"/>
          <a:lstStyle/>
          <a:p>
            <a:pPr algn="ctr" indent="0" marL="0">
              <a:buNone/>
            </a:pPr>
            <a:r>
              <a:rPr lang="en-US" sz="1500" b="1" dirty="0">
                <a:solidFill>
                  <a:srgbClr val="1B1F24"/>
                </a:solidFill>
              </a:rPr>
              <a:t>Identidad</a:t>
            </a:r>
            <a:endParaRPr lang="en-US" sz="1500" dirty="0"/>
          </a:p>
        </p:txBody>
      </p:sp>
      <p:sp>
        <p:nvSpPr>
          <p:cNvPr id="5" name="Text 3"/>
          <p:cNvSpPr txBox="1"/>
          <p:nvPr/>
        </p:nvSpPr>
        <p:spPr>
          <a:xfrm>
            <a:off x="2606040" y="1325880"/>
            <a:ext cx="3383280" cy="1188720"/>
          </a:xfrm>
          <a:prstGeom prst="rect">
            <a:avLst/>
          </a:prstGeom>
          <a:noFill/>
          <a:ln/>
        </p:spPr>
        <p:txBody>
          <a:bodyPr wrap="square" lIns="0" tIns="0" rIns="0" bIns="0" rtlCol="0" anchor="ctr"/>
          <a:lstStyle/>
          <a:p>
            <a:pPr algn="l" indent="0" marL="0">
              <a:buNone/>
            </a:pPr>
            <a:r>
              <a:rPr lang="en-US" sz="1300" dirty="0">
                <a:solidFill>
                  <a:srgbClr val="1B1F24"/>
                </a:solidFill>
              </a:rPr>
              <a:t>Identidades de carga en cada región; mismos roles mínimos. Una SCP o política regional puede romper la conmutación</a:t>
            </a:r>
            <a:endParaRPr lang="en-US" sz="1300" dirty="0"/>
          </a:p>
        </p:txBody>
      </p:sp>
      <p:sp>
        <p:nvSpPr>
          <p:cNvPr id="6" name="Shape 4"/>
          <p:cNvSpPr/>
          <p:nvPr/>
        </p:nvSpPr>
        <p:spPr>
          <a:xfrm>
            <a:off x="6172200" y="1325880"/>
            <a:ext cx="1920240" cy="1188720"/>
          </a:xfrm>
          <a:prstGeom prst="roundRect">
            <a:avLst>
              <a:gd name="adj" fmla="val 6154"/>
            </a:avLst>
          </a:prstGeom>
          <a:solidFill>
            <a:srgbClr val="DCEAF4"/>
          </a:solidFill>
          <a:ln w="12700">
            <a:solidFill>
              <a:srgbClr val="1F6F9F"/>
            </a:solidFill>
            <a:prstDash val="solid"/>
          </a:ln>
        </p:spPr>
      </p:sp>
      <p:sp>
        <p:nvSpPr>
          <p:cNvPr id="7" name="Text 5"/>
          <p:cNvSpPr txBox="1"/>
          <p:nvPr/>
        </p:nvSpPr>
        <p:spPr>
          <a:xfrm>
            <a:off x="6172200" y="1325880"/>
            <a:ext cx="1920240" cy="1188720"/>
          </a:xfrm>
          <a:prstGeom prst="rect">
            <a:avLst/>
          </a:prstGeom>
          <a:noFill/>
          <a:ln/>
        </p:spPr>
        <p:txBody>
          <a:bodyPr wrap="square" lIns="635" tIns="635" rIns="635" bIns="635" rtlCol="0" anchor="ctr"/>
          <a:lstStyle/>
          <a:p>
            <a:pPr algn="ctr" indent="0" marL="0">
              <a:buNone/>
            </a:pPr>
            <a:r>
              <a:rPr lang="en-US" sz="1500" b="1" dirty="0">
                <a:solidFill>
                  <a:srgbClr val="1B1F24"/>
                </a:solidFill>
              </a:rPr>
              <a:t>Red</a:t>
            </a:r>
            <a:endParaRPr lang="en-US" sz="1500" dirty="0"/>
          </a:p>
        </p:txBody>
      </p:sp>
      <p:sp>
        <p:nvSpPr>
          <p:cNvPr id="8" name="Text 6"/>
          <p:cNvSpPr txBox="1"/>
          <p:nvPr/>
        </p:nvSpPr>
        <p:spPr>
          <a:xfrm>
            <a:off x="8229600" y="1325880"/>
            <a:ext cx="3383280" cy="1188720"/>
          </a:xfrm>
          <a:prstGeom prst="rect">
            <a:avLst/>
          </a:prstGeom>
          <a:noFill/>
          <a:ln/>
        </p:spPr>
        <p:txBody>
          <a:bodyPr wrap="square" lIns="0" tIns="0" rIns="0" bIns="0" rtlCol="0" anchor="ctr"/>
          <a:lstStyle/>
          <a:p>
            <a:pPr algn="l" indent="0" marL="0">
              <a:buNone/>
            </a:pPr>
            <a:r>
              <a:rPr lang="en-US" sz="1300" dirty="0">
                <a:solidFill>
                  <a:srgbClr val="1B1F24"/>
                </a:solidFill>
              </a:rPr>
              <a:t>Endpoints privados en cada región; la secundaria con los mismos controles que la primaria</a:t>
            </a:r>
            <a:endParaRPr lang="en-US" sz="1300" dirty="0"/>
          </a:p>
        </p:txBody>
      </p:sp>
      <p:sp>
        <p:nvSpPr>
          <p:cNvPr id="9" name="Shape 7"/>
          <p:cNvSpPr/>
          <p:nvPr/>
        </p:nvSpPr>
        <p:spPr>
          <a:xfrm>
            <a:off x="548640" y="2743200"/>
            <a:ext cx="1920240" cy="1188720"/>
          </a:xfrm>
          <a:prstGeom prst="roundRect">
            <a:avLst>
              <a:gd name="adj" fmla="val 6154"/>
            </a:avLst>
          </a:prstGeom>
          <a:solidFill>
            <a:srgbClr val="E3F2EF"/>
          </a:solidFill>
          <a:ln w="12700">
            <a:solidFill>
              <a:srgbClr val="1F6F9F"/>
            </a:solidFill>
            <a:prstDash val="solid"/>
          </a:ln>
        </p:spPr>
      </p:sp>
      <p:sp>
        <p:nvSpPr>
          <p:cNvPr id="10" name="Text 8"/>
          <p:cNvSpPr txBox="1"/>
          <p:nvPr/>
        </p:nvSpPr>
        <p:spPr>
          <a:xfrm>
            <a:off x="548640" y="2743200"/>
            <a:ext cx="1920240" cy="1188720"/>
          </a:xfrm>
          <a:prstGeom prst="rect">
            <a:avLst/>
          </a:prstGeom>
          <a:noFill/>
          <a:ln/>
        </p:spPr>
        <p:txBody>
          <a:bodyPr wrap="square" lIns="635" tIns="635" rIns="635" bIns="635" rtlCol="0" anchor="ctr"/>
          <a:lstStyle/>
          <a:p>
            <a:pPr algn="ctr" indent="0" marL="0">
              <a:buNone/>
            </a:pPr>
            <a:r>
              <a:rPr lang="en-US" sz="1500" b="1" dirty="0">
                <a:solidFill>
                  <a:srgbClr val="1B1F24"/>
                </a:solidFill>
              </a:rPr>
              <a:t>Secretos</a:t>
            </a:r>
            <a:endParaRPr lang="en-US" sz="1500" dirty="0"/>
          </a:p>
        </p:txBody>
      </p:sp>
      <p:sp>
        <p:nvSpPr>
          <p:cNvPr id="11" name="Text 9"/>
          <p:cNvSpPr txBox="1"/>
          <p:nvPr/>
        </p:nvSpPr>
        <p:spPr>
          <a:xfrm>
            <a:off x="2606040" y="2743200"/>
            <a:ext cx="3383280" cy="1188720"/>
          </a:xfrm>
          <a:prstGeom prst="rect">
            <a:avLst/>
          </a:prstGeom>
          <a:noFill/>
          <a:ln/>
        </p:spPr>
        <p:txBody>
          <a:bodyPr wrap="square" lIns="0" tIns="0" rIns="0" bIns="0" rtlCol="0" anchor="ctr"/>
          <a:lstStyle/>
          <a:p>
            <a:pPr algn="l" indent="0" marL="0">
              <a:buNone/>
            </a:pPr>
            <a:r>
              <a:rPr lang="en-US" sz="1300" dirty="0">
                <a:solidFill>
                  <a:srgbClr val="1B1F24"/>
                </a:solidFill>
              </a:rPr>
              <a:t>Gestor de secretos replicado; sin claves en archivos de configuración de regiones</a:t>
            </a:r>
            <a:endParaRPr lang="en-US" sz="1300" dirty="0"/>
          </a:p>
        </p:txBody>
      </p:sp>
      <p:sp>
        <p:nvSpPr>
          <p:cNvPr id="12" name="Shape 10"/>
          <p:cNvSpPr/>
          <p:nvPr/>
        </p:nvSpPr>
        <p:spPr>
          <a:xfrm>
            <a:off x="6172200" y="2743200"/>
            <a:ext cx="1920240" cy="1188720"/>
          </a:xfrm>
          <a:prstGeom prst="roundRect">
            <a:avLst>
              <a:gd name="adj" fmla="val 6154"/>
            </a:avLst>
          </a:prstGeom>
          <a:solidFill>
            <a:srgbClr val="E3F2EF"/>
          </a:solidFill>
          <a:ln w="12700">
            <a:solidFill>
              <a:srgbClr val="1F6F9F"/>
            </a:solidFill>
            <a:prstDash val="solid"/>
          </a:ln>
        </p:spPr>
      </p:sp>
      <p:sp>
        <p:nvSpPr>
          <p:cNvPr id="13" name="Text 11"/>
          <p:cNvSpPr txBox="1"/>
          <p:nvPr/>
        </p:nvSpPr>
        <p:spPr>
          <a:xfrm>
            <a:off x="6172200" y="2743200"/>
            <a:ext cx="1920240" cy="1188720"/>
          </a:xfrm>
          <a:prstGeom prst="rect">
            <a:avLst/>
          </a:prstGeom>
          <a:noFill/>
          <a:ln/>
        </p:spPr>
        <p:txBody>
          <a:bodyPr wrap="square" lIns="635" tIns="635" rIns="635" bIns="635" rtlCol="0" anchor="ctr"/>
          <a:lstStyle/>
          <a:p>
            <a:pPr algn="ctr" indent="0" marL="0">
              <a:buNone/>
            </a:pPr>
            <a:r>
              <a:rPr lang="en-US" sz="1500" b="1" dirty="0">
                <a:solidFill>
                  <a:srgbClr val="1B1F24"/>
                </a:solidFill>
              </a:rPr>
              <a:t>Configuración</a:t>
            </a:r>
            <a:endParaRPr lang="en-US" sz="1500" dirty="0"/>
          </a:p>
        </p:txBody>
      </p:sp>
      <p:sp>
        <p:nvSpPr>
          <p:cNvPr id="14" name="Text 12"/>
          <p:cNvSpPr txBox="1"/>
          <p:nvPr/>
        </p:nvSpPr>
        <p:spPr>
          <a:xfrm>
            <a:off x="8229600" y="2743200"/>
            <a:ext cx="3383280" cy="1188720"/>
          </a:xfrm>
          <a:prstGeom prst="rect">
            <a:avLst/>
          </a:prstGeom>
          <a:noFill/>
          <a:ln/>
        </p:spPr>
        <p:txBody>
          <a:bodyPr wrap="square" lIns="0" tIns="0" rIns="0" bIns="0" rtlCol="0" anchor="ctr"/>
          <a:lstStyle/>
          <a:p>
            <a:pPr algn="l" indent="0" marL="0">
              <a:buNone/>
            </a:pPr>
            <a:r>
              <a:rPr lang="en-US" sz="1300" dirty="0">
                <a:solidFill>
                  <a:srgbClr val="1B1F24"/>
                </a:solidFill>
              </a:rPr>
              <a:t>Prompts de sistema y guardrails idénticos en todas las regiones, desplegados desde Git</a:t>
            </a:r>
            <a:endParaRPr lang="en-US" sz="1300" dirty="0"/>
          </a:p>
        </p:txBody>
      </p:sp>
      <p:sp>
        <p:nvSpPr>
          <p:cNvPr id="15" name="Shape 13"/>
          <p:cNvSpPr/>
          <p:nvPr/>
        </p:nvSpPr>
        <p:spPr>
          <a:xfrm>
            <a:off x="548640" y="4160520"/>
            <a:ext cx="1920240" cy="1188720"/>
          </a:xfrm>
          <a:prstGeom prst="roundRect">
            <a:avLst>
              <a:gd name="adj" fmla="val 6154"/>
            </a:avLst>
          </a:prstGeom>
          <a:solidFill>
            <a:srgbClr val="FBEFD9"/>
          </a:solidFill>
          <a:ln w="12700">
            <a:solidFill>
              <a:srgbClr val="1F6F9F"/>
            </a:solidFill>
            <a:prstDash val="solid"/>
          </a:ln>
        </p:spPr>
      </p:sp>
      <p:sp>
        <p:nvSpPr>
          <p:cNvPr id="16" name="Text 14"/>
          <p:cNvSpPr txBox="1"/>
          <p:nvPr/>
        </p:nvSpPr>
        <p:spPr>
          <a:xfrm>
            <a:off x="548640" y="4160520"/>
            <a:ext cx="1920240" cy="1188720"/>
          </a:xfrm>
          <a:prstGeom prst="rect">
            <a:avLst/>
          </a:prstGeom>
          <a:noFill/>
          <a:ln/>
        </p:spPr>
        <p:txBody>
          <a:bodyPr wrap="square" lIns="635" tIns="635" rIns="635" bIns="635" rtlCol="0" anchor="ctr"/>
          <a:lstStyle/>
          <a:p>
            <a:pPr algn="ctr" indent="0" marL="0">
              <a:buNone/>
            </a:pPr>
            <a:r>
              <a:rPr lang="en-US" sz="1500" b="1" dirty="0">
                <a:solidFill>
                  <a:srgbClr val="1B1F24"/>
                </a:solidFill>
              </a:rPr>
              <a:t>Registro y auditoría</a:t>
            </a:r>
            <a:endParaRPr lang="en-US" sz="1500" dirty="0"/>
          </a:p>
        </p:txBody>
      </p:sp>
      <p:sp>
        <p:nvSpPr>
          <p:cNvPr id="17" name="Text 15"/>
          <p:cNvSpPr txBox="1"/>
          <p:nvPr/>
        </p:nvSpPr>
        <p:spPr>
          <a:xfrm>
            <a:off x="2606040" y="4160520"/>
            <a:ext cx="3383280" cy="1188720"/>
          </a:xfrm>
          <a:prstGeom prst="rect">
            <a:avLst/>
          </a:prstGeom>
          <a:noFill/>
          <a:ln/>
        </p:spPr>
        <p:txBody>
          <a:bodyPr wrap="square" lIns="0" tIns="0" rIns="0" bIns="0" rtlCol="0" anchor="ctr"/>
          <a:lstStyle/>
          <a:p>
            <a:pPr algn="l" indent="0" marL="0">
              <a:buNone/>
            </a:pPr>
            <a:r>
              <a:rPr lang="en-US" sz="1300" dirty="0">
                <a:solidFill>
                  <a:srgbClr val="1B1F24"/>
                </a:solidFill>
              </a:rPr>
              <a:t>Telemetría centralizada sin contenido de conversaciones; región y modalidad en cada traza</a:t>
            </a:r>
            <a:endParaRPr lang="en-US" sz="1300" dirty="0"/>
          </a:p>
        </p:txBody>
      </p:sp>
      <p:sp>
        <p:nvSpPr>
          <p:cNvPr id="18" name="Shape 16"/>
          <p:cNvSpPr/>
          <p:nvPr/>
        </p:nvSpPr>
        <p:spPr>
          <a:xfrm>
            <a:off x="6172200" y="4160520"/>
            <a:ext cx="1920240" cy="1188720"/>
          </a:xfrm>
          <a:prstGeom prst="roundRect">
            <a:avLst>
              <a:gd name="adj" fmla="val 6154"/>
            </a:avLst>
          </a:prstGeom>
          <a:solidFill>
            <a:srgbClr val="FBEFD9"/>
          </a:solidFill>
          <a:ln w="12700">
            <a:solidFill>
              <a:srgbClr val="1F6F9F"/>
            </a:solidFill>
            <a:prstDash val="solid"/>
          </a:ln>
        </p:spPr>
      </p:sp>
      <p:sp>
        <p:nvSpPr>
          <p:cNvPr id="19" name="Text 17"/>
          <p:cNvSpPr txBox="1"/>
          <p:nvPr/>
        </p:nvSpPr>
        <p:spPr>
          <a:xfrm>
            <a:off x="6172200" y="4160520"/>
            <a:ext cx="1920240" cy="1188720"/>
          </a:xfrm>
          <a:prstGeom prst="rect">
            <a:avLst/>
          </a:prstGeom>
          <a:noFill/>
          <a:ln/>
        </p:spPr>
        <p:txBody>
          <a:bodyPr wrap="square" lIns="635" tIns="635" rIns="635" bIns="635" rtlCol="0" anchor="ctr"/>
          <a:lstStyle/>
          <a:p>
            <a:pPr algn="ctr" indent="0" marL="0">
              <a:buNone/>
            </a:pPr>
            <a:r>
              <a:rPr lang="en-US" sz="1500" b="1" dirty="0">
                <a:solidFill>
                  <a:srgbClr val="1B1F24"/>
                </a:solidFill>
              </a:rPr>
              <a:t>Lotes</a:t>
            </a:r>
            <a:endParaRPr lang="en-US" sz="1500" dirty="0"/>
          </a:p>
        </p:txBody>
      </p:sp>
      <p:sp>
        <p:nvSpPr>
          <p:cNvPr id="20" name="Text 18"/>
          <p:cNvSpPr txBox="1"/>
          <p:nvPr/>
        </p:nvSpPr>
        <p:spPr>
          <a:xfrm>
            <a:off x="8229600" y="4160520"/>
            <a:ext cx="3383280" cy="1188720"/>
          </a:xfrm>
          <a:prstGeom prst="rect">
            <a:avLst/>
          </a:prstGeom>
          <a:noFill/>
          <a:ln/>
        </p:spPr>
        <p:txBody>
          <a:bodyPr wrap="square" lIns="0" tIns="0" rIns="0" bIns="0" rtlCol="0" anchor="ctr"/>
          <a:lstStyle/>
          <a:p>
            <a:pPr algn="l" indent="0" marL="0">
              <a:buNone/>
            </a:pPr>
            <a:r>
              <a:rPr lang="en-US" sz="1300" dirty="0">
                <a:solidFill>
                  <a:srgbClr val="1B1F24"/>
                </a:solidFill>
              </a:rPr>
              <a:t>Buckets cifrados y privados, rol de servicio con mínimo privilegio, caducidad de archivos</a:t>
            </a:r>
            <a:endParaRPr lang="en-US" sz="1300" dirty="0"/>
          </a:p>
        </p:txBody>
      </p:sp>
      <p:sp>
        <p:nvSpPr>
          <p:cNvPr id="21" name="Text 19"/>
          <p:cNvSpPr txBox="1"/>
          <p:nvPr/>
        </p:nvSpPr>
        <p:spPr>
          <a:xfrm>
            <a:off x="548640" y="5669280"/>
            <a:ext cx="11064240" cy="457200"/>
          </a:xfrm>
          <a:prstGeom prst="rect">
            <a:avLst/>
          </a:prstGeom>
          <a:noFill/>
          <a:ln/>
        </p:spPr>
        <p:txBody>
          <a:bodyPr wrap="square" lIns="0" tIns="0" rIns="0" bIns="0" rtlCol="0" anchor="ctr"/>
          <a:lstStyle/>
          <a:p>
            <a:pPr algn="l" indent="0" marL="0">
              <a:buNone/>
            </a:pPr>
            <a:r>
              <a:rPr lang="en-US" sz="1300" i="1" dirty="0">
                <a:solidFill>
                  <a:srgbClr val="13324B"/>
                </a:solidFill>
              </a:rPr>
              <a:t>Principio: la región secundaria no puede ser la menos protegida (Zero Trust, NIST SP 800-207).</a:t>
            </a:r>
            <a:endParaRPr lang="en-US" sz="13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FinOps: ¿cuánto cuesta cada modalidad para el lote de PQRS?</a:t>
            </a:r>
            <a:endParaRPr lang="en-US" sz="2800" dirty="0"/>
          </a:p>
        </p:txBody>
      </p:sp>
      <p:graphicFrame>
        <p:nvGraphicFramePr>
          <p:cNvPr id="3" name="Chart 0" descr=""/>
          <p:cNvGraphicFramePr/>
          <p:nvPr/>
        </p:nvGraphicFramePr>
        <p:xfrm>
          <a:off x="548640" y="1280160"/>
          <a:ext cx="5852160" cy="42062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675120" y="1371600"/>
            <a:ext cx="4937760" cy="4206240"/>
          </a:xfrm>
          <a:prstGeom prst="rect">
            <a:avLst/>
          </a:prstGeom>
          <a:noFill/>
          <a:ln/>
        </p:spPr>
        <p:txBody>
          <a:bodyPr wrap="square" lIns="635" tIns="635" rIns="635" bIns="635" rtlCol="0" anchor="t"/>
          <a:lstStyle/>
          <a:p>
            <a:pPr marL="342900" indent="-342900">
              <a:spcAft>
                <a:spcPts val="600"/>
              </a:spcAft>
              <a:buSzPct val="100000"/>
              <a:buChar char="•"/>
            </a:pPr>
            <a:r>
              <a:rPr lang="en-US" sz="1300" dirty="0">
                <a:solidFill>
                  <a:schemeClr val="tx1"/>
                </a:solidFill>
              </a:rPr>
              <a:t>Supuestos: 20.000 PQRS al mes · 350 tokens de entrada y 60 de salida por PQRS → 7,0 M y 1,2 M tokens</a:t>
            </a:r>
            <a:endParaRPr lang="en-US" sz="1300" dirty="0"/>
          </a:p>
          <a:p>
            <a:pPr marL="342900" indent="-342900">
              <a:spcAft>
                <a:spcPts val="600"/>
              </a:spcAft>
              <a:buSzPct val="100000"/>
              <a:buChar char="•"/>
            </a:pPr>
            <a:r>
              <a:rPr lang="en-US" sz="1300" dirty="0">
                <a:solidFill>
                  <a:schemeClr val="tx1"/>
                </a:solidFill>
              </a:rPr>
              <a:t>Precios publicados de Gemini 2.5 Flash (US$ por 1 M): 0,30 / 2,50 estándar y 0,15 / 1,25 batch, consultados el 20-oct-2026, usados solo para ilustrar la proporción</a:t>
            </a:r>
            <a:endParaRPr lang="en-US" sz="1300" dirty="0"/>
          </a:p>
          <a:p>
            <a:pPr marL="342900" indent="-342900">
              <a:spcAft>
                <a:spcPts val="600"/>
              </a:spcAft>
              <a:buSzPct val="100000"/>
              <a:buChar char="•"/>
            </a:pPr>
            <a:r>
              <a:rPr lang="en-US" sz="1300" dirty="0">
                <a:solidFill>
                  <a:schemeClr val="tx1"/>
                </a:solidFill>
              </a:rPr>
              <a:t>* Cloud Run con GPU L4 a ≈ US$1,047 por hora (Sesión 1), 30 noches; supone que un modelo pequeño procesa el lote en 1 h (hipótesis no medida)</a:t>
            </a:r>
            <a:endParaRPr lang="en-US" sz="1300" dirty="0"/>
          </a:p>
        </p:txBody>
      </p:sp>
      <p:sp>
        <p:nvSpPr>
          <p:cNvPr id="5" name="Shape 2"/>
          <p:cNvSpPr/>
          <p:nvPr/>
        </p:nvSpPr>
        <p:spPr>
          <a:xfrm>
            <a:off x="548640" y="5623560"/>
            <a:ext cx="11064240" cy="566928"/>
          </a:xfrm>
          <a:prstGeom prst="roundRect">
            <a:avLst>
              <a:gd name="adj" fmla="val 12903"/>
            </a:avLst>
          </a:prstGeom>
          <a:solidFill>
            <a:srgbClr val="13324B"/>
          </a:solidFill>
          <a:ln w="12700">
            <a:solidFill>
              <a:srgbClr val="13324B"/>
            </a:solidFill>
            <a:prstDash val="solid"/>
          </a:ln>
        </p:spPr>
      </p:sp>
      <p:sp>
        <p:nvSpPr>
          <p:cNvPr id="6" name="Text 3"/>
          <p:cNvSpPr txBox="1"/>
          <p:nvPr/>
        </p:nvSpPr>
        <p:spPr>
          <a:xfrm>
            <a:off x="731520" y="5623560"/>
            <a:ext cx="10698480" cy="566928"/>
          </a:xfrm>
          <a:prstGeom prst="rect">
            <a:avLst/>
          </a:prstGeom>
          <a:noFill/>
          <a:ln/>
        </p:spPr>
        <p:txBody>
          <a:bodyPr wrap="square" lIns="0" tIns="0" rIns="0" bIns="0" rtlCol="0" anchor="ctr"/>
          <a:lstStyle/>
          <a:p>
            <a:pPr indent="0" marL="0">
              <a:buNone/>
            </a:pPr>
            <a:r>
              <a:rPr lang="en-US" sz="1500" b="1" dirty="0">
                <a:solidFill>
                  <a:srgbClr val="FFFFFF"/>
                </a:solidFill>
              </a:rPr>
              <a:t>A este volumen, el batch gestionado es la opción más barata; la GPU solo compite con volúmenes mucho mayores</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FinOps de la redundancia y de la topología</a:t>
            </a:r>
            <a:endParaRPr lang="en-US" sz="28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743200"/>
                <a:gridCol w="3657600"/>
                <a:gridCol w="4663440"/>
              </a:tblGrid>
              <a:tr h="0">
                <a:tc>
                  <a:txBody>
                    <a:bodyPr/>
                    <a:lstStyle/>
                    <a:p>
                      <a:pPr indent="0" marL="0">
                        <a:buNone/>
                      </a:pPr>
                      <a:r>
                        <a:rPr lang="en-US" sz="1300" b="1" dirty="0">
                          <a:solidFill>
                            <a:srgbClr val="FFFFFF"/>
                          </a:solidFill>
                        </a:rPr>
                        <a:t>Fuente de costo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Comportamiento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Palanca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300" dirty="0">
                          <a:solidFill>
                            <a:srgbClr val="1B1F24"/>
                          </a:solidFill>
                        </a:rPr>
                        <a:t>Región secundaria gestionada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Sin tokens, sin cargo por tokens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Mantenerla lista y probada; no reservar capacidad salvo necesidad</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Región secundaria con GPU</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Costo por hora aunque no reciba tráfico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Pilot light, escalado a cero o reserva compartida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24"/>
                          </a:solidFill>
                        </a:rPr>
                        <a:t>Capacidad reservada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Pago fijo mensual</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Dimensionar la base; desbordar a estándar</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Gateway y balanceador global</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Cargo por hora o por solicitud</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Compartir entre aplicaciones; elegir nivel según funciones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24"/>
                          </a:solidFill>
                        </a:rPr>
                        <a:t>Tráfico entre regiones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Transferencia de datos y replicación</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Replicar solo lo necesario; índices reconstruibles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Priority</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Precio superior al estándar</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Solo para las solicitudes que lo necesitan</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24"/>
                          </a:solidFill>
                        </a:rPr>
                        <a:t>Batch y Flex</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Descuento a cambio de plazo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Mover toda carga sin usuario esperando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371600"/>
          </a:xfrm>
          <a:prstGeom prst="rect">
            <a:avLst/>
          </a:prstGeom>
          <a:noFill/>
          <a:ln/>
        </p:spPr>
        <p:txBody>
          <a:bodyPr wrap="square" rtlCol="0"/>
          <a:lstStyle/>
          <a:p>
            <a:pPr algn="l" indent="0" marL="0">
              <a:buNone/>
            </a:pPr>
            <a:r>
              <a:rPr lang="en-US" sz="3800" b="1" dirty="0">
                <a:solidFill>
                  <a:schemeClr val="bg1"/>
                </a:solidFill>
              </a:rPr>
              <a:t>Taller · Diseño preliminar de una topología</a:t>
            </a:r>
            <a:endParaRPr lang="en-US" sz="3800" dirty="0"/>
          </a:p>
        </p:txBody>
      </p:sp>
      <p:sp>
        <p:nvSpPr>
          <p:cNvPr id="3" name="Text 0"/>
          <p:cNvSpPr/>
          <p:nvPr>
            <p:ph idx="101" type="body" hasCustomPrompt="1"/>
          </p:nvPr>
        </p:nvSpPr>
        <p:spPr>
          <a:xfrm>
            <a:off x="731520" y="3474720"/>
            <a:ext cx="10698480" cy="1371600"/>
          </a:xfrm>
          <a:prstGeom prst="rect">
            <a:avLst/>
          </a:prstGeom>
          <a:noFill/>
          <a:ln/>
        </p:spPr>
        <p:txBody>
          <a:bodyPr wrap="square" rtlCol="0"/>
          <a:lstStyle/>
          <a:p>
            <a:pPr indent="0" marL="0">
              <a:buNone/>
            </a:pPr>
            <a:r>
              <a:rPr lang="en-US" sz="2000" dirty="0">
                <a:solidFill>
                  <a:schemeClr val="bg2"/>
                </a:solidFill>
              </a:rPr>
              <a:t>Aplicar la unidad completa a un caso empresarial y defender las decisiones</a:t>
            </a:r>
            <a:endParaRPr lang="en-US" sz="20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Método de diseño preliminar en ocho pasos</a:t>
            </a:r>
            <a:endParaRPr lang="en-US" sz="2800" dirty="0"/>
          </a:p>
        </p:txBody>
      </p:sp>
      <p:sp>
        <p:nvSpPr>
          <p:cNvPr id="3" name="Shape 1"/>
          <p:cNvSpPr/>
          <p:nvPr/>
        </p:nvSpPr>
        <p:spPr>
          <a:xfrm>
            <a:off x="548640" y="1463040"/>
            <a:ext cx="2560320" cy="1280160"/>
          </a:xfrm>
          <a:prstGeom prst="roundRect">
            <a:avLst>
              <a:gd name="adj" fmla="val 5714"/>
            </a:avLst>
          </a:prstGeom>
          <a:solidFill>
            <a:srgbClr val="DCEAF4"/>
          </a:solidFill>
          <a:ln w="12700">
            <a:solidFill>
              <a:srgbClr val="1F6F9F"/>
            </a:solidFill>
            <a:prstDash val="solid"/>
          </a:ln>
        </p:spPr>
      </p:sp>
      <p:sp>
        <p:nvSpPr>
          <p:cNvPr id="4" name="Text 2"/>
          <p:cNvSpPr txBox="1"/>
          <p:nvPr/>
        </p:nvSpPr>
        <p:spPr>
          <a:xfrm>
            <a:off x="548640" y="1463040"/>
            <a:ext cx="2560320" cy="1280160"/>
          </a:xfrm>
          <a:prstGeom prst="rect">
            <a:avLst/>
          </a:prstGeom>
          <a:noFill/>
          <a:ln/>
        </p:spPr>
        <p:txBody>
          <a:bodyPr wrap="square" lIns="635" tIns="635" rIns="635" bIns="635" rtlCol="0" anchor="ctr"/>
          <a:lstStyle/>
          <a:p>
            <a:pPr algn="ctr" indent="0" marL="0">
              <a:buNone/>
            </a:pPr>
            <a:r>
              <a:rPr lang="en-US" sz="1500" b="1" dirty="0">
                <a:solidFill>
                  <a:srgbClr val="1B1F24"/>
                </a:solidFill>
              </a:rPr>
              <a:t>1 · Requisitos y supuestos</a:t>
            </a:r>
            <a:endParaRPr lang="en-US" sz="1500" dirty="0"/>
          </a:p>
        </p:txBody>
      </p:sp>
      <p:sp>
        <p:nvSpPr>
          <p:cNvPr id="5" name="Shape 3"/>
          <p:cNvSpPr/>
          <p:nvPr/>
        </p:nvSpPr>
        <p:spPr>
          <a:xfrm>
            <a:off x="3108960" y="2103120"/>
            <a:ext cx="256032" cy="914"/>
          </a:xfrm>
          <a:prstGeom prst="line">
            <a:avLst/>
          </a:prstGeom>
          <a:noFill/>
          <a:ln w="19050">
            <a:solidFill>
              <a:srgbClr val="7A8794"/>
            </a:solidFill>
            <a:prstDash val="solid"/>
            <a:tailEnd type="triangle"/>
          </a:ln>
        </p:spPr>
      </p:sp>
      <p:sp>
        <p:nvSpPr>
          <p:cNvPr id="6" name="Shape 4"/>
          <p:cNvSpPr/>
          <p:nvPr/>
        </p:nvSpPr>
        <p:spPr>
          <a:xfrm>
            <a:off x="3364992" y="1463040"/>
            <a:ext cx="2560320" cy="1280160"/>
          </a:xfrm>
          <a:prstGeom prst="roundRect">
            <a:avLst>
              <a:gd name="adj" fmla="val 5714"/>
            </a:avLst>
          </a:prstGeom>
          <a:solidFill>
            <a:srgbClr val="DCEAF4"/>
          </a:solidFill>
          <a:ln w="12700">
            <a:solidFill>
              <a:srgbClr val="1F6F9F"/>
            </a:solidFill>
            <a:prstDash val="solid"/>
          </a:ln>
        </p:spPr>
      </p:sp>
      <p:sp>
        <p:nvSpPr>
          <p:cNvPr id="7" name="Text 5"/>
          <p:cNvSpPr txBox="1"/>
          <p:nvPr/>
        </p:nvSpPr>
        <p:spPr>
          <a:xfrm>
            <a:off x="3364992" y="1463040"/>
            <a:ext cx="2560320" cy="1280160"/>
          </a:xfrm>
          <a:prstGeom prst="rect">
            <a:avLst/>
          </a:prstGeom>
          <a:noFill/>
          <a:ln/>
        </p:spPr>
        <p:txBody>
          <a:bodyPr wrap="square" lIns="635" tIns="635" rIns="635" bIns="635" rtlCol="0" anchor="ctr"/>
          <a:lstStyle/>
          <a:p>
            <a:pPr algn="ctr" indent="0" marL="0">
              <a:buNone/>
            </a:pPr>
            <a:r>
              <a:rPr lang="en-US" sz="1500" b="1" dirty="0">
                <a:solidFill>
                  <a:srgbClr val="1B1F24"/>
                </a:solidFill>
              </a:rPr>
              <a:t>2 · Clasificar cargas: online, asíncrona, batch</a:t>
            </a:r>
            <a:endParaRPr lang="en-US" sz="1500" dirty="0"/>
          </a:p>
        </p:txBody>
      </p:sp>
      <p:sp>
        <p:nvSpPr>
          <p:cNvPr id="8" name="Shape 6"/>
          <p:cNvSpPr/>
          <p:nvPr/>
        </p:nvSpPr>
        <p:spPr>
          <a:xfrm>
            <a:off x="5925312" y="2103120"/>
            <a:ext cx="256032" cy="914"/>
          </a:xfrm>
          <a:prstGeom prst="line">
            <a:avLst/>
          </a:prstGeom>
          <a:noFill/>
          <a:ln w="19050">
            <a:solidFill>
              <a:srgbClr val="7A8794"/>
            </a:solidFill>
            <a:prstDash val="solid"/>
            <a:tailEnd type="triangle"/>
          </a:ln>
        </p:spPr>
      </p:sp>
      <p:sp>
        <p:nvSpPr>
          <p:cNvPr id="9" name="Shape 7"/>
          <p:cNvSpPr/>
          <p:nvPr/>
        </p:nvSpPr>
        <p:spPr>
          <a:xfrm>
            <a:off x="6181344" y="1463040"/>
            <a:ext cx="2560320" cy="1280160"/>
          </a:xfrm>
          <a:prstGeom prst="roundRect">
            <a:avLst>
              <a:gd name="adj" fmla="val 5714"/>
            </a:avLst>
          </a:prstGeom>
          <a:solidFill>
            <a:srgbClr val="DCEAF4"/>
          </a:solidFill>
          <a:ln w="12700">
            <a:solidFill>
              <a:srgbClr val="1F6F9F"/>
            </a:solidFill>
            <a:prstDash val="solid"/>
          </a:ln>
        </p:spPr>
      </p:sp>
      <p:sp>
        <p:nvSpPr>
          <p:cNvPr id="10" name="Text 8"/>
          <p:cNvSpPr txBox="1"/>
          <p:nvPr/>
        </p:nvSpPr>
        <p:spPr>
          <a:xfrm>
            <a:off x="6181344" y="1463040"/>
            <a:ext cx="2560320" cy="1280160"/>
          </a:xfrm>
          <a:prstGeom prst="rect">
            <a:avLst/>
          </a:prstGeom>
          <a:noFill/>
          <a:ln/>
        </p:spPr>
        <p:txBody>
          <a:bodyPr wrap="square" lIns="635" tIns="635" rIns="635" bIns="635" rtlCol="0" anchor="ctr"/>
          <a:lstStyle/>
          <a:p>
            <a:pPr algn="ctr" indent="0" marL="0">
              <a:buNone/>
            </a:pPr>
            <a:r>
              <a:rPr lang="en-US" sz="1500" b="1" dirty="0">
                <a:solidFill>
                  <a:srgbClr val="1B1F24"/>
                </a:solidFill>
              </a:rPr>
              <a:t>3 · SLO, RTO y RPO por carga</a:t>
            </a:r>
            <a:endParaRPr lang="en-US" sz="1500" dirty="0"/>
          </a:p>
        </p:txBody>
      </p:sp>
      <p:sp>
        <p:nvSpPr>
          <p:cNvPr id="11" name="Shape 9"/>
          <p:cNvSpPr/>
          <p:nvPr/>
        </p:nvSpPr>
        <p:spPr>
          <a:xfrm>
            <a:off x="8741664" y="2103120"/>
            <a:ext cx="256032" cy="914"/>
          </a:xfrm>
          <a:prstGeom prst="line">
            <a:avLst/>
          </a:prstGeom>
          <a:noFill/>
          <a:ln w="19050">
            <a:solidFill>
              <a:srgbClr val="7A8794"/>
            </a:solidFill>
            <a:prstDash val="solid"/>
            <a:tailEnd type="triangle"/>
          </a:ln>
        </p:spPr>
      </p:sp>
      <p:sp>
        <p:nvSpPr>
          <p:cNvPr id="12" name="Shape 10"/>
          <p:cNvSpPr/>
          <p:nvPr/>
        </p:nvSpPr>
        <p:spPr>
          <a:xfrm>
            <a:off x="8997696" y="1463040"/>
            <a:ext cx="2560320" cy="1280160"/>
          </a:xfrm>
          <a:prstGeom prst="roundRect">
            <a:avLst>
              <a:gd name="adj" fmla="val 5714"/>
            </a:avLst>
          </a:prstGeom>
          <a:solidFill>
            <a:srgbClr val="DCEAF4"/>
          </a:solidFill>
          <a:ln w="12700">
            <a:solidFill>
              <a:srgbClr val="1F6F9F"/>
            </a:solidFill>
            <a:prstDash val="solid"/>
          </a:ln>
        </p:spPr>
      </p:sp>
      <p:sp>
        <p:nvSpPr>
          <p:cNvPr id="13" name="Text 11"/>
          <p:cNvSpPr txBox="1"/>
          <p:nvPr/>
        </p:nvSpPr>
        <p:spPr>
          <a:xfrm>
            <a:off x="8997696" y="1463040"/>
            <a:ext cx="2560320" cy="1280160"/>
          </a:xfrm>
          <a:prstGeom prst="rect">
            <a:avLst/>
          </a:prstGeom>
          <a:noFill/>
          <a:ln/>
        </p:spPr>
        <p:txBody>
          <a:bodyPr wrap="square" lIns="635" tIns="635" rIns="635" bIns="635" rtlCol="0" anchor="ctr"/>
          <a:lstStyle/>
          <a:p>
            <a:pPr algn="ctr" indent="0" marL="0">
              <a:buNone/>
            </a:pPr>
            <a:r>
              <a:rPr lang="en-US" sz="1500" b="1" dirty="0">
                <a:solidFill>
                  <a:srgbClr val="1B1F24"/>
                </a:solidFill>
              </a:rPr>
              <a:t>4 · Datos: clasificación y residencia</a:t>
            </a:r>
            <a:endParaRPr lang="en-US" sz="1500" dirty="0"/>
          </a:p>
        </p:txBody>
      </p:sp>
      <p:sp>
        <p:nvSpPr>
          <p:cNvPr id="14" name="Shape 12"/>
          <p:cNvSpPr/>
          <p:nvPr/>
        </p:nvSpPr>
        <p:spPr>
          <a:xfrm>
            <a:off x="548640" y="3200400"/>
            <a:ext cx="2560320" cy="1280160"/>
          </a:xfrm>
          <a:prstGeom prst="roundRect">
            <a:avLst>
              <a:gd name="adj" fmla="val 5714"/>
            </a:avLst>
          </a:prstGeom>
          <a:solidFill>
            <a:srgbClr val="E3F2EF"/>
          </a:solidFill>
          <a:ln w="12700">
            <a:solidFill>
              <a:srgbClr val="1F6F9F"/>
            </a:solidFill>
            <a:prstDash val="solid"/>
          </a:ln>
        </p:spPr>
      </p:sp>
      <p:sp>
        <p:nvSpPr>
          <p:cNvPr id="15" name="Text 13"/>
          <p:cNvSpPr txBox="1"/>
          <p:nvPr/>
        </p:nvSpPr>
        <p:spPr>
          <a:xfrm>
            <a:off x="548640" y="3200400"/>
            <a:ext cx="2560320" cy="1280160"/>
          </a:xfrm>
          <a:prstGeom prst="rect">
            <a:avLst/>
          </a:prstGeom>
          <a:noFill/>
          <a:ln/>
        </p:spPr>
        <p:txBody>
          <a:bodyPr wrap="square" lIns="635" tIns="635" rIns="635" bIns="635" rtlCol="0" anchor="ctr"/>
          <a:lstStyle/>
          <a:p>
            <a:pPr algn="ctr" indent="0" marL="0">
              <a:buNone/>
            </a:pPr>
            <a:r>
              <a:rPr lang="en-US" sz="1500" b="1" dirty="0">
                <a:solidFill>
                  <a:srgbClr val="1B1F24"/>
                </a:solidFill>
              </a:rPr>
              <a:t>5 · Topología: zonas, regiones, estrategia</a:t>
            </a:r>
            <a:endParaRPr lang="en-US" sz="1500" dirty="0"/>
          </a:p>
        </p:txBody>
      </p:sp>
      <p:sp>
        <p:nvSpPr>
          <p:cNvPr id="16" name="Shape 14"/>
          <p:cNvSpPr/>
          <p:nvPr/>
        </p:nvSpPr>
        <p:spPr>
          <a:xfrm>
            <a:off x="3108960" y="3840480"/>
            <a:ext cx="256032" cy="914"/>
          </a:xfrm>
          <a:prstGeom prst="line">
            <a:avLst/>
          </a:prstGeom>
          <a:noFill/>
          <a:ln w="19050">
            <a:solidFill>
              <a:srgbClr val="7A8794"/>
            </a:solidFill>
            <a:prstDash val="solid"/>
            <a:tailEnd type="triangle"/>
          </a:ln>
        </p:spPr>
      </p:sp>
      <p:sp>
        <p:nvSpPr>
          <p:cNvPr id="17" name="Shape 15"/>
          <p:cNvSpPr/>
          <p:nvPr/>
        </p:nvSpPr>
        <p:spPr>
          <a:xfrm>
            <a:off x="3364992" y="3200400"/>
            <a:ext cx="2560320" cy="1280160"/>
          </a:xfrm>
          <a:prstGeom prst="roundRect">
            <a:avLst>
              <a:gd name="adj" fmla="val 5714"/>
            </a:avLst>
          </a:prstGeom>
          <a:solidFill>
            <a:srgbClr val="E3F2EF"/>
          </a:solidFill>
          <a:ln w="12700">
            <a:solidFill>
              <a:srgbClr val="1F6F9F"/>
            </a:solidFill>
            <a:prstDash val="solid"/>
          </a:ln>
        </p:spPr>
      </p:sp>
      <p:sp>
        <p:nvSpPr>
          <p:cNvPr id="18" name="Text 16"/>
          <p:cNvSpPr txBox="1"/>
          <p:nvPr/>
        </p:nvSpPr>
        <p:spPr>
          <a:xfrm>
            <a:off x="3364992" y="3200400"/>
            <a:ext cx="2560320" cy="1280160"/>
          </a:xfrm>
          <a:prstGeom prst="rect">
            <a:avLst/>
          </a:prstGeom>
          <a:noFill/>
          <a:ln/>
        </p:spPr>
        <p:txBody>
          <a:bodyPr wrap="square" lIns="635" tIns="635" rIns="635" bIns="635" rtlCol="0" anchor="ctr"/>
          <a:lstStyle/>
          <a:p>
            <a:pPr algn="ctr" indent="0" marL="0">
              <a:buNone/>
            </a:pPr>
            <a:r>
              <a:rPr lang="en-US" sz="1500" b="1" dirty="0">
                <a:solidFill>
                  <a:srgbClr val="1B1F24"/>
                </a:solidFill>
              </a:rPr>
              <a:t>6 · Servicios y modalidades por nube</a:t>
            </a:r>
            <a:endParaRPr lang="en-US" sz="1500" dirty="0"/>
          </a:p>
        </p:txBody>
      </p:sp>
      <p:sp>
        <p:nvSpPr>
          <p:cNvPr id="19" name="Shape 17"/>
          <p:cNvSpPr/>
          <p:nvPr/>
        </p:nvSpPr>
        <p:spPr>
          <a:xfrm>
            <a:off x="5925312" y="3840480"/>
            <a:ext cx="256032" cy="914"/>
          </a:xfrm>
          <a:prstGeom prst="line">
            <a:avLst/>
          </a:prstGeom>
          <a:noFill/>
          <a:ln w="19050">
            <a:solidFill>
              <a:srgbClr val="7A8794"/>
            </a:solidFill>
            <a:prstDash val="solid"/>
            <a:tailEnd type="triangle"/>
          </a:ln>
        </p:spPr>
      </p:sp>
      <p:sp>
        <p:nvSpPr>
          <p:cNvPr id="20" name="Shape 18"/>
          <p:cNvSpPr/>
          <p:nvPr/>
        </p:nvSpPr>
        <p:spPr>
          <a:xfrm>
            <a:off x="6181344" y="3200400"/>
            <a:ext cx="2560320" cy="1280160"/>
          </a:xfrm>
          <a:prstGeom prst="roundRect">
            <a:avLst>
              <a:gd name="adj" fmla="val 5714"/>
            </a:avLst>
          </a:prstGeom>
          <a:solidFill>
            <a:srgbClr val="E3F2EF"/>
          </a:solidFill>
          <a:ln w="12700">
            <a:solidFill>
              <a:srgbClr val="1F6F9F"/>
            </a:solidFill>
            <a:prstDash val="solid"/>
          </a:ln>
        </p:spPr>
      </p:sp>
      <p:sp>
        <p:nvSpPr>
          <p:cNvPr id="21" name="Text 19"/>
          <p:cNvSpPr txBox="1"/>
          <p:nvPr/>
        </p:nvSpPr>
        <p:spPr>
          <a:xfrm>
            <a:off x="6181344" y="3200400"/>
            <a:ext cx="2560320" cy="1280160"/>
          </a:xfrm>
          <a:prstGeom prst="rect">
            <a:avLst/>
          </a:prstGeom>
          <a:noFill/>
          <a:ln/>
        </p:spPr>
        <p:txBody>
          <a:bodyPr wrap="square" lIns="635" tIns="635" rIns="635" bIns="635" rtlCol="0" anchor="ctr"/>
          <a:lstStyle/>
          <a:p>
            <a:pPr algn="ctr" indent="0" marL="0">
              <a:buNone/>
            </a:pPr>
            <a:r>
              <a:rPr lang="en-US" sz="1500" b="1" dirty="0">
                <a:solidFill>
                  <a:srgbClr val="1B1F24"/>
                </a:solidFill>
              </a:rPr>
              <a:t>7 · Riesgos y controles</a:t>
            </a:r>
            <a:endParaRPr lang="en-US" sz="1500" dirty="0"/>
          </a:p>
        </p:txBody>
      </p:sp>
      <p:sp>
        <p:nvSpPr>
          <p:cNvPr id="22" name="Shape 20"/>
          <p:cNvSpPr/>
          <p:nvPr/>
        </p:nvSpPr>
        <p:spPr>
          <a:xfrm>
            <a:off x="8741664" y="3840480"/>
            <a:ext cx="256032" cy="914"/>
          </a:xfrm>
          <a:prstGeom prst="line">
            <a:avLst/>
          </a:prstGeom>
          <a:noFill/>
          <a:ln w="19050">
            <a:solidFill>
              <a:srgbClr val="7A8794"/>
            </a:solidFill>
            <a:prstDash val="solid"/>
            <a:tailEnd type="triangle"/>
          </a:ln>
        </p:spPr>
      </p:sp>
      <p:sp>
        <p:nvSpPr>
          <p:cNvPr id="23" name="Shape 21"/>
          <p:cNvSpPr/>
          <p:nvPr/>
        </p:nvSpPr>
        <p:spPr>
          <a:xfrm>
            <a:off x="8997696" y="3200400"/>
            <a:ext cx="2560320" cy="1280160"/>
          </a:xfrm>
          <a:prstGeom prst="roundRect">
            <a:avLst>
              <a:gd name="adj" fmla="val 5714"/>
            </a:avLst>
          </a:prstGeom>
          <a:solidFill>
            <a:srgbClr val="E3F2EF"/>
          </a:solidFill>
          <a:ln w="12700">
            <a:solidFill>
              <a:srgbClr val="1F6F9F"/>
            </a:solidFill>
            <a:prstDash val="solid"/>
          </a:ln>
        </p:spPr>
      </p:sp>
      <p:sp>
        <p:nvSpPr>
          <p:cNvPr id="24" name="Text 22"/>
          <p:cNvSpPr txBox="1"/>
          <p:nvPr/>
        </p:nvSpPr>
        <p:spPr>
          <a:xfrm>
            <a:off x="8997696" y="3200400"/>
            <a:ext cx="2560320" cy="1280160"/>
          </a:xfrm>
          <a:prstGeom prst="rect">
            <a:avLst/>
          </a:prstGeom>
          <a:noFill/>
          <a:ln/>
        </p:spPr>
        <p:txBody>
          <a:bodyPr wrap="square" lIns="635" tIns="635" rIns="635" bIns="635" rtlCol="0" anchor="ctr"/>
          <a:lstStyle/>
          <a:p>
            <a:pPr algn="ctr" indent="0" marL="0">
              <a:buNone/>
            </a:pPr>
            <a:r>
              <a:rPr lang="en-US" sz="1500" b="1" dirty="0">
                <a:solidFill>
                  <a:srgbClr val="1B1F24"/>
                </a:solidFill>
              </a:rPr>
              <a:t>8 · Costo estimado y ADR</a:t>
            </a:r>
            <a:endParaRPr lang="en-US" sz="1500" dirty="0"/>
          </a:p>
        </p:txBody>
      </p:sp>
      <p:sp>
        <p:nvSpPr>
          <p:cNvPr id="25" name="Shape 23"/>
          <p:cNvSpPr/>
          <p:nvPr/>
        </p:nvSpPr>
        <p:spPr>
          <a:xfrm>
            <a:off x="10607040" y="2743200"/>
            <a:ext cx="914" cy="457200"/>
          </a:xfrm>
          <a:prstGeom prst="line">
            <a:avLst/>
          </a:prstGeom>
          <a:noFill/>
          <a:ln w="19050">
            <a:solidFill>
              <a:srgbClr val="7A8794"/>
            </a:solidFill>
            <a:prstDash val="solid"/>
            <a:tailEnd type="triangle"/>
          </a:ln>
        </p:spPr>
      </p:sp>
      <p:sp>
        <p:nvSpPr>
          <p:cNvPr id="26" name="Text 24"/>
          <p:cNvSpPr txBox="1"/>
          <p:nvPr/>
        </p:nvSpPr>
        <p:spPr>
          <a:xfrm>
            <a:off x="548640" y="4937760"/>
            <a:ext cx="11064240" cy="640080"/>
          </a:xfrm>
          <a:prstGeom prst="rect">
            <a:avLst/>
          </a:prstGeom>
          <a:noFill/>
          <a:ln/>
        </p:spPr>
        <p:txBody>
          <a:bodyPr wrap="square" lIns="0" tIns="0" rIns="0" bIns="0" rtlCol="0" anchor="ctr"/>
          <a:lstStyle/>
          <a:p>
            <a:pPr algn="l" indent="0" marL="0">
              <a:buNone/>
            </a:pPr>
            <a:r>
              <a:rPr lang="en-US" sz="1500" i="1" dirty="0">
                <a:solidFill>
                  <a:srgbClr val="13324B"/>
                </a:solidFill>
              </a:rPr>
              <a:t>Un diseño preliminar no busca precisión: busca hacer explícitos los supuestos, las decisiones y sus trade-offs para poder validarlos.</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Tres casos empresariales (elija uno por equipo)</a:t>
            </a:r>
            <a:endParaRPr lang="en-US" sz="2800" dirty="0"/>
          </a:p>
        </p:txBody>
      </p:sp>
      <p:sp>
        <p:nvSpPr>
          <p:cNvPr id="3" name="Shape 1"/>
          <p:cNvSpPr/>
          <p:nvPr/>
        </p:nvSpPr>
        <p:spPr>
          <a:xfrm>
            <a:off x="548640" y="1325880"/>
            <a:ext cx="2377440" cy="1234440"/>
          </a:xfrm>
          <a:prstGeom prst="roundRect">
            <a:avLst>
              <a:gd name="adj" fmla="val 5926"/>
            </a:avLst>
          </a:prstGeom>
          <a:solidFill>
            <a:srgbClr val="DCEAF4"/>
          </a:solidFill>
          <a:ln w="12700">
            <a:solidFill>
              <a:srgbClr val="1F6F9F"/>
            </a:solidFill>
            <a:prstDash val="solid"/>
          </a:ln>
        </p:spPr>
      </p:sp>
      <p:sp>
        <p:nvSpPr>
          <p:cNvPr id="4" name="Text 2"/>
          <p:cNvSpPr txBox="1"/>
          <p:nvPr/>
        </p:nvSpPr>
        <p:spPr>
          <a:xfrm>
            <a:off x="548640" y="1325880"/>
            <a:ext cx="2377440" cy="1234440"/>
          </a:xfrm>
          <a:prstGeom prst="rect">
            <a:avLst/>
          </a:prstGeom>
          <a:noFill/>
          <a:ln/>
        </p:spPr>
        <p:txBody>
          <a:bodyPr wrap="square" lIns="635" tIns="635" rIns="635" bIns="635" rtlCol="0" anchor="ctr"/>
          <a:lstStyle/>
          <a:p>
            <a:pPr algn="ctr" indent="0" marL="0">
              <a:buNone/>
            </a:pPr>
            <a:r>
              <a:rPr lang="en-US" sz="1600" b="1" dirty="0">
                <a:solidFill>
                  <a:srgbClr val="1B1F24"/>
                </a:solidFill>
              </a:rPr>
              <a:t>A · Universidad</a:t>
            </a:r>
            <a:endParaRPr lang="en-US" sz="1600" dirty="0"/>
          </a:p>
        </p:txBody>
      </p:sp>
      <p:sp>
        <p:nvSpPr>
          <p:cNvPr id="5" name="Text 3"/>
          <p:cNvSpPr txBox="1"/>
          <p:nvPr/>
        </p:nvSpPr>
        <p:spPr>
          <a:xfrm>
            <a:off x="3108960" y="1325880"/>
            <a:ext cx="8503920" cy="1234440"/>
          </a:xfrm>
          <a:prstGeom prst="rect">
            <a:avLst/>
          </a:prstGeom>
          <a:noFill/>
          <a:ln/>
        </p:spPr>
        <p:txBody>
          <a:bodyPr wrap="square" lIns="0" tIns="0" rIns="0" bIns="0" rtlCol="0" anchor="ctr"/>
          <a:lstStyle/>
          <a:p>
            <a:pPr algn="l" indent="0" marL="0">
              <a:buNone/>
            </a:pPr>
            <a:r>
              <a:rPr lang="en-US" sz="1400" dirty="0">
                <a:solidFill>
                  <a:srgbClr val="1B1F24"/>
                </a:solidFill>
              </a:rPr>
              <a:t>Asistente 24/7 para 5.000 estudiantes con picos en matrículas; 20.000 PQRS al mes clasificadas cada noche; reindexación semanal. Requisito: operar si cae una región; datos personales.</a:t>
            </a:r>
            <a:endParaRPr lang="en-US" sz="1400" dirty="0"/>
          </a:p>
        </p:txBody>
      </p:sp>
      <p:sp>
        <p:nvSpPr>
          <p:cNvPr id="6" name="Shape 4"/>
          <p:cNvSpPr/>
          <p:nvPr/>
        </p:nvSpPr>
        <p:spPr>
          <a:xfrm>
            <a:off x="548640" y="2788920"/>
            <a:ext cx="2377440" cy="1234440"/>
          </a:xfrm>
          <a:prstGeom prst="roundRect">
            <a:avLst>
              <a:gd name="adj" fmla="val 5926"/>
            </a:avLst>
          </a:prstGeom>
          <a:solidFill>
            <a:srgbClr val="E3F2EF"/>
          </a:solidFill>
          <a:ln w="12700">
            <a:solidFill>
              <a:srgbClr val="1F6F9F"/>
            </a:solidFill>
            <a:prstDash val="solid"/>
          </a:ln>
        </p:spPr>
      </p:sp>
      <p:sp>
        <p:nvSpPr>
          <p:cNvPr id="7" name="Text 5"/>
          <p:cNvSpPr txBox="1"/>
          <p:nvPr/>
        </p:nvSpPr>
        <p:spPr>
          <a:xfrm>
            <a:off x="548640" y="2788920"/>
            <a:ext cx="2377440" cy="1234440"/>
          </a:xfrm>
          <a:prstGeom prst="rect">
            <a:avLst/>
          </a:prstGeom>
          <a:noFill/>
          <a:ln/>
        </p:spPr>
        <p:txBody>
          <a:bodyPr wrap="square" lIns="635" tIns="635" rIns="635" bIns="635" rtlCol="0" anchor="ctr"/>
          <a:lstStyle/>
          <a:p>
            <a:pPr algn="ctr" indent="0" marL="0">
              <a:buNone/>
            </a:pPr>
            <a:r>
              <a:rPr lang="en-US" sz="1600" b="1" dirty="0">
                <a:solidFill>
                  <a:srgbClr val="1B1F24"/>
                </a:solidFill>
              </a:rPr>
              <a:t>B · Retail regional</a:t>
            </a:r>
            <a:endParaRPr lang="en-US" sz="1600" dirty="0"/>
          </a:p>
        </p:txBody>
      </p:sp>
      <p:sp>
        <p:nvSpPr>
          <p:cNvPr id="8" name="Text 6"/>
          <p:cNvSpPr txBox="1"/>
          <p:nvPr/>
        </p:nvSpPr>
        <p:spPr>
          <a:xfrm>
            <a:off x="3108960" y="2788920"/>
            <a:ext cx="8503920" cy="1234440"/>
          </a:xfrm>
          <a:prstGeom prst="rect">
            <a:avLst/>
          </a:prstGeom>
          <a:noFill/>
          <a:ln/>
        </p:spPr>
        <p:txBody>
          <a:bodyPr wrap="square" lIns="0" tIns="0" rIns="0" bIns="0" rtlCol="0" anchor="ctr"/>
          <a:lstStyle/>
          <a:p>
            <a:pPr algn="l" indent="0" marL="0">
              <a:buNone/>
            </a:pPr>
            <a:r>
              <a:rPr lang="en-US" sz="1400" dirty="0">
                <a:solidFill>
                  <a:srgbClr val="1B1F24"/>
                </a:solidFill>
              </a:rPr>
              <a:t>Chat de soporte en 4 países de Latinoamérica con 2.000 conversaciones concurrentes en temporada alta; generación nocturna de 50.000 descripciones de productos. Requisito: p95 &lt; 3 s en el chat; presupuesto ajustado.</a:t>
            </a:r>
            <a:endParaRPr lang="en-US" sz="1400" dirty="0"/>
          </a:p>
        </p:txBody>
      </p:sp>
      <p:sp>
        <p:nvSpPr>
          <p:cNvPr id="9" name="Shape 7"/>
          <p:cNvSpPr/>
          <p:nvPr/>
        </p:nvSpPr>
        <p:spPr>
          <a:xfrm>
            <a:off x="548640" y="4251960"/>
            <a:ext cx="2377440" cy="1234440"/>
          </a:xfrm>
          <a:prstGeom prst="roundRect">
            <a:avLst>
              <a:gd name="adj" fmla="val 5926"/>
            </a:avLst>
          </a:prstGeom>
          <a:solidFill>
            <a:srgbClr val="FBEFD9"/>
          </a:solidFill>
          <a:ln w="12700">
            <a:solidFill>
              <a:srgbClr val="1F6F9F"/>
            </a:solidFill>
            <a:prstDash val="solid"/>
          </a:ln>
        </p:spPr>
      </p:sp>
      <p:sp>
        <p:nvSpPr>
          <p:cNvPr id="10" name="Text 8"/>
          <p:cNvSpPr txBox="1"/>
          <p:nvPr/>
        </p:nvSpPr>
        <p:spPr>
          <a:xfrm>
            <a:off x="548640" y="4251960"/>
            <a:ext cx="2377440" cy="1234440"/>
          </a:xfrm>
          <a:prstGeom prst="rect">
            <a:avLst/>
          </a:prstGeom>
          <a:noFill/>
          <a:ln/>
        </p:spPr>
        <p:txBody>
          <a:bodyPr wrap="square" lIns="635" tIns="635" rIns="635" bIns="635" rtlCol="0" anchor="ctr"/>
          <a:lstStyle/>
          <a:p>
            <a:pPr algn="ctr" indent="0" marL="0">
              <a:buNone/>
            </a:pPr>
            <a:r>
              <a:rPr lang="en-US" sz="1600" b="1" dirty="0">
                <a:solidFill>
                  <a:srgbClr val="1B1F24"/>
                </a:solidFill>
              </a:rPr>
              <a:t>C · Entidad financiera</a:t>
            </a:r>
            <a:endParaRPr lang="en-US" sz="1600" dirty="0"/>
          </a:p>
        </p:txBody>
      </p:sp>
      <p:sp>
        <p:nvSpPr>
          <p:cNvPr id="11" name="Text 9"/>
          <p:cNvSpPr txBox="1"/>
          <p:nvPr/>
        </p:nvSpPr>
        <p:spPr>
          <a:xfrm>
            <a:off x="3108960" y="4251960"/>
            <a:ext cx="8503920" cy="1234440"/>
          </a:xfrm>
          <a:prstGeom prst="rect">
            <a:avLst/>
          </a:prstGeom>
          <a:noFill/>
          <a:ln/>
        </p:spPr>
        <p:txBody>
          <a:bodyPr wrap="square" lIns="0" tIns="0" rIns="0" bIns="0" rtlCol="0" anchor="ctr"/>
          <a:lstStyle/>
          <a:p>
            <a:pPr algn="l" indent="0" marL="0">
              <a:buNone/>
            </a:pPr>
            <a:r>
              <a:rPr lang="en-US" sz="1400" dirty="0">
                <a:solidFill>
                  <a:srgbClr val="1B1F24"/>
                </a:solidFill>
              </a:rPr>
              <a:t>Análisis de solicitudes de crédito (documentos de 30 páginas) con respuesta en menos de 10 minutos; auditoría completa. Requisitos: inferencia solo en el país o la zona de datos; RTO 1 h; RPO 0 para las decisiones.</a:t>
            </a:r>
            <a:endParaRPr lang="en-US" sz="1400" dirty="0"/>
          </a:p>
        </p:txBody>
      </p:sp>
      <p:sp>
        <p:nvSpPr>
          <p:cNvPr id="12" name="Text 10"/>
          <p:cNvSpPr txBox="1"/>
          <p:nvPr/>
        </p:nvSpPr>
        <p:spPr>
          <a:xfrm>
            <a:off x="548640" y="5760720"/>
            <a:ext cx="11064240" cy="411480"/>
          </a:xfrm>
          <a:prstGeom prst="rect">
            <a:avLst/>
          </a:prstGeom>
          <a:noFill/>
          <a:ln/>
        </p:spPr>
        <p:txBody>
          <a:bodyPr wrap="square" lIns="0" tIns="0" rIns="0" bIns="0" rtlCol="0" anchor="ctr"/>
          <a:lstStyle/>
          <a:p>
            <a:pPr algn="l" indent="0" marL="0">
              <a:buNone/>
            </a:pPr>
            <a:r>
              <a:rPr lang="en-US" sz="1200" i="1" dirty="0">
                <a:solidFill>
                  <a:srgbClr val="7A8794"/>
                </a:solidFill>
              </a:rPr>
              <a:t>Las cifras son supuestos del ejercicio. Si falta un dato, regístrelo como supuesto y continúe.</a:t>
            </a:r>
            <a:endParaRPr lang="en-US" sz="12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Plantilla del diseño preliminar</a:t>
            </a:r>
            <a:endParaRPr lang="en-US" sz="28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743200"/>
                <a:gridCol w="8321040"/>
              </a:tblGrid>
              <a:tr h="0">
                <a:tc>
                  <a:txBody>
                    <a:bodyPr/>
                    <a:lstStyle/>
                    <a:p>
                      <a:pPr indent="0" marL="0">
                        <a:buNone/>
                      </a:pPr>
                      <a:r>
                        <a:rPr lang="en-US" sz="1300" b="1" dirty="0">
                          <a:solidFill>
                            <a:srgbClr val="FFFFFF"/>
                          </a:solidFill>
                        </a:rPr>
                        <a:t>Sección</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Qué entregar</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300" dirty="0">
                          <a:solidFill>
                            <a:srgbClr val="1B1F24"/>
                          </a:solidFill>
                        </a:rPr>
                        <a:t>Cargas de trabajo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Lista de cargas con su patrón (online, asíncrona, batch) y su SLO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Objetivos de continuidad</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Disponibilidad, RTO y RPO por carga, con la justificación</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24"/>
                          </a:solidFill>
                        </a:rPr>
                        <a:t>Datos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Clasificación y restricciones de residencia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Topología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Diagrama: regiones, zonas, enrutamiento global, gateway, datos replicados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24"/>
                          </a:solidFill>
                        </a:rPr>
                        <a:t>Servicios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Servicio, tipo de despliegue o endpoint y modalidad de consumo, en una nube principal</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Resiliencia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Patrones aplicados: timeouts, reintentos, circuit breaker, degradación</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24"/>
                          </a:solidFill>
                        </a:rPr>
                        <a:t>Riesgos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Tres riesgos principales con su control (incluido al menos uno de OWASP LLM)</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Costo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Estimación por modalidad con supuestos explícitos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24"/>
                          </a:solidFill>
                        </a:rPr>
                        <a:t>ADR</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Una decisión con contexto, alternativas y consecuencias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Rúbrica y preguntas guía</a:t>
            </a:r>
            <a:endParaRPr lang="en-US" sz="28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5669280" cy="914400"/>
        </p:xfrm>
        <a:graphic>
          <a:graphicData uri="http://schemas.openxmlformats.org/drawingml/2006/table">
            <a:tbl>
              <a:tblPr/>
              <a:tblGrid>
                <a:gridCol w="4480560"/>
                <a:gridCol w="1188720"/>
              </a:tblGrid>
              <a:tr h="0">
                <a:tc>
                  <a:txBody>
                    <a:bodyPr/>
                    <a:lstStyle/>
                    <a:p>
                      <a:pPr indent="0" marL="0">
                        <a:buNone/>
                      </a:pPr>
                      <a:r>
                        <a:rPr lang="en-US" sz="1400" b="1" dirty="0">
                          <a:solidFill>
                            <a:srgbClr val="FFFFFF"/>
                          </a:solidFill>
                        </a:rPr>
                        <a:t>Criterio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Peso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400" dirty="0">
                          <a:solidFill>
                            <a:srgbClr val="1B1F24"/>
                          </a:solidFill>
                        </a:rPr>
                        <a:t>Clasificación de cargas y SLO coherentes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20 %</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400" dirty="0">
                          <a:solidFill>
                            <a:srgbClr val="1B1F24"/>
                          </a:solidFill>
                        </a:rPr>
                        <a:t>Topología justificada con RTO, RPO y dominios de falla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25 %</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1F24"/>
                          </a:solidFill>
                        </a:rPr>
                        <a:t>Selección de servicios y modalidades con criterios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20 %</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400" dirty="0">
                          <a:solidFill>
                            <a:srgbClr val="1B1F24"/>
                          </a:solidFill>
                        </a:rPr>
                        <a:t>Residencia, seguridad y riesgos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15 %</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1F24"/>
                          </a:solidFill>
                        </a:rPr>
                        <a:t>Costo con supuestos explícitos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10 %</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400" dirty="0">
                          <a:solidFill>
                            <a:srgbClr val="1B1F24"/>
                          </a:solidFill>
                        </a:rPr>
                        <a:t>ADR claro y defendible</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10 %</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6492240" y="1371600"/>
            <a:ext cx="5120640" cy="420624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¿Qué carga sobrevive a la caída de una región y cuál no? ¿Es aceptable?</a:t>
            </a:r>
            <a:endParaRPr lang="en-US" sz="1500" dirty="0"/>
          </a:p>
          <a:p>
            <a:pPr marL="342900" indent="-342900">
              <a:spcAft>
                <a:spcPts val="600"/>
              </a:spcAft>
              <a:buSzPct val="100000"/>
              <a:buChar char="•"/>
            </a:pPr>
            <a:r>
              <a:rPr lang="en-US" sz="1500" dirty="0">
                <a:solidFill>
                  <a:schemeClr val="tx1"/>
                </a:solidFill>
              </a:rPr>
              <a:t>¿Quién conmuta: el proveedor, el gateway o el cliente?</a:t>
            </a:r>
            <a:endParaRPr lang="en-US" sz="1500" dirty="0"/>
          </a:p>
          <a:p>
            <a:pPr marL="342900" indent="-342900">
              <a:spcAft>
                <a:spcPts val="600"/>
              </a:spcAft>
              <a:buSzPct val="100000"/>
              <a:buChar char="•"/>
            </a:pPr>
            <a:r>
              <a:rPr lang="en-US" sz="1500" dirty="0">
                <a:solidFill>
                  <a:schemeClr val="tx1"/>
                </a:solidFill>
              </a:rPr>
              <a:t>¿Qué componente global quedó en serie?</a:t>
            </a:r>
            <a:endParaRPr lang="en-US" sz="1500" dirty="0"/>
          </a:p>
          <a:p>
            <a:pPr marL="342900" indent="-342900">
              <a:spcAft>
                <a:spcPts val="600"/>
              </a:spcAft>
              <a:buSzPct val="100000"/>
              <a:buChar char="•"/>
            </a:pPr>
            <a:r>
              <a:rPr lang="en-US" sz="1500" dirty="0">
                <a:solidFill>
                  <a:schemeClr val="tx1"/>
                </a:solidFill>
              </a:rPr>
              <a:t>¿Dónde se procesa cada dato personal?</a:t>
            </a:r>
            <a:endParaRPr lang="en-US" sz="1500" dirty="0"/>
          </a:p>
          <a:p>
            <a:pPr marL="342900" indent="-342900">
              <a:spcAft>
                <a:spcPts val="600"/>
              </a:spcAft>
              <a:buSzPct val="100000"/>
              <a:buChar char="•"/>
            </a:pPr>
            <a:r>
              <a:rPr lang="en-US" sz="1500" dirty="0">
                <a:solidFill>
                  <a:schemeClr val="tx1"/>
                </a:solidFill>
              </a:rPr>
              <a:t>¿Qué pagaría aunque no hubiera tráfico?</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Síntesis: seis ideas de la sesión</a:t>
            </a:r>
            <a:endParaRPr lang="en-US" sz="2800" dirty="0"/>
          </a:p>
        </p:txBody>
      </p:sp>
      <p:sp>
        <p:nvSpPr>
          <p:cNvPr id="3" name="Shape 1"/>
          <p:cNvSpPr/>
          <p:nvPr/>
        </p:nvSpPr>
        <p:spPr>
          <a:xfrm>
            <a:off x="548640" y="1508760"/>
            <a:ext cx="731520" cy="731520"/>
          </a:xfrm>
          <a:prstGeom prst="ellipse">
            <a:avLst/>
          </a:prstGeom>
          <a:solidFill>
            <a:srgbClr val="1F6F9F"/>
          </a:solidFill>
          <a:ln w="12700">
            <a:solidFill>
              <a:srgbClr val="1F6F9F"/>
            </a:solidFill>
            <a:prstDash val="solid"/>
          </a:ln>
        </p:spPr>
      </p:sp>
      <p:sp>
        <p:nvSpPr>
          <p:cNvPr id="4" name="Text 2"/>
          <p:cNvSpPr txBox="1"/>
          <p:nvPr/>
        </p:nvSpPr>
        <p:spPr>
          <a:xfrm>
            <a:off x="548640" y="150876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5" name="Text 3"/>
          <p:cNvSpPr txBox="1"/>
          <p:nvPr/>
        </p:nvSpPr>
        <p:spPr>
          <a:xfrm>
            <a:off x="1463040" y="1325880"/>
            <a:ext cx="4480560" cy="1097280"/>
          </a:xfrm>
          <a:prstGeom prst="rect">
            <a:avLst/>
          </a:prstGeom>
          <a:noFill/>
          <a:ln/>
        </p:spPr>
        <p:txBody>
          <a:bodyPr wrap="square" lIns="0" tIns="0" rIns="0" bIns="0" rtlCol="0" anchor="ctr"/>
          <a:lstStyle/>
          <a:p>
            <a:pPr algn="l" indent="0" marL="0">
              <a:buNone/>
            </a:pPr>
            <a:r>
              <a:rPr lang="en-US" sz="1500" dirty="0">
                <a:solidFill>
                  <a:srgbClr val="1B1F24"/>
                </a:solidFill>
              </a:rPr>
              <a:t>El SLO define la carga: latencia para lo online, plazo y costo por ítem para el lote</a:t>
            </a:r>
            <a:endParaRPr lang="en-US" sz="1500" dirty="0"/>
          </a:p>
        </p:txBody>
      </p:sp>
      <p:sp>
        <p:nvSpPr>
          <p:cNvPr id="6" name="Shape 4"/>
          <p:cNvSpPr/>
          <p:nvPr/>
        </p:nvSpPr>
        <p:spPr>
          <a:xfrm>
            <a:off x="6172200" y="1508760"/>
            <a:ext cx="731520" cy="731520"/>
          </a:xfrm>
          <a:prstGeom prst="ellipse">
            <a:avLst/>
          </a:prstGeom>
          <a:solidFill>
            <a:srgbClr val="2E9C8A"/>
          </a:solidFill>
          <a:ln w="12700">
            <a:solidFill>
              <a:srgbClr val="2E9C8A"/>
            </a:solidFill>
            <a:prstDash val="solid"/>
          </a:ln>
        </p:spPr>
      </p:sp>
      <p:sp>
        <p:nvSpPr>
          <p:cNvPr id="7" name="Text 5"/>
          <p:cNvSpPr txBox="1"/>
          <p:nvPr/>
        </p:nvSpPr>
        <p:spPr>
          <a:xfrm>
            <a:off x="6172200" y="150876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8" name="Text 6"/>
          <p:cNvSpPr txBox="1"/>
          <p:nvPr/>
        </p:nvSpPr>
        <p:spPr>
          <a:xfrm>
            <a:off x="7086600" y="1325880"/>
            <a:ext cx="4480560" cy="1097280"/>
          </a:xfrm>
          <a:prstGeom prst="rect">
            <a:avLst/>
          </a:prstGeom>
          <a:noFill/>
          <a:ln/>
        </p:spPr>
        <p:txBody>
          <a:bodyPr wrap="square" lIns="0" tIns="0" rIns="0" bIns="0" rtlCol="0" anchor="ctr"/>
          <a:lstStyle/>
          <a:p>
            <a:pPr algn="l" indent="0" marL="0">
              <a:buNone/>
            </a:pPr>
            <a:r>
              <a:rPr lang="en-US" sz="1500" dirty="0">
                <a:solidFill>
                  <a:srgbClr val="1B1F24"/>
                </a:solidFill>
              </a:rPr>
              <a:t>Lo que puede esperar, debe esperar: batch y flex cuestan menos</a:t>
            </a:r>
            <a:endParaRPr lang="en-US" sz="1500" dirty="0"/>
          </a:p>
        </p:txBody>
      </p:sp>
      <p:sp>
        <p:nvSpPr>
          <p:cNvPr id="9" name="Shape 7"/>
          <p:cNvSpPr/>
          <p:nvPr/>
        </p:nvSpPr>
        <p:spPr>
          <a:xfrm>
            <a:off x="548640" y="2926080"/>
            <a:ext cx="731520" cy="731520"/>
          </a:xfrm>
          <a:prstGeom prst="ellipse">
            <a:avLst/>
          </a:prstGeom>
          <a:solidFill>
            <a:srgbClr val="D98E2B"/>
          </a:solidFill>
          <a:ln w="12700">
            <a:solidFill>
              <a:srgbClr val="D98E2B"/>
            </a:solidFill>
            <a:prstDash val="solid"/>
          </a:ln>
        </p:spPr>
      </p:sp>
      <p:sp>
        <p:nvSpPr>
          <p:cNvPr id="10" name="Text 8"/>
          <p:cNvSpPr txBox="1"/>
          <p:nvPr/>
        </p:nvSpPr>
        <p:spPr>
          <a:xfrm>
            <a:off x="548640" y="292608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1" name="Text 9"/>
          <p:cNvSpPr txBox="1"/>
          <p:nvPr/>
        </p:nvSpPr>
        <p:spPr>
          <a:xfrm>
            <a:off x="1463040" y="2743200"/>
            <a:ext cx="4480560" cy="1097280"/>
          </a:xfrm>
          <a:prstGeom prst="rect">
            <a:avLst/>
          </a:prstGeom>
          <a:noFill/>
          <a:ln/>
        </p:spPr>
        <p:txBody>
          <a:bodyPr wrap="square" lIns="0" tIns="0" rIns="0" bIns="0" rtlCol="0" anchor="ctr"/>
          <a:lstStyle/>
          <a:p>
            <a:pPr algn="l" indent="0" marL="0">
              <a:buNone/>
            </a:pPr>
            <a:r>
              <a:rPr lang="en-US" sz="1500" dirty="0">
                <a:solidFill>
                  <a:srgbClr val="1B1F24"/>
                </a:solidFill>
              </a:rPr>
              <a:t>La disponibilidad compuesta se calcula; el componente global en serie es el techo</a:t>
            </a:r>
            <a:endParaRPr lang="en-US" sz="1500" dirty="0"/>
          </a:p>
        </p:txBody>
      </p:sp>
      <p:sp>
        <p:nvSpPr>
          <p:cNvPr id="12" name="Shape 10"/>
          <p:cNvSpPr/>
          <p:nvPr/>
        </p:nvSpPr>
        <p:spPr>
          <a:xfrm>
            <a:off x="6172200" y="2926080"/>
            <a:ext cx="731520" cy="731520"/>
          </a:xfrm>
          <a:prstGeom prst="ellipse">
            <a:avLst/>
          </a:prstGeom>
          <a:solidFill>
            <a:srgbClr val="B5443A"/>
          </a:solidFill>
          <a:ln w="12700">
            <a:solidFill>
              <a:srgbClr val="B5443A"/>
            </a:solidFill>
            <a:prstDash val="solid"/>
          </a:ln>
        </p:spPr>
      </p:sp>
      <p:sp>
        <p:nvSpPr>
          <p:cNvPr id="13" name="Text 11"/>
          <p:cNvSpPr txBox="1"/>
          <p:nvPr/>
        </p:nvSpPr>
        <p:spPr>
          <a:xfrm>
            <a:off x="6172200" y="292608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4" name="Text 12"/>
          <p:cNvSpPr txBox="1"/>
          <p:nvPr/>
        </p:nvSpPr>
        <p:spPr>
          <a:xfrm>
            <a:off x="7086600" y="2743200"/>
            <a:ext cx="4480560" cy="1097280"/>
          </a:xfrm>
          <a:prstGeom prst="rect">
            <a:avLst/>
          </a:prstGeom>
          <a:noFill/>
          <a:ln/>
        </p:spPr>
        <p:txBody>
          <a:bodyPr wrap="square" lIns="0" tIns="0" rIns="0" bIns="0" rtlCol="0" anchor="ctr"/>
          <a:lstStyle/>
          <a:p>
            <a:pPr algn="l" indent="0" marL="0">
              <a:buNone/>
            </a:pPr>
            <a:r>
              <a:rPr lang="en-US" sz="1500" dirty="0">
                <a:solidFill>
                  <a:srgbClr val="1B1F24"/>
                </a:solidFill>
              </a:rPr>
              <a:t>La multi-región del proveedor no reemplaza la propia: endpoint, datos y aplicación son suyos</a:t>
            </a:r>
            <a:endParaRPr lang="en-US" sz="1500" dirty="0"/>
          </a:p>
        </p:txBody>
      </p:sp>
      <p:sp>
        <p:nvSpPr>
          <p:cNvPr id="15" name="Shape 13"/>
          <p:cNvSpPr/>
          <p:nvPr/>
        </p:nvSpPr>
        <p:spPr>
          <a:xfrm>
            <a:off x="548640" y="4343400"/>
            <a:ext cx="731520" cy="731520"/>
          </a:xfrm>
          <a:prstGeom prst="ellipse">
            <a:avLst/>
          </a:prstGeom>
          <a:solidFill>
            <a:srgbClr val="6B5B95"/>
          </a:solidFill>
          <a:ln w="12700">
            <a:solidFill>
              <a:srgbClr val="6B5B95"/>
            </a:solidFill>
            <a:prstDash val="solid"/>
          </a:ln>
        </p:spPr>
      </p:sp>
      <p:sp>
        <p:nvSpPr>
          <p:cNvPr id="16" name="Text 14"/>
          <p:cNvSpPr txBox="1"/>
          <p:nvPr/>
        </p:nvSpPr>
        <p:spPr>
          <a:xfrm>
            <a:off x="548640" y="434340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17" name="Text 15"/>
          <p:cNvSpPr txBox="1"/>
          <p:nvPr/>
        </p:nvSpPr>
        <p:spPr>
          <a:xfrm>
            <a:off x="1463040" y="4160520"/>
            <a:ext cx="4480560" cy="1097280"/>
          </a:xfrm>
          <a:prstGeom prst="rect">
            <a:avLst/>
          </a:prstGeom>
          <a:noFill/>
          <a:ln/>
        </p:spPr>
        <p:txBody>
          <a:bodyPr wrap="square" lIns="0" tIns="0" rIns="0" bIns="0" rtlCol="0" anchor="ctr"/>
          <a:lstStyle/>
          <a:p>
            <a:pPr algn="l" indent="0" marL="0">
              <a:buNone/>
            </a:pPr>
            <a:r>
              <a:rPr lang="en-US" sz="1500" dirty="0">
                <a:solidFill>
                  <a:srgbClr val="1B1F24"/>
                </a:solidFill>
              </a:rPr>
              <a:t>Conmutar solo antes del primer token y con presupuesto de reintentos</a:t>
            </a:r>
            <a:endParaRPr lang="en-US" sz="1500" dirty="0"/>
          </a:p>
        </p:txBody>
      </p:sp>
      <p:sp>
        <p:nvSpPr>
          <p:cNvPr id="18" name="Shape 16"/>
          <p:cNvSpPr/>
          <p:nvPr/>
        </p:nvSpPr>
        <p:spPr>
          <a:xfrm>
            <a:off x="6172200" y="4343400"/>
            <a:ext cx="731520" cy="731520"/>
          </a:xfrm>
          <a:prstGeom prst="ellipse">
            <a:avLst/>
          </a:prstGeom>
          <a:solidFill>
            <a:srgbClr val="13324B"/>
          </a:solidFill>
          <a:ln w="12700">
            <a:solidFill>
              <a:srgbClr val="13324B"/>
            </a:solidFill>
            <a:prstDash val="solid"/>
          </a:ln>
        </p:spPr>
      </p:sp>
      <p:sp>
        <p:nvSpPr>
          <p:cNvPr id="19" name="Text 17"/>
          <p:cNvSpPr txBox="1"/>
          <p:nvPr/>
        </p:nvSpPr>
        <p:spPr>
          <a:xfrm>
            <a:off x="6172200" y="434340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rPr>
              <a:t>6</a:t>
            </a:r>
            <a:endParaRPr lang="en-US" sz="1800" dirty="0"/>
          </a:p>
        </p:txBody>
      </p:sp>
      <p:sp>
        <p:nvSpPr>
          <p:cNvPr id="20" name="Text 18"/>
          <p:cNvSpPr txBox="1"/>
          <p:nvPr/>
        </p:nvSpPr>
        <p:spPr>
          <a:xfrm>
            <a:off x="7086600" y="4160520"/>
            <a:ext cx="4480560" cy="1097280"/>
          </a:xfrm>
          <a:prstGeom prst="rect">
            <a:avLst/>
          </a:prstGeom>
          <a:noFill/>
          <a:ln/>
        </p:spPr>
        <p:txBody>
          <a:bodyPr wrap="square" lIns="0" tIns="0" rIns="0" bIns="0" rtlCol="0" anchor="ctr"/>
          <a:lstStyle/>
          <a:p>
            <a:pPr algn="l" indent="0" marL="0">
              <a:buNone/>
            </a:pPr>
            <a:r>
              <a:rPr lang="en-US" sz="1500" dirty="0">
                <a:solidFill>
                  <a:srgbClr val="1B1F24"/>
                </a:solidFill>
              </a:rPr>
              <a:t>Cada región copia también la superficie de ataque, la residencia y la factura</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Autoevaluación (5 minutos)</a:t>
            </a:r>
            <a:endParaRPr lang="en-US" sz="28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548640"/>
                <a:gridCol w="10515600"/>
              </a:tblGrid>
              <a:tr h="0">
                <a:tc>
                  <a:txBody>
                    <a:bodyPr/>
                    <a:lstStyle/>
                    <a:p>
                      <a:pPr indent="0" marL="0">
                        <a:buNone/>
                      </a:pPr>
                      <a:r>
                        <a:rPr lang="en-US" sz="1400" b="1" dirty="0">
                          <a:solidFill>
                            <a:srgbClr val="FFFFFF"/>
                          </a:solidFill>
                        </a:rPr>
                        <a:t>#</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Pregunta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400" dirty="0">
                          <a:solidFill>
                            <a:srgbClr val="1B1F24"/>
                          </a:solidFill>
                        </a:rPr>
                        <a:t>1</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Una aplicación clasifica 1 millón de correos al mes y los resultados se usan al día siguiente. ¿Qué modalidad elegiría y por qué?</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400" dirty="0">
                          <a:solidFill>
                            <a:srgbClr val="1B1F24"/>
                          </a:solidFill>
                        </a:rPr>
                        <a:t>2</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Gateway 99,95 %, backend 99,95 % y modelo 99,9 % en serie, duplicados en dos regiones, más un DNS global de 99,99 %. ¿Cuál es la disponibilidad?</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1F24"/>
                          </a:solidFill>
                        </a:rPr>
                        <a:t>3</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¿Por qué un segundo despliegue Global Standard en otra región de la misma suscripción no resuelve los 429 por cuota?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400" dirty="0">
                          <a:solidFill>
                            <a:srgbClr val="1B1F24"/>
                          </a:solidFill>
                        </a:rPr>
                        <a:t>4</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¿Qué ocurre si el SDK, el gateway y el backend reintentan cada uno 3 veces?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1F24"/>
                          </a:solidFill>
                        </a:rPr>
                        <a:t>5</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¿Qué tipo de despliegue o endpoint usaría si la inferencia debe ocurrir solo en EE. UU.? Responda para las tres nubes.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Laboratorios y próxima sesión</a:t>
            </a:r>
            <a:endParaRPr lang="en-US" sz="28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645920"/>
                <a:gridCol w="6309360"/>
                <a:gridCol w="3108960"/>
              </a:tblGrid>
              <a:tr h="0">
                <a:tc>
                  <a:txBody>
                    <a:bodyPr/>
                    <a:lstStyle/>
                    <a:p>
                      <a:pPr indent="0" marL="0">
                        <a:buNone/>
                      </a:pPr>
                      <a:r>
                        <a:rPr lang="en-US" sz="1400" b="1" dirty="0">
                          <a:solidFill>
                            <a:srgbClr val="FFFFFF"/>
                          </a:solidFill>
                        </a:rPr>
                        <a:t>Laboratorio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Contenido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Cuenta trial</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400" dirty="0">
                          <a:solidFill>
                            <a:srgbClr val="1B1F24"/>
                          </a:solidFill>
                        </a:rPr>
                        <a:t>LOC-02</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Gateway multi-región: failover, circuit breaker, API batch, React</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No requiere nube</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400" dirty="0">
                          <a:solidFill>
                            <a:srgbClr val="1B1F24"/>
                          </a:solidFill>
                        </a:rPr>
                        <a:t>AZ-G</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Dos regiones de Foundry, conmutación, Azure OpenAI Batch, APIM</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Sí (batch: solo con suscripción de pago)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1F24"/>
                          </a:solidFill>
                        </a:rPr>
                        <a:t>GCP-D</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Ubicaciones de Gemini, conmutación, batch inference</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Sí, con presupuesto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400" dirty="0">
                          <a:solidFill>
                            <a:srgbClr val="1B1F24"/>
                          </a:solidFill>
                        </a:rPr>
                        <a:t>AWS-E</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CRIS, niveles de servicio, conmutación, batch con rol de servicio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Plan Paid recomendado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3840480"/>
            <a:ext cx="11064240" cy="173736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chemeClr val="tx1"/>
                </a:solidFill>
              </a:rPr>
              <a:t>Tarea: completar el diseño preliminar del taller con su ADR y la estimación de costos</a:t>
            </a:r>
            <a:endParaRPr lang="en-US" sz="1500" dirty="0"/>
          </a:p>
          <a:p>
            <a:pPr marL="342900" indent="-342900">
              <a:spcAft>
                <a:spcPts val="600"/>
              </a:spcAft>
              <a:buSzPct val="100000"/>
              <a:buChar char="•"/>
            </a:pPr>
            <a:r>
              <a:rPr lang="en-US" sz="1500" dirty="0">
                <a:solidFill>
                  <a:schemeClr val="tx1"/>
                </a:solidFill>
              </a:rPr>
              <a:t>Lectura: guía de gateways frente a múltiples despliegues (Azure Architecture Center) y estrategias de DR (AWS)</a:t>
            </a:r>
            <a:endParaRPr lang="en-US" sz="1500" dirty="0"/>
          </a:p>
          <a:p>
            <a:pPr marL="342900" indent="-342900">
              <a:spcAft>
                <a:spcPts val="600"/>
              </a:spcAft>
              <a:buSzPct val="100000"/>
              <a:buChar char="•"/>
            </a:pPr>
            <a:r>
              <a:rPr lang="en-US" sz="1500" dirty="0">
                <a:solidFill>
                  <a:schemeClr val="tx1"/>
                </a:solidFill>
              </a:rPr>
              <a:t>Próxima sesión: sistemas distribuidos y contenedorización (Docker y Kubernetes) para servir LLMs</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Referencias (1/2) · Documentación oficial</a:t>
            </a:r>
            <a:endParaRPr lang="en-US" sz="2800" dirty="0"/>
          </a:p>
        </p:txBody>
      </p:sp>
      <p:sp>
        <p:nvSpPr>
          <p:cNvPr id="3" name="Text 1"/>
          <p:cNvSpPr txBox="1"/>
          <p:nvPr/>
        </p:nvSpPr>
        <p:spPr>
          <a:xfrm>
            <a:off x="548640" y="1280160"/>
            <a:ext cx="11064240" cy="4846320"/>
          </a:xfrm>
          <a:prstGeom prst="rect">
            <a:avLst/>
          </a:prstGeom>
          <a:noFill/>
          <a:ln/>
        </p:spPr>
        <p:txBody>
          <a:bodyPr wrap="square" lIns="635" tIns="635" rIns="635" bIns="635" rtlCol="0" anchor="t"/>
          <a:lstStyle/>
          <a:p>
            <a:pPr marL="342900" indent="-342900">
              <a:spcAft>
                <a:spcPts val="600"/>
              </a:spcAft>
              <a:buSzPct val="100000"/>
              <a:buChar char="•"/>
            </a:pPr>
            <a:r>
              <a:rPr lang="en-US" sz="1400" dirty="0">
                <a:solidFill>
                  <a:schemeClr val="tx1"/>
                </a:solidFill>
              </a:rPr>
              <a:t>Microsoft Learn. Deployment types for Microsoft Foundry Models (12-ago-2026); Getting started with Azure OpenAI batch deployments (5-jun-2026); Quotas and limits (20-ago-2026); Priority processing (22-sep-2026)</a:t>
            </a:r>
            <a:endParaRPr lang="en-US" sz="1400" dirty="0"/>
          </a:p>
          <a:p>
            <a:pPr marL="342900" indent="-342900">
              <a:spcAft>
                <a:spcPts val="600"/>
              </a:spcAft>
              <a:buSzPct val="100000"/>
              <a:buChar char="•"/>
            </a:pPr>
            <a:r>
              <a:rPr lang="en-US" sz="1400" dirty="0">
                <a:solidFill>
                  <a:schemeClr val="tx1"/>
                </a:solidFill>
              </a:rPr>
              <a:t>Microsoft. High availability and resiliency for Microsoft Foundry (22-sep-2026); Azure Architecture Center, gateway frente a múltiples despliegues (2026); API Management backends (20-may-2026)</a:t>
            </a:r>
            <a:endParaRPr lang="en-US" sz="1400" dirty="0"/>
          </a:p>
          <a:p>
            <a:pPr marL="342900" indent="-342900">
              <a:spcAft>
                <a:spcPts val="600"/>
              </a:spcAft>
              <a:buSzPct val="100000"/>
              <a:buChar char="•"/>
            </a:pPr>
            <a:r>
              <a:rPr lang="en-US" sz="1400" dirty="0">
                <a:solidFill>
                  <a:schemeClr val="tx1"/>
                </a:solidFill>
              </a:rPr>
              <a:t>Google Cloud. Batch inference with Gemini; Where your data lives and is processed; Priority PayGo y Flex PayGo; Pricing; notas de versión de Gemini Enterprise Agent Platform</a:t>
            </a:r>
            <a:endParaRPr lang="en-US" sz="1400" dirty="0"/>
          </a:p>
          <a:p>
            <a:pPr marL="342900" indent="-342900">
              <a:spcAft>
                <a:spcPts val="600"/>
              </a:spcAft>
              <a:buSzPct val="100000"/>
              <a:buChar char="•"/>
            </a:pPr>
            <a:r>
              <a:rPr lang="en-US" sz="1400" dirty="0">
                <a:solidFill>
                  <a:schemeClr val="tx1"/>
                </a:solidFill>
              </a:rPr>
              <a:t>AWS. Service tiers for optimizing performance and cost; Capacity, limits and cost optimization; batch inference (formato, rol de servicio, modelos); Securing cross-Region inference (13-ene-2026)</a:t>
            </a:r>
            <a:endParaRPr lang="en-US" sz="1400" dirty="0"/>
          </a:p>
          <a:p>
            <a:pPr marL="342900" indent="-342900">
              <a:spcAft>
                <a:spcPts val="600"/>
              </a:spcAft>
              <a:buSzPct val="100000"/>
              <a:buChar char="•"/>
            </a:pPr>
            <a:r>
              <a:rPr lang="en-US" sz="1400" dirty="0">
                <a:solidFill>
                  <a:schemeClr val="tx1"/>
                </a:solidFill>
              </a:rPr>
              <a:t>AWS Architecture Blog. Eliot, S. (2021). Disaster Recovery (DR) Architecture on AWS, Part I</a:t>
            </a:r>
            <a:endParaRPr lang="en-US" sz="14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Referencias (2/2) · Libros, estándares y artículos</a:t>
            </a:r>
            <a:endParaRPr lang="en-US" sz="2800" dirty="0"/>
          </a:p>
        </p:txBody>
      </p:sp>
      <p:sp>
        <p:nvSpPr>
          <p:cNvPr id="3" name="Text 1"/>
          <p:cNvSpPr txBox="1"/>
          <p:nvPr/>
        </p:nvSpPr>
        <p:spPr>
          <a:xfrm>
            <a:off x="548640" y="1280160"/>
            <a:ext cx="11064240" cy="4846320"/>
          </a:xfrm>
          <a:prstGeom prst="rect">
            <a:avLst/>
          </a:prstGeom>
          <a:noFill/>
          <a:ln/>
        </p:spPr>
        <p:txBody>
          <a:bodyPr wrap="square" lIns="635" tIns="635" rIns="635" bIns="635" rtlCol="0" anchor="t"/>
          <a:lstStyle/>
          <a:p>
            <a:pPr marL="342900" indent="-342900">
              <a:spcAft>
                <a:spcPts val="600"/>
              </a:spcAft>
              <a:buSzPct val="100000"/>
              <a:buChar char="•"/>
            </a:pPr>
            <a:r>
              <a:rPr lang="en-US" sz="1400" dirty="0">
                <a:solidFill>
                  <a:schemeClr val="tx1"/>
                </a:solidFill>
              </a:rPr>
              <a:t>Beyer, B., Jones, C., Petoff, J. y Murphy, N. R. (2016). Site Reliability Engineering. O'Reilly</a:t>
            </a:r>
            <a:endParaRPr lang="en-US" sz="1400" dirty="0"/>
          </a:p>
          <a:p>
            <a:pPr marL="342900" indent="-342900">
              <a:spcAft>
                <a:spcPts val="600"/>
              </a:spcAft>
              <a:buSzPct val="100000"/>
              <a:buChar char="•"/>
            </a:pPr>
            <a:r>
              <a:rPr lang="en-US" sz="1400" dirty="0">
                <a:solidFill>
                  <a:schemeClr val="tx1"/>
                </a:solidFill>
              </a:rPr>
              <a:t>Nygard, M. T. (2018). Release It! Design and Deploy Production-Ready Software (2.ª ed.). Pragmatic Bookshelf</a:t>
            </a:r>
            <a:endParaRPr lang="en-US" sz="1400" dirty="0"/>
          </a:p>
          <a:p>
            <a:pPr marL="342900" indent="-342900">
              <a:spcAft>
                <a:spcPts val="600"/>
              </a:spcAft>
              <a:buSzPct val="100000"/>
              <a:buChar char="•"/>
            </a:pPr>
            <a:r>
              <a:rPr lang="en-US" sz="1400" dirty="0">
                <a:solidFill>
                  <a:schemeClr val="tx1"/>
                </a:solidFill>
              </a:rPr>
              <a:t>Harchol-Balter, M. (2013). Performance Modeling and Design of Computer Systems: Queueing Theory in Action. Cambridge University Press</a:t>
            </a:r>
            <a:endParaRPr lang="en-US" sz="1400" dirty="0"/>
          </a:p>
          <a:p>
            <a:pPr marL="342900" indent="-342900">
              <a:spcAft>
                <a:spcPts val="600"/>
              </a:spcAft>
              <a:buSzPct val="100000"/>
              <a:buChar char="•"/>
            </a:pPr>
            <a:r>
              <a:rPr lang="en-US" sz="1400" dirty="0">
                <a:solidFill>
                  <a:schemeClr val="tx1"/>
                </a:solidFill>
              </a:rPr>
              <a:t>Kleppmann, M. (2017). Designing Data-Intensive Applications. O'Reilly</a:t>
            </a:r>
            <a:endParaRPr lang="en-US" sz="1400" dirty="0"/>
          </a:p>
          <a:p>
            <a:pPr marL="342900" indent="-342900">
              <a:spcAft>
                <a:spcPts val="600"/>
              </a:spcAft>
              <a:buSzPct val="100000"/>
              <a:buChar char="•"/>
            </a:pPr>
            <a:r>
              <a:rPr lang="en-US" sz="1400" dirty="0">
                <a:solidFill>
                  <a:schemeClr val="tx1"/>
                </a:solidFill>
              </a:rPr>
              <a:t>OWASP. Top 10 for LLM Applications 2025 · NIST SP 800-207 (2020) · ISO/IEC 42001:2023 · Ley 1581 de 2012</a:t>
            </a:r>
            <a:endParaRPr lang="en-US" sz="1400" dirty="0"/>
          </a:p>
          <a:p>
            <a:pPr marL="342900" indent="-342900">
              <a:spcAft>
                <a:spcPts val="600"/>
              </a:spcAft>
              <a:buSzPct val="100000"/>
              <a:buChar char="•"/>
            </a:pPr>
            <a:r>
              <a:rPr lang="en-US" sz="1400" dirty="0">
                <a:solidFill>
                  <a:schemeClr val="tx1"/>
                </a:solidFill>
              </a:rPr>
              <a:t>Agrawal et al. (2024). Sarathi-Serve, OSDI · Zhong et al. (2024). DistServe, OSDI</a:t>
            </a:r>
            <a:endParaRPr lang="en-US" sz="14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56</a:t>
            </a:fld>
            <a:endParaRPr lang="en-US"/>
          </a:p>
        </p:txBody>
      </p:sp>
    </p:spTree>
  </p:cSld>
  <p:clrMapOvr>
    <a:masterClrMapping/>
  </p:clrMapOvr>
</p:sld>
</file>

<file path=ppt/theme/theme1.xml><?xml version="1.0" encoding="utf-8"?>
<a:theme xmlns:a="http://schemas.openxmlformats.org/drawingml/2006/main" name="Curso LLM Infra">
  <a:themeElements>
    <a:clrScheme name="Curso LLM Infra">
      <a:dk1>
        <a:srgbClr val="1B1F24"/>
      </a:dk1>
      <a:lt1>
        <a:srgbClr val="FFFFFF"/>
      </a:lt1>
      <a:dk2>
        <a:srgbClr val="13324B"/>
      </a:dk2>
      <a:lt2>
        <a:srgbClr val="F2F4F6"/>
      </a:lt2>
      <a:accent1>
        <a:srgbClr val="1F6F9F"/>
      </a:accent1>
      <a:accent2>
        <a:srgbClr val="2E9C8A"/>
      </a:accent2>
      <a:accent3>
        <a:srgbClr val="D98E2B"/>
      </a:accent3>
      <a:accent4>
        <a:srgbClr val="B5443A"/>
      </a:accent4>
      <a:accent5>
        <a:srgbClr val="6B5B95"/>
      </a:accent5>
      <a:accent6>
        <a:srgbClr val="7A8794"/>
      </a:accent6>
      <a:hlink>
        <a:srgbClr val="1F6F9F"/>
      </a:hlink>
      <a:folHlink>
        <a:srgbClr val="6B5B95"/>
      </a:folHlink>
    </a:clrScheme>
    <a:fontScheme name="Curso LLM Infr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2 · Diseño de Topologías y Casos de Uso Empresariales</dc:title>
  <dc:subject>Diseño de Infraestructura Escalable para LLMs</dc:subject>
  <dc:creator>Curso Diseño de Infraestructura Escalable para LLMs</dc:creator>
  <cp:lastModifiedBy>Curso Diseño de Infraestructura Escalable para LLMs</cp:lastModifiedBy>
  <cp:revision>1</cp:revision>
  <dcterms:created xsi:type="dcterms:W3CDTF">2026-10-21T00:02:28Z</dcterms:created>
  <dcterms:modified xsi:type="dcterms:W3CDTF">2026-10-21T00:02:28Z</dcterms:modified>
</cp:coreProperties>
</file>